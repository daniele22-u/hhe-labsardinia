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Litter Hazard Assessment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Sardinian Sea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HHE Data Science Laboratory · Politecnico di Milano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MSFD Descriptor 10  ·  ISPRA Data 2020–2023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705356" y="53949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05356" y="539496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BEACHES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surveys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722876" y="53949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2876" y="539496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STATIONS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710 observations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740396" y="53949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40396" y="539496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2020–2023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1247120" cy="1097280"/>
          </a:xfrm>
          <a:prstGeom prst="rect">
            <a:avLst/>
          </a:prstGeom>
          <a:solidFill>
            <a:srgbClr val="F0F6FA"/>
          </a:solidFill>
          <a:ln w="12700">
            <a:solidFill>
              <a:srgbClr val="F0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54864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9144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marine litter hazard spatially distributed along the Sardinian coast,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temporal patterns emerge from ISPRA monitoring data (2020–2023)?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3566160" cy="3474720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286000"/>
            <a:ext cx="35661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2724912"/>
            <a:ext cx="3346704" cy="2962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Mediterranean: 7% of global marine plastic, &lt;1% of ocean surface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Sardinia: 1,849km coastline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3.5M tourists/year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marine ecosystems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(Posidonia, coralligenous)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51960" y="2286000"/>
            <a:ext cx="3566160" cy="3474720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1960" y="2286000"/>
            <a:ext cx="356616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GAP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61688" y="2724912"/>
            <a:ext cx="3346704" cy="2962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spatial hazard map for Sardinian coast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ISPRA data collected since 2015 but never spatially analyzed at sub-regional scale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3566160" cy="3474720"/>
          </a:xfrm>
          <a:prstGeom prst="rect">
            <a:avLst/>
          </a:prstGeom>
          <a:solidFill>
            <a:srgbClr val="F0F6FA"/>
          </a:solidFill>
          <a:ln w="12700">
            <a:solidFill>
              <a:srgbClr val="E0EC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2286000"/>
            <a:ext cx="3566160" cy="3657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2724912"/>
            <a:ext cx="3346704" cy="2962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IPCC hazard framework at sub-regional scale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IDW interpolation on 10km grid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compartments: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+ floating litter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08676" y="1920240"/>
            <a:ext cx="1371600" cy="45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112745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DATA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0" y="3291840"/>
            <a:ext cx="12188952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· Structure · Cleaning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ISPRA MSFD Monitoring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394960" cy="5303520"/>
          </a:xfrm>
          <a:prstGeom prst="rect">
            <a:avLst/>
          </a:prstGeom>
          <a:solidFill>
            <a:srgbClr val="F0F6FA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539496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4  ·  Beach Litter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79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947672"/>
            <a:ext cx="179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55520" y="1508760"/>
            <a:ext cx="179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255520" y="1947672"/>
            <a:ext cx="179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53840" y="1508760"/>
            <a:ext cx="179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2020–2023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053840" y="1947672"/>
            <a:ext cx="179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2331720"/>
            <a:ext cx="5120640" cy="18288"/>
          </a:xfrm>
          <a:prstGeom prst="rect">
            <a:avLst/>
          </a:prstGeom>
          <a:solidFill>
            <a:srgbClr val="C8DCE8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23160"/>
            <a:ext cx="507492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surveys/year (spring + autumn)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items / 100m transect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JointListCategory standard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sites along Sardinian coast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914400"/>
            <a:ext cx="5394960" cy="5303520"/>
          </a:xfrm>
          <a:prstGeom prst="rect">
            <a:avLst/>
          </a:prstGeom>
          <a:solidFill>
            <a:srgbClr val="F0F6FA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35040" y="914400"/>
            <a:ext cx="539496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914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2BIS  ·  Floating Litter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35040" y="1508760"/>
            <a:ext cx="179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035040" y="1947672"/>
            <a:ext cx="179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33360" y="1508760"/>
            <a:ext cx="179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710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833360" y="1947672"/>
            <a:ext cx="179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31680" y="1508760"/>
            <a:ext cx="179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631680" y="1947672"/>
            <a:ext cx="179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2331720"/>
            <a:ext cx="5120640" cy="18288"/>
          </a:xfrm>
          <a:prstGeom prst="rect">
            <a:avLst/>
          </a:prstGeom>
          <a:solidFill>
            <a:srgbClr val="C8DCE8"/>
          </a:solidFill>
          <a:ln w="12700">
            <a:solidFill>
              <a:srgbClr val="C8DC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2423160"/>
            <a:ext cx="507492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Bimonthly surveys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observations per station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Ship-based visual transect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monitoring network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Harmonization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differences between 2020 and 2023 file formats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56032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292608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Format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Format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CodiceCampionamento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survey_id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count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NumeroItems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NumeroOggetti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n_items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Transect length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Lunghezza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LunghezzaTransetto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transect_m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names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 (Polimeri artificiali)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(Artificial polymer)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normalized 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solidFill>
            <a:srgbClr val="E8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40233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files: transect_m = 100m (fixed MSFD protocol)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Missing lat/lon: filled from known station coordinates per beach_id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253996" y="5166360"/>
            <a:ext cx="2194560" cy="5029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253996" y="5166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XLS files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94276" y="5399532"/>
            <a:ext cx="457200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68596" y="528066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997196" y="5166360"/>
            <a:ext cx="219456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97196" y="5166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normalize()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237476" y="5399532"/>
            <a:ext cx="457200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11796" y="528066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740396" y="5166360"/>
            <a:ext cx="2194560" cy="5029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40396" y="5166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CSV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08676" y="1554480"/>
            <a:ext cx="1371600" cy="45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EXPLORATORY ANALYSIS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0" y="3291840"/>
            <a:ext cx="12188952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litter · Floating litter · Patterns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Litter Trend per Stazione (2020–2023)</a:t>
            </a:r>
            <a:endParaRPr lang="en-US" sz="2600" dirty="0"/>
          </a:p>
        </p:txBody>
      </p:sp>
      <p:pic>
        <p:nvPicPr>
          <p:cNvPr id="4" name="Image 0" descr="/Users/danieleuras/Documents/GitHub/hhe-labsardinia/data/figures/beach_trend_per_s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77240"/>
            <a:ext cx="7132320" cy="5029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0" y="777240"/>
            <a:ext cx="4114800" cy="5029200"/>
          </a:xfrm>
          <a:prstGeom prst="rect">
            <a:avLst/>
          </a:prstGeom>
          <a:solidFill>
            <a:srgbClr val="F0F6FA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822960"/>
            <a:ext cx="3977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63840" y="12344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Oristano: 539 items/100m (highest)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863840" y="171907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Alghero: 508 items/100m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2203704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S.Teodoro: 58 items/100m (lowest)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863840" y="268833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EU threshold: 150 items/100m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317296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4/6 beaches exceed threshold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863840" y="36576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West coast &gt; East coast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18120" y="4480560"/>
            <a:ext cx="3931920" cy="64008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18120" y="44805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West coast significantly above EU threshold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&amp; Source Attribution</a:t>
            </a:r>
            <a:endParaRPr lang="en-US" sz="2800" dirty="0"/>
          </a:p>
        </p:txBody>
      </p:sp>
      <p:pic>
        <p:nvPicPr>
          <p:cNvPr id="4" name="Image 0" descr="/Users/danieleuras/Documents/GitHub/hhe-labsardinia/data/figures/beach_top_categ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777240"/>
            <a:ext cx="576072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144768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categories (JointListCategory)</a:t>
            </a:r>
            <a:endParaRPr lang="en-US" sz="1100" dirty="0"/>
          </a:p>
        </p:txBody>
      </p:sp>
      <p:pic>
        <p:nvPicPr>
          <p:cNvPr id="6" name="Image 1" descr="/Users/danieleuras/Documents/GitHub/hhe-labsardinia/data/figures/beach_source_at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777240"/>
            <a:ext cx="5486400" cy="5303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9360" y="614476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attribution (land / sea / fishing)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7432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Litter — Composition &amp; Seasonality</a:t>
            </a:r>
            <a:endParaRPr lang="en-US" sz="2600" dirty="0"/>
          </a:p>
        </p:txBody>
      </p:sp>
      <p:pic>
        <p:nvPicPr>
          <p:cNvPr id="4" name="Image 0" descr="/Users/danieleuras/Documents/GitHub/hhe-labsardinia/data/figures/floating_material_p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777240"/>
            <a:ext cx="5486400" cy="4754880"/>
          </a:xfrm>
          <a:prstGeom prst="rect">
            <a:avLst/>
          </a:prstGeom>
        </p:spPr>
      </p:pic>
      <p:pic>
        <p:nvPicPr>
          <p:cNvPr id="5" name="Image 1" descr="/Users/danieleuras/Documents/GitHub/hhe-labsardinia/data/figures/floating_seasona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777240"/>
            <a:ext cx="5760720" cy="47548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solidFill>
            <a:srgbClr val="F0F6FA"/>
          </a:solidFill>
          <a:ln w="12700">
            <a:solidFill>
              <a:srgbClr val="DDE8F0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365760" y="566928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of floating litter is artificial polymer (plastic).  Peak obs: autumn/winter — consistent with seasonal wind/current patterns.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08676" y="1371600"/>
            <a:ext cx="1371600" cy="45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463040"/>
            <a:ext cx="1127455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SPATIAL HAZARD INDEX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0" y="3291840"/>
            <a:ext cx="12188952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356616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· Results · Hotspots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Index — Methodology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517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85900" y="1188720"/>
            <a:ext cx="594360" cy="59436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5900" y="1188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965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23774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Min-max score 0–1 per station. Global normalization across all years.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6517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005840"/>
            <a:ext cx="26517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0540" y="1188720"/>
            <a:ext cx="594360" cy="59436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0540" y="1188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83280" y="1965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2423160"/>
            <a:ext cx="23774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IDW on 10km grid. Radius 1.0° beach, 1.2° floating. 289 grid cells.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6517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55180" y="1188720"/>
            <a:ext cx="594360" cy="59436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5180" y="1188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217920" y="1965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63640" y="2423160"/>
            <a:ext cx="23774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= mean(beach, floating) per cell. Equal weights.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961120" y="1005840"/>
            <a:ext cx="26517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961120" y="1005840"/>
            <a:ext cx="26517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89820" y="1188720"/>
            <a:ext cx="594360" cy="59436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89820" y="11887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052560" y="1965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098280" y="2423160"/>
            <a:ext cx="23774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classes from Very Low to Very High.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120640"/>
            <a:ext cx="2249424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512064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 &lt;0.2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06624" y="5120640"/>
            <a:ext cx="2249424" cy="640080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06624" y="512064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0.2–0.4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956048" y="5120640"/>
            <a:ext cx="2249424" cy="6400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6048" y="512064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0.4–0.6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05472" y="5120640"/>
            <a:ext cx="2249424" cy="64008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05472" y="512064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0.6–0.8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54896" y="5120640"/>
            <a:ext cx="2249424" cy="6400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54896" y="512064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V.High &gt;0.8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Hazard Index — Sardinia 2020–2023</a:t>
            </a:r>
            <a:endParaRPr lang="en-US" sz="2600" dirty="0"/>
          </a:p>
        </p:txBody>
      </p:sp>
      <p:pic>
        <p:nvPicPr>
          <p:cNvPr id="4" name="Image 0" descr="/Users/danieleuras/Documents/GitHub/hhe-labsardinia/data/figures/hazard_index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11612880" cy="5212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6080760"/>
            <a:ext cx="11612880" cy="548640"/>
          </a:xfrm>
          <a:prstGeom prst="rect">
            <a:avLst/>
          </a:prstGeom>
          <a:solidFill>
            <a:srgbClr val="F0F6FA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4320" y="60807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beach litter score  ·  Center: floating litter score  ·  Right: composite hazard index  |  ● beach stations  ·  ▲ floating stations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Evolution — Hazard Index 2020–2023</a:t>
            </a:r>
            <a:endParaRPr lang="en-US" sz="2600" dirty="0"/>
          </a:p>
        </p:txBody>
      </p:sp>
      <p:pic>
        <p:nvPicPr>
          <p:cNvPr id="4" name="Image 0" descr="/Users/danieleuras/Documents/GitHub/hhe-labsardinia/data/figures/hazard_temporal_2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11612880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5943600"/>
            <a:ext cx="11612880" cy="685800"/>
          </a:xfrm>
          <a:prstGeom prst="rect">
            <a:avLst/>
          </a:prstGeom>
          <a:solidFill>
            <a:srgbClr val="FFF3CD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4320" y="5943600"/>
            <a:ext cx="11612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Globally normalized scores — colors comparable across years.  2020: beach compartment only.  2021–2023: beach + floating composite.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394960" cy="5303520"/>
          </a:xfrm>
          <a:prstGeom prst="rect">
            <a:avLst/>
          </a:prstGeom>
          <a:solidFill>
            <a:srgbClr val="F0F6FA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539496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West coast (Alghero–Oristano): highest hazard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Oristano Is Arenas: beach score 1.00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 Alghero Lido: beach score 0.94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San Teodoro La Cinta: score 0.00 (lowest)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32461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3 grid cells: HIGH class (hazard &gt;0.6)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14800"/>
            <a:ext cx="4846320" cy="1005840"/>
          </a:xfrm>
          <a:prstGeom prst="rect">
            <a:avLst/>
          </a:prstGeom>
          <a:solidFill>
            <a:srgbClr val="EEF5F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114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539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731520" y="46634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items/100m  (Oristano peak)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914400"/>
            <a:ext cx="5852160" cy="5303520"/>
          </a:xfrm>
          <a:prstGeom prst="rect">
            <a:avLst/>
          </a:prstGeom>
          <a:solidFill>
            <a:srgbClr val="F0F6FA"/>
          </a:solidFill>
          <a:ln w="12700">
            <a:solidFill>
              <a:srgbClr val="DD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35040" y="914400"/>
            <a:ext cx="58521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914400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1417320"/>
            <a:ext cx="5532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floating litter = artificial polymer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5532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litter peaks: west coast year-round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2331720"/>
            <a:ext cx="5532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peaks: autumn/winter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788920"/>
            <a:ext cx="5532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 beaches exceed EU 150 items/100m threshold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17920" y="3246120"/>
            <a:ext cx="5532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apparent reduction 2020→2021 partly methodological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09360" y="4114800"/>
            <a:ext cx="5303520" cy="1005840"/>
          </a:xfrm>
          <a:prstGeom prst="rect">
            <a:avLst/>
          </a:prstGeom>
          <a:solidFill>
            <a:srgbClr val="EEF5F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411480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6309360" y="4663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beaches above EU threshold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394960" cy="5120640"/>
          </a:xfrm>
          <a:prstGeom prst="rect">
            <a:avLst/>
          </a:prstGeom>
          <a:solidFill>
            <a:srgbClr val="FFF5F5"/>
          </a:solidFill>
          <a:ln w="12700">
            <a:solidFill>
              <a:srgbClr val="FFD0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5394960" cy="4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058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LIMITATIONS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50749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beach stations → sparse, IDW smooths aggressively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Seafloor compartment missing (no MSFD module locally)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is relative, not absolute scale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beach-only ≠ 2021–23 composite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 count ≠ standardized density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35040" y="914400"/>
            <a:ext cx="5852160" cy="5120640"/>
          </a:xfrm>
          <a:prstGeom prst="rect">
            <a:avLst/>
          </a:prstGeom>
          <a:solidFill>
            <a:srgbClr val="F0FFF4"/>
          </a:solidFill>
          <a:ln w="12700">
            <a:solidFill>
              <a:srgbClr val="B8E8C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5040" y="914400"/>
            <a:ext cx="5852160" cy="45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005840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NEXT STEPS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0" y="1463040"/>
            <a:ext cx="55321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seafloor data (MEDITS) from ISPRA DB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3rd compartment → complete hazard index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grid with coastal administrative segments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vs citizen science beach cleanup data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+ policy implications (Phase 4)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371600" y="2560320"/>
            <a:ext cx="9445752" cy="45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daniele22-u/hhe-labsardinia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ISPRA — Sistema Nazionale per la Protezione dell'Ambiente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EU Marine Strategy Framework Directive (MSFD) · Descriptor 10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HHE Data Science Laboratory · Politecnico di Milano ·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2026-05-04T08:51:16Z</dcterms:created>
  <dcterms:modified xsi:type="dcterms:W3CDTF">2026-05-04T08:51:16Z</dcterms:modified>
</cp:coreProperties>
</file>