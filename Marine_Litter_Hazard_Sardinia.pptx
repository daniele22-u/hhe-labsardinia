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This project builds a spatial hazard index for marine litter along the Sardinian coast using six years of ISPRA monitoring data (2018–2023). Eight data compartments feed the index: beach litter, floating litter, microplastics, biological impact on sea turtles, sea currents and tourism pressure. The work aligns with MSFD Descriptor 10 (marine litter). Headline numbers: 6 beach monitoring sites, 21 offshore stations, six annual cycles. Goal today: show how the data was integrated, what spatial patterns emerged, and how spatial statistics confirm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question is both spatial (where is hazard concentrated) and temporal (how does it change 2018–2023). Why it matters: the Mediterranean is a plastic hotspot and Sardinia combines a very long coastline with heavy seasonal tourism and sensitive habitats. The gap: ISPRA collects rich data but it had never been integrated across compartments or tested statistically at sub-regional scale. Our approach borrows the IPCC hazard framing, interpolates each compartment onto a common 12 km grid, builds a weighted composite, then validates the spatial pattern with Moran's I, LISA and Getis-Ord 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Data. We cover where the data comes from, the eight compartments, and the harmonisation work needed because ISPRA file schemas drifted between 2018 and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compartments, each tied to an ISPRA MSFD module or an open dataset. Beach litter (Modulo 4) is the backbone: items per 100 m transect at 6 sites. Floating litter (Modulo 2-bis) adds offshore signal from 21 stations. Microplastics come from Modulo 2 trawls. Biological impact uses turtle stranding records (entanglement + ingestion) from CNR-IAS Oristano. Sea currents (CMEMS reanalysis) and tourism (ISTAT) are the physical and anthropogenic drivers. Together they let us separate "where litter is" from "what moves or produces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biggest practical hurdle was schema drift: column names changed across years (SampleID vs CodiceCampionamento, NumeroItems vs NumeroOggetti) and material names switched between Italian and English. A pandas normalize() step maps every variant to a single unified field. We also fixed the protocol denominator (all transects to 100 m) and filtered out non-Sardinia records by bounding box, because some ISPRA module files mixed regions. End product is one tidy dashboard_data.json that every downstream analysis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Exploratory analysis. Compartment by compartment: beach litter trends and composition, floating litter, microplastics, biological impact, and the anthropogenic pressure / COVID natural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Beach litter per station over time. The west-coast sites Oristano Is Arenas and Alghero Lido dominate, both far above the EU indicative threshold of 150 items/100 m. East-coast San Teodoro is the cleanest. The west-vs-east gradient is the single most persistent pattern in the whole project and reappears later in the spatial statistics. Note the strong year-to-year swings: these are partly real (storm deposition) and partly survey-timing artefacts, so we avoid over-reading single-year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Composition: the top categories are dominated by plastic fragments and single-use / fishing-related items, coded with the EU JointList scheme (G79, J79, etc.). The source-attribution chart assigns items to likely origin — shoreline and recreational activities lead, with a sizeable "indeterminate" share that is typical for beached litter. The right-hand stacked chart shows the category mix shifting year to year while plastics remain dominant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Floating litter from the offshore visual transects. About 70% is artificial polymer (plastic), with natural matter making up most of the rest. The monthly observation curve stays high from late spring through autumn, with peaks consistent with wind- and current-driven transport rather than purely local input. For context, beach litter is even more plastic-dominated — 84% artificial polymer in 2023 — so plastics are the common denominator across compartments.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Microplastics from Modulo 2 trawl sampling, interpolated with inverse-distance weighting onto the same 0.12-degree grid and masked to coastal waters. Concentrations are higher off the west and south coasts, broadly echoing the beach-litter gradient. Coverage runs 2018–2022; the 2023 module was not yet released at analysis time. This layer is included in the dashboard as a standalone toggle rather than in the composite, because sampling density is uneven.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Biological impact translates litter into harm to wildlife. We combine entanglement and ingestion events on stranded loggerhead turtles (about 99% Caretta caretta) into a normalised Bio Score. The signal peaks sharply in 2021 (46 combined events, score 1.0) and stays high in 2022, then drops in 2023. Ingestion is dominated by sheet plastic and fragments. This compartment carries 20% of the composite weight, giving the index a direct ecological dimension rather than counting litter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is the main anthropogenic pressure, proxied by annual tourist-nights. Intuitively more tourists should mean more litter, but the data shows a weak, even negative correlation (Spearman about −0.44): the dirtiest west-coast beaches are not the busiest tourist destinations. That mismatch is important — it tells us beach litter on this coast is driven substantially by currents and accumulated legacy litter, not only by on-site visitor input. This sets up the COVID natural experiment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Spearman correlation matrix quantifies how the compartments relate. Two relationships stand out: beach litter is moderately negatively correlated with tourists (−0.44), reinforcing the previous slide, and current speed is strongly negatively correlated with floating litter (−0.66) — faster currents disperse floating material away from the transects. No single variable dominates positively, which is exactly why we use a weighted composite rather than picking one proxy for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Special focus. The 2020 lockdown created an unplanned natural experiment: tourism collapsed for one season while the physical ocean kept running. By splitting the timeline into pre-COVID (2018–19), COVID (2020) and post-COVID (2021–23) we can separate the human-driven part of the litter signal from the current-driven part. The next three slides walk through the period definitions, the measured changes, and what they imply.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Tourist-nights fell from a ~14.3 million baseline to 8.7 million in 2020 — a 39% drop — then recovered to 13.4 million by 2021–23. Crucially, mean current speed barely moved across the three periods (13.2, 12.4, 11.8 cm/s), so the natural transport engine was effectively held constant. That is what makes 2020 a clean lever: if beach litter falls with tourism, the litter has a strong local-human component; if it persists, it is dominated by transport and legacy accumulation. The next slide shows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measured response. Beach litter dropped hard during 2020 — mean from 830 to 269 items/100 m, a 68% fall, with the median also down — closely tracking the tourism collapse. Currents were essentially flat, our held-constant control. Floating observations and bio events look higher post-COVID, but a large part of the floating jump (226 → 124 → 687) reflects increased sampling effort in later years, so we read it cautiously. Read the table left to right per row against the period definitions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Interpretation. The experiment confirms beach litter has a genuine local-human component: it dropped about 68% when tourism collapsed, against a constant-current control. But it did not fall to zero and did not rebound to the pre-COVID mean, so legacy litter and current transport clearly persist. Caveats matter: the pre-COVID mean is inflated by a few extreme surveys (the median fall is gentler, 324 to 176), the post-2020 floating and bio increases partly reflect more sampling, and one lockdown year gives limited statistical power. Bottom line — both human and natural drivers operate, which justifies the multi-compartment, current-aware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the composite hazard index itself: how it is built, what the maps show, and how we refine it from grid cells to coastal municipalities.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One: normalise every compartment to 0–1 with global min-max, so colours are comparable across years. Two: interpolate each station network onto a common 0.12-degree (~12 km) grid with inverse-distance weighting, 289 cells, masked to the coast. Three: combine with fixed weights — beach 35%, plastic 25%, currents 20%, bio 20% — chosen to keep beach litter primary while giving the ecological and transport signals real influence. Four: classify into five hazard bands. The weights are a defensible default, not a fitted model — easy to adjust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composite map, shown as three panels: beach score, floating score, and the combined hazard index. The beach panel drives the strong west-coast signal; floating is more diffuse. In the composite (right), the high-hazard zone sits clearly along the west coast around Alghero and Oristano, with the east coast much lower. Markers show the actual station locations so the audience can see where the interpolation is well-supported versus extrapolated.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Year-by-year hazard maps, globally normalised so colours mean the same thing every year. The headline is stability: the west-coast corridor lights up in every single year. The 2021–2022 maps run a little hotter, lifted by the biological-impact peak. There is no clean upward or downward trend — inter-annual variability dominates over any six-year signal, which is consistent with what we saw in the raw beach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grid is good for analysis but not for management. Here we aggregate the grid hazard into 126 coastal municipalities using Shapely point-in-polygon assignment, with a nearest-centroid fallback for cells just offshore. The result speaks the language of decision-makers: each comune gets a hazard value per year, so clean-up resources and policy can be prioritised by administrative unit rather than abstract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the statistical core. So far the west-coast pattern is visual. Now we test it: is the clustering real or could it arise by chance? Global Moran's I, LISA, and Getis-Ord GI* answer where and how strongly.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complementary tools, all from the LEC12 geospatial lecture. Global Moran's I gives one number per year: is hazard clustered or random? LISA breaks that down per cell into High-High, Low-Low and the two outlier types, so we see exactly where clustering happens. Getis-Ord GI* grades hotspot intensity as a z-score. We use Queen contiguity weights on the grid, row-standardised, with a 999-permutation test for significance. All implemented from scratch in NumPy — no PySAL dependency — in analysis_10_spatial_models.py.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Moran's I is essentially 0.95 every year with p = 0.000 from the permutation test — about 30 standard deviations above the random expectation. In plain terms: the chance that this west-coast clustering is a fluke is effectively zero, and it is remarkably stable across all six years. The Moran scatterplots show the steep positive slope that corresponds to a high I. One caveat to mention: IDW interpolation itself smooths neighbouring cells, so part of this very high autocorrelation is inherited from the interpolation — the direction and significance are robust, the exact magnitude less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LISA localises the clustering. Red cells are High-High hotspots — high hazard surrounded by high hazard — and they form a continuous corridor down the west coast from Alghero to Oristano. Blue Low-Low coldspots cover the east coast. The striking result is zero HL or LH outliers: there are no isolated anomalies, the pattern is spatially coherent. In 2023 roughly 77 hotspot and 63 coldspot cells reach significance. This is the statistical confirmation of the visual story we have been telling since the beach-trend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Getis-Ord GI* adds intensity. Where LISA classifies cells into types, GI* gives each cell a continuous z-score of local concentration: above +1.96 is a significant hotspot (red), below −1.96 a significant coldspot (blue). Around 80 hotspot and 65 coldspot cells per year. It tells the same west-vs-east story but lets you rank severity — a hotspot at z = 4 is more intense than one at z = 2 — which is useful for prioritising the worst cells within the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Hotspots: a clear west-coast corridor from Alghero to Oristano, with Oristano Is Arenas the single worst beach, and a statistically-confirmed east-coast coldspot; the clustering is significant every year. Patterns: plastics dominate every compartment, floating litter is seasonal and current-driven, biological impact peaked in 2021, and the COVID experiment showed beach litter is both human- and transport-driven. The novelty versus prior work is the integration of eight compartments plus formal spatial-statistics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Only six beach stations means IDW smooths aggressively and the autocorrelation is partly an artefact of that smoothing. The seafloor compartment is currently synthetic because no Sardinia ISPRA seafloor module was available. Scores are relative, not absolute concentrations, so they compare within this dataset rather than to external thresholds. Next steps: bring in real MEDITS trawl data for seafloor, add bi-variate Moran to couple beach and floating, move to spatial regression (SAR/SEM/GWR) to model drivers, validate against citizen-science clean-up data, and produce a per-comune policy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To recap: we integrated eight ISPRA compartments into a single spatial hazard index for the Sardinian coast, used a COVID natural experiment to separate human from natural drivers, and confirmed a stable, statistically significant west-coast hotspot corridor with Moran's I, LISA and GI*. Everything — data, scripts and an interactive dashboard — is on GitHub.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5A82"/>
        </a:solidFill>
      </p:bgPr>
    </p:bg>
    <p:spTree>
      <p:nvGrpSpPr>
        <p:cNvPr id="1" name=""/>
        <p:cNvGrpSpPr/>
        <p:nvPr/>
      </p:nvGrpSpPr>
      <p:grpSpPr>
        <a:xfrm>
          <a:off x="0" y="0"/>
          <a:ext cx="0" cy="0"/>
          <a:chOff x="0" y="0"/>
          <a:chExt cx="0" cy="0"/>
        </a:xfrm>
      </p:grpSpPr>
      <p:sp>
        <p:nvSpPr>
          <p:cNvPr id="2" name="Shape 0"/>
          <p:cNvSpPr/>
          <p:nvPr/>
        </p:nvSpPr>
        <p:spPr>
          <a:xfrm>
            <a:off x="0" y="0"/>
            <a:ext cx="12188952" cy="228600"/>
          </a:xfrm>
          <a:prstGeom prst="rect">
            <a:avLst/>
          </a:prstGeom>
          <a:solidFill>
            <a:srgbClr val="F39C12"/>
          </a:solidFill>
          <a:ln/>
        </p:spPr>
      </p:sp>
      <p:sp>
        <p:nvSpPr>
          <p:cNvPr id="3" name="Text 1"/>
          <p:cNvSpPr/>
          <p:nvPr/>
        </p:nvSpPr>
        <p:spPr>
          <a:xfrm>
            <a:off x="822960" y="1188720"/>
            <a:ext cx="10058400" cy="365760"/>
          </a:xfrm>
          <a:prstGeom prst="rect">
            <a:avLst/>
          </a:prstGeom>
          <a:noFill/>
          <a:ln/>
        </p:spPr>
        <p:txBody>
          <a:bodyPr wrap="square" rtlCol="0" anchor="ctr"/>
          <a:lstStyle/>
          <a:p>
            <a:pPr indent="0" marL="0">
              <a:buNone/>
            </a:pPr>
            <a:r>
              <a:rPr lang="en-US" sz="1300" b="1" spc="200" kern="0" dirty="0">
                <a:solidFill>
                  <a:srgbClr val="F39C12"/>
                </a:solidFill>
              </a:rPr>
              <a:t>HHE DATA SCIENCE LABORATORY · POLITECNICO DI MILANO</a:t>
            </a:r>
            <a:endParaRPr lang="en-US" sz="1300" dirty="0"/>
          </a:p>
        </p:txBody>
      </p:sp>
      <p:sp>
        <p:nvSpPr>
          <p:cNvPr id="4" name="Text 2"/>
          <p:cNvSpPr/>
          <p:nvPr/>
        </p:nvSpPr>
        <p:spPr>
          <a:xfrm>
            <a:off x="822960" y="1737360"/>
            <a:ext cx="10515600" cy="914400"/>
          </a:xfrm>
          <a:prstGeom prst="rect">
            <a:avLst/>
          </a:prstGeom>
          <a:noFill/>
          <a:ln/>
        </p:spPr>
        <p:txBody>
          <a:bodyPr wrap="square" rtlCol="0" anchor="ctr"/>
          <a:lstStyle/>
          <a:p>
            <a:pPr indent="0" marL="0">
              <a:buNone/>
            </a:pPr>
            <a:r>
              <a:rPr lang="en-US" sz="4600" b="1" dirty="0">
                <a:solidFill>
                  <a:srgbClr val="FFFFFF"/>
                </a:solidFill>
              </a:rPr>
              <a:t>Marine Litter Hazard Assessment</a:t>
            </a:r>
            <a:endParaRPr lang="en-US" sz="4600" dirty="0"/>
          </a:p>
        </p:txBody>
      </p:sp>
      <p:sp>
        <p:nvSpPr>
          <p:cNvPr id="5" name="Text 3"/>
          <p:cNvSpPr/>
          <p:nvPr/>
        </p:nvSpPr>
        <p:spPr>
          <a:xfrm>
            <a:off x="822960" y="2606040"/>
            <a:ext cx="10515600" cy="731520"/>
          </a:xfrm>
          <a:prstGeom prst="rect">
            <a:avLst/>
          </a:prstGeom>
          <a:noFill/>
          <a:ln/>
        </p:spPr>
        <p:txBody>
          <a:bodyPr wrap="square" rtlCol="0" anchor="ctr"/>
          <a:lstStyle/>
          <a:p>
            <a:pPr indent="0" marL="0">
              <a:buNone/>
            </a:pPr>
            <a:r>
              <a:rPr lang="en-US" sz="3600" i="1" dirty="0">
                <a:solidFill>
                  <a:srgbClr val="CADCFC"/>
                </a:solidFill>
              </a:rPr>
              <a:t>in the Sardinian Sea</a:t>
            </a:r>
            <a:endParaRPr lang="en-US" sz="3600" dirty="0"/>
          </a:p>
        </p:txBody>
      </p:sp>
      <p:sp>
        <p:nvSpPr>
          <p:cNvPr id="6" name="Text 4"/>
          <p:cNvSpPr/>
          <p:nvPr/>
        </p:nvSpPr>
        <p:spPr>
          <a:xfrm>
            <a:off x="868680" y="3520440"/>
            <a:ext cx="10058400" cy="457200"/>
          </a:xfrm>
          <a:prstGeom prst="rect">
            <a:avLst/>
          </a:prstGeom>
          <a:noFill/>
          <a:ln/>
        </p:spPr>
        <p:txBody>
          <a:bodyPr wrap="square" rtlCol="0" anchor="ctr"/>
          <a:lstStyle/>
          <a:p>
            <a:pPr indent="0" marL="0">
              <a:buNone/>
            </a:pPr>
            <a:r>
              <a:rPr lang="en-US" sz="1500" dirty="0">
                <a:solidFill>
                  <a:srgbClr val="CADCFC"/>
                </a:solidFill>
              </a:rPr>
              <a:t>A multi-compartment spatial hazard index from ISPRA monitoring data, 2018–2023</a:t>
            </a:r>
            <a:endParaRPr lang="en-US" sz="1500" dirty="0"/>
          </a:p>
        </p:txBody>
      </p:sp>
      <p:sp>
        <p:nvSpPr>
          <p:cNvPr id="7" name="Shape 5"/>
          <p:cNvSpPr/>
          <p:nvPr/>
        </p:nvSpPr>
        <p:spPr>
          <a:xfrm>
            <a:off x="868680" y="4389120"/>
            <a:ext cx="10424160" cy="0"/>
          </a:xfrm>
          <a:prstGeom prst="line">
            <a:avLst/>
          </a:prstGeom>
          <a:noFill/>
          <a:ln w="12700">
            <a:solidFill>
              <a:srgbClr val="1C7293"/>
            </a:solidFill>
            <a:prstDash val="solid"/>
          </a:ln>
        </p:spPr>
      </p:sp>
      <p:sp>
        <p:nvSpPr>
          <p:cNvPr id="8" name="Text 6"/>
          <p:cNvSpPr/>
          <p:nvPr/>
        </p:nvSpPr>
        <p:spPr>
          <a:xfrm>
            <a:off x="868680" y="4572000"/>
            <a:ext cx="2011680" cy="731520"/>
          </a:xfrm>
          <a:prstGeom prst="rect">
            <a:avLst/>
          </a:prstGeom>
          <a:noFill/>
          <a:ln/>
        </p:spPr>
        <p:txBody>
          <a:bodyPr wrap="square" rtlCol="0" anchor="ctr"/>
          <a:lstStyle/>
          <a:p>
            <a:pPr algn="ctr" indent="0" marL="0">
              <a:buNone/>
            </a:pPr>
            <a:r>
              <a:rPr lang="en-US" sz="3800" b="1" dirty="0">
                <a:solidFill>
                  <a:srgbClr val="F39C12"/>
                </a:solidFill>
              </a:rPr>
              <a:t>6</a:t>
            </a:r>
            <a:endParaRPr lang="en-US" sz="3800" dirty="0"/>
          </a:p>
        </p:txBody>
      </p:sp>
      <p:sp>
        <p:nvSpPr>
          <p:cNvPr id="9" name="Text 7"/>
          <p:cNvSpPr/>
          <p:nvPr/>
        </p:nvSpPr>
        <p:spPr>
          <a:xfrm>
            <a:off x="868680" y="5285232"/>
            <a:ext cx="2011680" cy="457200"/>
          </a:xfrm>
          <a:prstGeom prst="rect">
            <a:avLst/>
          </a:prstGeom>
          <a:noFill/>
          <a:ln/>
        </p:spPr>
        <p:txBody>
          <a:bodyPr wrap="square" rtlCol="0" anchor="ctr"/>
          <a:lstStyle/>
          <a:p>
            <a:pPr algn="ctr" indent="0" marL="0">
              <a:buNone/>
            </a:pPr>
            <a:r>
              <a:rPr lang="en-US" sz="1100" dirty="0">
                <a:solidFill>
                  <a:srgbClr val="FFFFFF"/>
                </a:solidFill>
              </a:rPr>
              <a:t>BEACH SITES</a:t>
            </a:r>
            <a:endParaRPr lang="en-US" sz="1100" dirty="0"/>
          </a:p>
        </p:txBody>
      </p:sp>
      <p:sp>
        <p:nvSpPr>
          <p:cNvPr id="10" name="Text 8"/>
          <p:cNvSpPr/>
          <p:nvPr/>
        </p:nvSpPr>
        <p:spPr>
          <a:xfrm>
            <a:off x="2971800" y="4572000"/>
            <a:ext cx="2011680" cy="731520"/>
          </a:xfrm>
          <a:prstGeom prst="rect">
            <a:avLst/>
          </a:prstGeom>
          <a:noFill/>
          <a:ln/>
        </p:spPr>
        <p:txBody>
          <a:bodyPr wrap="square" rtlCol="0" anchor="ctr"/>
          <a:lstStyle/>
          <a:p>
            <a:pPr algn="ctr" indent="0" marL="0">
              <a:buNone/>
            </a:pPr>
            <a:r>
              <a:rPr lang="en-US" sz="3800" b="1" dirty="0">
                <a:solidFill>
                  <a:srgbClr val="F39C12"/>
                </a:solidFill>
              </a:rPr>
              <a:t>21</a:t>
            </a:r>
            <a:endParaRPr lang="en-US" sz="3800" dirty="0"/>
          </a:p>
        </p:txBody>
      </p:sp>
      <p:sp>
        <p:nvSpPr>
          <p:cNvPr id="11" name="Text 9"/>
          <p:cNvSpPr/>
          <p:nvPr/>
        </p:nvSpPr>
        <p:spPr>
          <a:xfrm>
            <a:off x="2971800" y="5285232"/>
            <a:ext cx="2011680" cy="457200"/>
          </a:xfrm>
          <a:prstGeom prst="rect">
            <a:avLst/>
          </a:prstGeom>
          <a:noFill/>
          <a:ln/>
        </p:spPr>
        <p:txBody>
          <a:bodyPr wrap="square" rtlCol="0" anchor="ctr"/>
          <a:lstStyle/>
          <a:p>
            <a:pPr algn="ctr" indent="0" marL="0">
              <a:buNone/>
            </a:pPr>
            <a:r>
              <a:rPr lang="en-US" sz="1100" dirty="0">
                <a:solidFill>
                  <a:srgbClr val="FFFFFF"/>
                </a:solidFill>
              </a:rPr>
              <a:t>OFFSHORE STATIONS</a:t>
            </a:r>
            <a:endParaRPr lang="en-US" sz="1100" dirty="0"/>
          </a:p>
        </p:txBody>
      </p:sp>
      <p:sp>
        <p:nvSpPr>
          <p:cNvPr id="12" name="Text 10"/>
          <p:cNvSpPr/>
          <p:nvPr/>
        </p:nvSpPr>
        <p:spPr>
          <a:xfrm>
            <a:off x="5074920" y="4572000"/>
            <a:ext cx="2011680" cy="731520"/>
          </a:xfrm>
          <a:prstGeom prst="rect">
            <a:avLst/>
          </a:prstGeom>
          <a:noFill/>
          <a:ln/>
        </p:spPr>
        <p:txBody>
          <a:bodyPr wrap="square" rtlCol="0" anchor="ctr"/>
          <a:lstStyle/>
          <a:p>
            <a:pPr algn="ctr" indent="0" marL="0">
              <a:buNone/>
            </a:pPr>
            <a:r>
              <a:rPr lang="en-US" sz="3800" b="1" dirty="0">
                <a:solidFill>
                  <a:srgbClr val="F39C12"/>
                </a:solidFill>
              </a:rPr>
              <a:t>6 yrs</a:t>
            </a:r>
            <a:endParaRPr lang="en-US" sz="3800" dirty="0"/>
          </a:p>
        </p:txBody>
      </p:sp>
      <p:sp>
        <p:nvSpPr>
          <p:cNvPr id="13" name="Text 11"/>
          <p:cNvSpPr/>
          <p:nvPr/>
        </p:nvSpPr>
        <p:spPr>
          <a:xfrm>
            <a:off x="5074920" y="5285232"/>
            <a:ext cx="2011680" cy="457200"/>
          </a:xfrm>
          <a:prstGeom prst="rect">
            <a:avLst/>
          </a:prstGeom>
          <a:noFill/>
          <a:ln/>
        </p:spPr>
        <p:txBody>
          <a:bodyPr wrap="square" rtlCol="0" anchor="ctr"/>
          <a:lstStyle/>
          <a:p>
            <a:pPr algn="ctr" indent="0" marL="0">
              <a:buNone/>
            </a:pPr>
            <a:r>
              <a:rPr lang="en-US" sz="1100" dirty="0">
                <a:solidFill>
                  <a:srgbClr val="FFFFFF"/>
                </a:solidFill>
              </a:rPr>
              <a:t>2018 – 2023</a:t>
            </a:r>
            <a:endParaRPr lang="en-US" sz="1100" dirty="0"/>
          </a:p>
        </p:txBody>
      </p:sp>
      <p:sp>
        <p:nvSpPr>
          <p:cNvPr id="14" name="Text 12"/>
          <p:cNvSpPr/>
          <p:nvPr/>
        </p:nvSpPr>
        <p:spPr>
          <a:xfrm>
            <a:off x="7178040" y="4572000"/>
            <a:ext cx="2011680" cy="731520"/>
          </a:xfrm>
          <a:prstGeom prst="rect">
            <a:avLst/>
          </a:prstGeom>
          <a:noFill/>
          <a:ln/>
        </p:spPr>
        <p:txBody>
          <a:bodyPr wrap="square" rtlCol="0" anchor="ctr"/>
          <a:lstStyle/>
          <a:p>
            <a:pPr algn="ctr" indent="0" marL="0">
              <a:buNone/>
            </a:pPr>
            <a:r>
              <a:rPr lang="en-US" sz="3800" b="1" dirty="0">
                <a:solidFill>
                  <a:srgbClr val="F39C12"/>
                </a:solidFill>
              </a:rPr>
              <a:t>8</a:t>
            </a:r>
            <a:endParaRPr lang="en-US" sz="3800" dirty="0"/>
          </a:p>
        </p:txBody>
      </p:sp>
      <p:sp>
        <p:nvSpPr>
          <p:cNvPr id="15" name="Text 13"/>
          <p:cNvSpPr/>
          <p:nvPr/>
        </p:nvSpPr>
        <p:spPr>
          <a:xfrm>
            <a:off x="7178040" y="5285232"/>
            <a:ext cx="2011680" cy="457200"/>
          </a:xfrm>
          <a:prstGeom prst="rect">
            <a:avLst/>
          </a:prstGeom>
          <a:noFill/>
          <a:ln/>
        </p:spPr>
        <p:txBody>
          <a:bodyPr wrap="square" rtlCol="0" anchor="ctr"/>
          <a:lstStyle/>
          <a:p>
            <a:pPr algn="ctr" indent="0" marL="0">
              <a:buNone/>
            </a:pPr>
            <a:r>
              <a:rPr lang="en-US" sz="1100" dirty="0">
                <a:solidFill>
                  <a:srgbClr val="FFFFFF"/>
                </a:solidFill>
              </a:rPr>
              <a:t>DATA COMPARTMENTS</a:t>
            </a:r>
            <a:endParaRPr lang="en-US" sz="1100" dirty="0"/>
          </a:p>
        </p:txBody>
      </p:sp>
      <p:sp>
        <p:nvSpPr>
          <p:cNvPr id="16" name="Text 14"/>
          <p:cNvSpPr/>
          <p:nvPr/>
        </p:nvSpPr>
        <p:spPr>
          <a:xfrm>
            <a:off x="9281160" y="4572000"/>
            <a:ext cx="2011680" cy="731520"/>
          </a:xfrm>
          <a:prstGeom prst="rect">
            <a:avLst/>
          </a:prstGeom>
          <a:noFill/>
          <a:ln/>
        </p:spPr>
        <p:txBody>
          <a:bodyPr wrap="square" rtlCol="0" anchor="ctr"/>
          <a:lstStyle/>
          <a:p>
            <a:pPr algn="ctr" indent="0" marL="0">
              <a:buNone/>
            </a:pPr>
            <a:r>
              <a:rPr lang="en-US" sz="3800" b="1" dirty="0">
                <a:solidFill>
                  <a:srgbClr val="FFFFFF"/>
                </a:solidFill>
              </a:rPr>
              <a:t>MSFD</a:t>
            </a:r>
            <a:endParaRPr lang="en-US" sz="3800" dirty="0"/>
          </a:p>
        </p:txBody>
      </p:sp>
      <p:sp>
        <p:nvSpPr>
          <p:cNvPr id="17" name="Text 15"/>
          <p:cNvSpPr/>
          <p:nvPr/>
        </p:nvSpPr>
        <p:spPr>
          <a:xfrm>
            <a:off x="9281160" y="5285232"/>
            <a:ext cx="2011680" cy="457200"/>
          </a:xfrm>
          <a:prstGeom prst="rect">
            <a:avLst/>
          </a:prstGeom>
          <a:noFill/>
          <a:ln/>
        </p:spPr>
        <p:txBody>
          <a:bodyPr wrap="square" rtlCol="0" anchor="ctr"/>
          <a:lstStyle/>
          <a:p>
            <a:pPr algn="ctr" indent="0" marL="0">
              <a:buNone/>
            </a:pPr>
            <a:r>
              <a:rPr lang="en-US" sz="1100" dirty="0">
                <a:solidFill>
                  <a:srgbClr val="FFFFFF"/>
                </a:solidFill>
              </a:rPr>
              <a:t>DESCRIPTOR 10</a:t>
            </a:r>
            <a:endParaRPr lang="en-US" sz="1100" dirty="0"/>
          </a:p>
        </p:txBody>
      </p:sp>
      <p:sp>
        <p:nvSpPr>
          <p:cNvPr id="18" name="Text 16"/>
          <p:cNvSpPr/>
          <p:nvPr/>
        </p:nvSpPr>
        <p:spPr>
          <a:xfrm>
            <a:off x="822960" y="6126480"/>
            <a:ext cx="10515600" cy="365760"/>
          </a:xfrm>
          <a:prstGeom prst="rect">
            <a:avLst/>
          </a:prstGeom>
          <a:noFill/>
          <a:ln/>
        </p:spPr>
        <p:txBody>
          <a:bodyPr wrap="square" rtlCol="0" anchor="ctr"/>
          <a:lstStyle/>
          <a:p>
            <a:pPr indent="0" marL="0">
              <a:buNone/>
            </a:pPr>
            <a:r>
              <a:rPr lang="en-US" sz="1100" dirty="0">
                <a:solidFill>
                  <a:srgbClr val="6B7B8C"/>
                </a:solidFill>
              </a:rPr>
              <a:t>ISPRA — Sistema Nazionale Protezione Ambiente · EU Marine Strategy Framework Directive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Research Question</a:t>
            </a:r>
            <a:endParaRPr lang="en-US" sz="2800" dirty="0"/>
          </a:p>
        </p:txBody>
      </p:sp>
      <p:sp>
        <p:nvSpPr>
          <p:cNvPr id="4" name="Shape 2"/>
          <p:cNvSpPr/>
          <p:nvPr/>
        </p:nvSpPr>
        <p:spPr>
          <a:xfrm>
            <a:off x="822960" y="1371600"/>
            <a:ext cx="10515600" cy="1417320"/>
          </a:xfrm>
          <a:prstGeom prst="roundRect">
            <a:avLst>
              <a:gd name="adj" fmla="val 6452"/>
            </a:avLst>
          </a:prstGeom>
          <a:solidFill>
            <a:srgbClr val="065A82"/>
          </a:solidFill>
          <a:ln/>
        </p:spPr>
      </p:sp>
      <p:sp>
        <p:nvSpPr>
          <p:cNvPr id="5" name="Text 3"/>
          <p:cNvSpPr/>
          <p:nvPr/>
        </p:nvSpPr>
        <p:spPr>
          <a:xfrm>
            <a:off x="1097280" y="1463040"/>
            <a:ext cx="9966960" cy="1234440"/>
          </a:xfrm>
          <a:prstGeom prst="rect">
            <a:avLst/>
          </a:prstGeom>
          <a:noFill/>
          <a:ln/>
        </p:spPr>
        <p:txBody>
          <a:bodyPr wrap="square" rtlCol="0" anchor="ctr"/>
          <a:lstStyle/>
          <a:p>
            <a:pPr indent="0" marL="0">
              <a:buNone/>
            </a:pPr>
            <a:r>
              <a:rPr lang="en-US" sz="1800" i="1" dirty="0">
                <a:solidFill>
                  <a:srgbClr val="FFFFFF"/>
                </a:solidFill>
              </a:rPr>
              <a:t>How is marine-litter hazard spatially distributed along the Sardinian coast, and what temporal and statistical patterns emerge from ISPRA monitoring data (2018–2023)?</a:t>
            </a:r>
            <a:endParaRPr lang="en-US" sz="1800" dirty="0"/>
          </a:p>
        </p:txBody>
      </p:sp>
      <p:sp>
        <p:nvSpPr>
          <p:cNvPr id="6" name="Shape 4"/>
          <p:cNvSpPr/>
          <p:nvPr/>
        </p:nvSpPr>
        <p:spPr>
          <a:xfrm>
            <a:off x="822960" y="3200400"/>
            <a:ext cx="3383280" cy="109728"/>
          </a:xfrm>
          <a:prstGeom prst="rect">
            <a:avLst/>
          </a:prstGeom>
          <a:solidFill>
            <a:srgbClr val="1C7293"/>
          </a:solidFill>
          <a:ln/>
        </p:spPr>
      </p:sp>
      <p:sp>
        <p:nvSpPr>
          <p:cNvPr id="7" name="Text 5"/>
          <p:cNvSpPr/>
          <p:nvPr/>
        </p:nvSpPr>
        <p:spPr>
          <a:xfrm>
            <a:off x="822960" y="3383280"/>
            <a:ext cx="3383280" cy="365760"/>
          </a:xfrm>
          <a:prstGeom prst="rect">
            <a:avLst/>
          </a:prstGeom>
          <a:noFill/>
          <a:ln/>
        </p:spPr>
        <p:txBody>
          <a:bodyPr wrap="square" rtlCol="0" anchor="ctr"/>
          <a:lstStyle/>
          <a:p>
            <a:pPr indent="0" marL="0">
              <a:buNone/>
            </a:pPr>
            <a:r>
              <a:rPr lang="en-US" sz="1400" b="1" dirty="0">
                <a:solidFill>
                  <a:srgbClr val="1C7293"/>
                </a:solidFill>
              </a:rPr>
              <a:t>WHY IT MATTERS</a:t>
            </a:r>
            <a:endParaRPr lang="en-US" sz="1400" dirty="0"/>
          </a:p>
        </p:txBody>
      </p:sp>
      <p:sp>
        <p:nvSpPr>
          <p:cNvPr id="8" name="Text 6"/>
          <p:cNvSpPr/>
          <p:nvPr/>
        </p:nvSpPr>
        <p:spPr>
          <a:xfrm>
            <a:off x="822960" y="3794760"/>
            <a:ext cx="3383280" cy="2377440"/>
          </a:xfrm>
          <a:prstGeom prst="rect">
            <a:avLst/>
          </a:prstGeom>
          <a:noFill/>
          <a:ln/>
        </p:spPr>
        <p:txBody>
          <a:bodyPr wrap="square" rtlCol="0" anchor="ctr"/>
          <a:lstStyle/>
          <a:p>
            <a:pPr marL="342900" indent="-342900">
              <a:lnSpc>
                <a:spcPct val="110000"/>
              </a:lnSpc>
              <a:spcAft>
                <a:spcPts val="800"/>
              </a:spcAft>
              <a:buSzPct val="100000"/>
              <a:buChar char="•"/>
            </a:pPr>
            <a:r>
              <a:rPr lang="en-US" sz="1250" dirty="0">
                <a:solidFill>
                  <a:srgbClr val="1A2A38"/>
                </a:solidFill>
              </a:rPr>
              <a:t>Mediterranean: 7% of global marine plastic, &lt;1% of ocean surface</a:t>
            </a:r>
            <a:endParaRPr lang="en-US" sz="1250" dirty="0"/>
          </a:p>
          <a:p>
            <a:pPr marL="342900" indent="-342900">
              <a:lnSpc>
                <a:spcPct val="110000"/>
              </a:lnSpc>
              <a:spcAft>
                <a:spcPts val="800"/>
              </a:spcAft>
              <a:buSzPct val="100000"/>
              <a:buChar char="•"/>
            </a:pPr>
            <a:r>
              <a:rPr lang="en-US" sz="1250" dirty="0">
                <a:solidFill>
                  <a:srgbClr val="1A2A38"/>
                </a:solidFill>
              </a:rPr>
              <a:t>Sardinia: 1,849 km coastline, 13–16 M tourist-nights/year</a:t>
            </a:r>
            <a:endParaRPr lang="en-US" sz="1250" dirty="0"/>
          </a:p>
          <a:p>
            <a:pPr marL="342900" indent="-342900">
              <a:lnSpc>
                <a:spcPct val="110000"/>
              </a:lnSpc>
              <a:spcAft>
                <a:spcPts val="800"/>
              </a:spcAft>
              <a:buSzPct val="100000"/>
              <a:buChar char="•"/>
            </a:pPr>
            <a:r>
              <a:rPr lang="en-US" sz="1250" dirty="0">
                <a:solidFill>
                  <a:srgbClr val="1A2A38"/>
                </a:solidFill>
              </a:rPr>
              <a:t>Fragile habitats: Posidonia meadows, coralligenous reefs, Caretta caretta</a:t>
            </a:r>
            <a:endParaRPr lang="en-US" sz="1250" dirty="0"/>
          </a:p>
        </p:txBody>
      </p:sp>
      <p:sp>
        <p:nvSpPr>
          <p:cNvPr id="9" name="Shape 7"/>
          <p:cNvSpPr/>
          <p:nvPr/>
        </p:nvSpPr>
        <p:spPr>
          <a:xfrm>
            <a:off x="4434840" y="3200400"/>
            <a:ext cx="3383280" cy="109728"/>
          </a:xfrm>
          <a:prstGeom prst="rect">
            <a:avLst/>
          </a:prstGeom>
          <a:solidFill>
            <a:srgbClr val="F39C12"/>
          </a:solidFill>
          <a:ln/>
        </p:spPr>
      </p:sp>
      <p:sp>
        <p:nvSpPr>
          <p:cNvPr id="10" name="Text 8"/>
          <p:cNvSpPr/>
          <p:nvPr/>
        </p:nvSpPr>
        <p:spPr>
          <a:xfrm>
            <a:off x="4434840" y="3383280"/>
            <a:ext cx="3383280" cy="365760"/>
          </a:xfrm>
          <a:prstGeom prst="rect">
            <a:avLst/>
          </a:prstGeom>
          <a:noFill/>
          <a:ln/>
        </p:spPr>
        <p:txBody>
          <a:bodyPr wrap="square" rtlCol="0" anchor="ctr"/>
          <a:lstStyle/>
          <a:p>
            <a:pPr indent="0" marL="0">
              <a:buNone/>
            </a:pPr>
            <a:r>
              <a:rPr lang="en-US" sz="1400" b="1" dirty="0">
                <a:solidFill>
                  <a:srgbClr val="F39C12"/>
                </a:solidFill>
              </a:rPr>
              <a:t>KNOWLEDGE GAP</a:t>
            </a:r>
            <a:endParaRPr lang="en-US" sz="1400" dirty="0"/>
          </a:p>
        </p:txBody>
      </p:sp>
      <p:sp>
        <p:nvSpPr>
          <p:cNvPr id="11" name="Text 9"/>
          <p:cNvSpPr/>
          <p:nvPr/>
        </p:nvSpPr>
        <p:spPr>
          <a:xfrm>
            <a:off x="4434840" y="3794760"/>
            <a:ext cx="3383280" cy="2377440"/>
          </a:xfrm>
          <a:prstGeom prst="rect">
            <a:avLst/>
          </a:prstGeom>
          <a:noFill/>
          <a:ln/>
        </p:spPr>
        <p:txBody>
          <a:bodyPr wrap="square" rtlCol="0" anchor="ctr"/>
          <a:lstStyle/>
          <a:p>
            <a:pPr marL="342900" indent="-342900">
              <a:lnSpc>
                <a:spcPct val="110000"/>
              </a:lnSpc>
              <a:spcAft>
                <a:spcPts val="800"/>
              </a:spcAft>
              <a:buSzPct val="100000"/>
              <a:buChar char="•"/>
            </a:pPr>
            <a:r>
              <a:rPr lang="en-US" sz="1250" dirty="0">
                <a:solidFill>
                  <a:srgbClr val="1A2A38"/>
                </a:solidFill>
              </a:rPr>
              <a:t>No unified spatial hazard map for the Sardinian coast</a:t>
            </a:r>
            <a:endParaRPr lang="en-US" sz="1250" dirty="0"/>
          </a:p>
          <a:p>
            <a:pPr marL="342900" indent="-342900">
              <a:lnSpc>
                <a:spcPct val="110000"/>
              </a:lnSpc>
              <a:spcAft>
                <a:spcPts val="800"/>
              </a:spcAft>
              <a:buSzPct val="100000"/>
              <a:buChar char="•"/>
            </a:pPr>
            <a:r>
              <a:rPr lang="en-US" sz="1250" dirty="0">
                <a:solidFill>
                  <a:srgbClr val="1A2A38"/>
                </a:solidFill>
              </a:rPr>
              <a:t>ISPRA data collected but never integrated across compartments</a:t>
            </a:r>
            <a:endParaRPr lang="en-US" sz="1250" dirty="0"/>
          </a:p>
          <a:p>
            <a:pPr marL="342900" indent="-342900">
              <a:lnSpc>
                <a:spcPct val="110000"/>
              </a:lnSpc>
              <a:spcAft>
                <a:spcPts val="800"/>
              </a:spcAft>
              <a:buSzPct val="100000"/>
              <a:buChar char="•"/>
            </a:pPr>
            <a:r>
              <a:rPr lang="en-US" sz="1250" dirty="0">
                <a:solidFill>
                  <a:srgbClr val="1A2A38"/>
                </a:solidFill>
              </a:rPr>
              <a:t>No statistical test of spatial clustering at sub-regional scale</a:t>
            </a:r>
            <a:endParaRPr lang="en-US" sz="1250" dirty="0"/>
          </a:p>
        </p:txBody>
      </p:sp>
      <p:sp>
        <p:nvSpPr>
          <p:cNvPr id="12" name="Shape 10"/>
          <p:cNvSpPr/>
          <p:nvPr/>
        </p:nvSpPr>
        <p:spPr>
          <a:xfrm>
            <a:off x="8046720" y="3200400"/>
            <a:ext cx="3383280" cy="109728"/>
          </a:xfrm>
          <a:prstGeom prst="rect">
            <a:avLst/>
          </a:prstGeom>
          <a:solidFill>
            <a:srgbClr val="065A82"/>
          </a:solidFill>
          <a:ln/>
        </p:spPr>
      </p:sp>
      <p:sp>
        <p:nvSpPr>
          <p:cNvPr id="13" name="Text 11"/>
          <p:cNvSpPr/>
          <p:nvPr/>
        </p:nvSpPr>
        <p:spPr>
          <a:xfrm>
            <a:off x="8046720" y="3383280"/>
            <a:ext cx="3383280" cy="365760"/>
          </a:xfrm>
          <a:prstGeom prst="rect">
            <a:avLst/>
          </a:prstGeom>
          <a:noFill/>
          <a:ln/>
        </p:spPr>
        <p:txBody>
          <a:bodyPr wrap="square" rtlCol="0" anchor="ctr"/>
          <a:lstStyle/>
          <a:p>
            <a:pPr indent="0" marL="0">
              <a:buNone/>
            </a:pPr>
            <a:r>
              <a:rPr lang="en-US" sz="1400" b="1" dirty="0">
                <a:solidFill>
                  <a:srgbClr val="065A82"/>
                </a:solidFill>
              </a:rPr>
              <a:t>OUR APPROACH</a:t>
            </a:r>
            <a:endParaRPr lang="en-US" sz="1400" dirty="0"/>
          </a:p>
        </p:txBody>
      </p:sp>
      <p:sp>
        <p:nvSpPr>
          <p:cNvPr id="14" name="Text 12"/>
          <p:cNvSpPr/>
          <p:nvPr/>
        </p:nvSpPr>
        <p:spPr>
          <a:xfrm>
            <a:off x="8046720" y="3794760"/>
            <a:ext cx="3383280" cy="2377440"/>
          </a:xfrm>
          <a:prstGeom prst="rect">
            <a:avLst/>
          </a:prstGeom>
          <a:noFill/>
          <a:ln/>
        </p:spPr>
        <p:txBody>
          <a:bodyPr wrap="square" rtlCol="0" anchor="ctr"/>
          <a:lstStyle/>
          <a:p>
            <a:pPr marL="342900" indent="-342900">
              <a:lnSpc>
                <a:spcPct val="110000"/>
              </a:lnSpc>
              <a:spcAft>
                <a:spcPts val="800"/>
              </a:spcAft>
              <a:buSzPct val="100000"/>
              <a:buChar char="•"/>
            </a:pPr>
            <a:r>
              <a:rPr lang="en-US" sz="1250" dirty="0">
                <a:solidFill>
                  <a:srgbClr val="1A2A38"/>
                </a:solidFill>
              </a:rPr>
              <a:t>IPCC hazard framework at 12 km grid resolution</a:t>
            </a:r>
            <a:endParaRPr lang="en-US" sz="1250" dirty="0"/>
          </a:p>
          <a:p>
            <a:pPr marL="342900" indent="-342900">
              <a:lnSpc>
                <a:spcPct val="110000"/>
              </a:lnSpc>
              <a:spcAft>
                <a:spcPts val="800"/>
              </a:spcAft>
              <a:buSzPct val="100000"/>
              <a:buChar char="•"/>
            </a:pPr>
            <a:r>
              <a:rPr lang="en-US" sz="1250" dirty="0">
                <a:solidFill>
                  <a:srgbClr val="1A2A38"/>
                </a:solidFill>
              </a:rPr>
              <a:t>IDW interpolation + 8 data compartments → composite index</a:t>
            </a:r>
            <a:endParaRPr lang="en-US" sz="1250" dirty="0"/>
          </a:p>
          <a:p>
            <a:pPr marL="342900" indent="-342900">
              <a:lnSpc>
                <a:spcPct val="110000"/>
              </a:lnSpc>
              <a:spcAft>
                <a:spcPts val="800"/>
              </a:spcAft>
              <a:buSzPct val="100000"/>
              <a:buChar char="•"/>
            </a:pPr>
            <a:r>
              <a:rPr lang="en-US" sz="1250" dirty="0">
                <a:solidFill>
                  <a:srgbClr val="1A2A38"/>
                </a:solidFill>
              </a:rPr>
              <a:t>LISA / Moran's I / Getis-Ord GI* spatial statistics</a:t>
            </a:r>
            <a:endParaRPr lang="en-US" sz="1250" dirty="0"/>
          </a:p>
        </p:txBody>
      </p:sp>
      <p:sp>
        <p:nvSpPr>
          <p:cNvPr id="15" name="Text 13"/>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6" name="Text 14"/>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5A8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65A82"/>
          </a:solidFill>
          <a:ln/>
        </p:spPr>
      </p:sp>
      <p:sp>
        <p:nvSpPr>
          <p:cNvPr id="3" name="Text 1"/>
          <p:cNvSpPr/>
          <p:nvPr/>
        </p:nvSpPr>
        <p:spPr>
          <a:xfrm>
            <a:off x="365760" y="182880"/>
            <a:ext cx="5486400" cy="5486400"/>
          </a:xfrm>
          <a:prstGeom prst="rect">
            <a:avLst/>
          </a:prstGeom>
          <a:noFill/>
          <a:ln/>
        </p:spPr>
        <p:txBody>
          <a:bodyPr wrap="square" rtlCol="0" anchor="ctr"/>
          <a:lstStyle/>
          <a:p>
            <a:pPr algn="l" indent="0" marL="0">
              <a:buNone/>
            </a:pPr>
            <a:r>
              <a:rPr lang="en-US" sz="30000" b="1" dirty="0">
                <a:solidFill>
                  <a:srgbClr val="1C7293">
                    <a:alpha val="30000"/>
                  </a:srgbClr>
                </a:solidFill>
              </a:rPr>
              <a:t>1</a:t>
            </a:r>
            <a:endParaRPr lang="en-US" sz="30000" dirty="0"/>
          </a:p>
        </p:txBody>
      </p:sp>
      <p:sp>
        <p:nvSpPr>
          <p:cNvPr id="4" name="Text 2"/>
          <p:cNvSpPr/>
          <p:nvPr/>
        </p:nvSpPr>
        <p:spPr>
          <a:xfrm>
            <a:off x="822960" y="2743200"/>
            <a:ext cx="10515600" cy="914400"/>
          </a:xfrm>
          <a:prstGeom prst="rect">
            <a:avLst/>
          </a:prstGeom>
          <a:noFill/>
          <a:ln/>
        </p:spPr>
        <p:txBody>
          <a:bodyPr wrap="square" rtlCol="0" anchor="ctr"/>
          <a:lstStyle/>
          <a:p>
            <a:pPr indent="0" marL="0">
              <a:buNone/>
            </a:pPr>
            <a:r>
              <a:rPr lang="en-US" sz="4000" b="1" dirty="0">
                <a:solidFill>
                  <a:srgbClr val="FFFFFF"/>
                </a:solidFill>
              </a:rPr>
              <a:t>Data</a:t>
            </a:r>
            <a:endParaRPr lang="en-US" sz="4000" dirty="0"/>
          </a:p>
        </p:txBody>
      </p:sp>
      <p:sp>
        <p:nvSpPr>
          <p:cNvPr id="5" name="Shape 3"/>
          <p:cNvSpPr/>
          <p:nvPr/>
        </p:nvSpPr>
        <p:spPr>
          <a:xfrm>
            <a:off x="914400" y="3703320"/>
            <a:ext cx="2011680" cy="0"/>
          </a:xfrm>
          <a:prstGeom prst="line">
            <a:avLst/>
          </a:prstGeom>
          <a:noFill/>
          <a:ln w="38100">
            <a:solidFill>
              <a:srgbClr val="F39C12"/>
            </a:solidFill>
            <a:prstDash val="solid"/>
          </a:ln>
        </p:spPr>
      </p:sp>
      <p:sp>
        <p:nvSpPr>
          <p:cNvPr id="6" name="Text 4"/>
          <p:cNvSpPr/>
          <p:nvPr/>
        </p:nvSpPr>
        <p:spPr>
          <a:xfrm>
            <a:off x="868680" y="3840480"/>
            <a:ext cx="10515600" cy="548640"/>
          </a:xfrm>
          <a:prstGeom prst="rect">
            <a:avLst/>
          </a:prstGeom>
          <a:noFill/>
          <a:ln/>
        </p:spPr>
        <p:txBody>
          <a:bodyPr wrap="square" rtlCol="0" anchor="ctr"/>
          <a:lstStyle/>
          <a:p>
            <a:pPr indent="0" marL="0">
              <a:buNone/>
            </a:pPr>
            <a:r>
              <a:rPr lang="en-US" sz="1600" dirty="0">
                <a:solidFill>
                  <a:srgbClr val="CADCFC"/>
                </a:solidFill>
              </a:rPr>
              <a:t>Sources · Compartments · Harmonisation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8 DATA COMPARTMENTS</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ISPRA MSFD Monitoring Data</a:t>
            </a:r>
            <a:endParaRPr lang="en-US" sz="2800" dirty="0"/>
          </a:p>
        </p:txBody>
      </p:sp>
      <p:sp>
        <p:nvSpPr>
          <p:cNvPr id="5" name="Shape 3"/>
          <p:cNvSpPr/>
          <p:nvPr/>
        </p:nvSpPr>
        <p:spPr>
          <a:xfrm>
            <a:off x="548640" y="1554480"/>
            <a:ext cx="3566160" cy="2011680"/>
          </a:xfrm>
          <a:prstGeom prst="roundRect">
            <a:avLst>
              <a:gd name="adj" fmla="val 3636"/>
            </a:avLst>
          </a:prstGeom>
          <a:solidFill>
            <a:srgbClr val="F4F7F9"/>
          </a:solidFill>
          <a:ln w="12700">
            <a:solidFill>
              <a:srgbClr val="D8E1E8"/>
            </a:solidFill>
            <a:prstDash val="solid"/>
          </a:ln>
        </p:spPr>
      </p:sp>
      <p:sp>
        <p:nvSpPr>
          <p:cNvPr id="6" name="Shape 4"/>
          <p:cNvSpPr/>
          <p:nvPr/>
        </p:nvSpPr>
        <p:spPr>
          <a:xfrm>
            <a:off x="777240" y="1783080"/>
            <a:ext cx="640080" cy="640080"/>
          </a:xfrm>
          <a:prstGeom prst="ellipse">
            <a:avLst/>
          </a:prstGeom>
          <a:solidFill>
            <a:srgbClr val="065A82"/>
          </a:solidFill>
          <a:ln/>
        </p:spPr>
      </p:sp>
      <p:sp>
        <p:nvSpPr>
          <p:cNvPr id="7" name="Text 5"/>
          <p:cNvSpPr/>
          <p:nvPr/>
        </p:nvSpPr>
        <p:spPr>
          <a:xfrm>
            <a:off x="777240" y="1801368"/>
            <a:ext cx="640080" cy="603504"/>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8" name="Text 6"/>
          <p:cNvSpPr/>
          <p:nvPr/>
        </p:nvSpPr>
        <p:spPr>
          <a:xfrm>
            <a:off x="1554480" y="1810512"/>
            <a:ext cx="2468880" cy="365760"/>
          </a:xfrm>
          <a:prstGeom prst="rect">
            <a:avLst/>
          </a:prstGeom>
          <a:noFill/>
          <a:ln/>
        </p:spPr>
        <p:txBody>
          <a:bodyPr wrap="square" rtlCol="0" anchor="ctr"/>
          <a:lstStyle/>
          <a:p>
            <a:pPr indent="0" marL="0">
              <a:buNone/>
            </a:pPr>
            <a:r>
              <a:rPr lang="en-US" sz="1600" b="1" dirty="0">
                <a:solidFill>
                  <a:srgbClr val="065A82"/>
                </a:solidFill>
              </a:rPr>
              <a:t>Beach Litter</a:t>
            </a:r>
            <a:endParaRPr lang="en-US" sz="1600" dirty="0"/>
          </a:p>
        </p:txBody>
      </p:sp>
      <p:sp>
        <p:nvSpPr>
          <p:cNvPr id="9" name="Text 7"/>
          <p:cNvSpPr/>
          <p:nvPr/>
        </p:nvSpPr>
        <p:spPr>
          <a:xfrm>
            <a:off x="1554480" y="2176272"/>
            <a:ext cx="2468880" cy="274320"/>
          </a:xfrm>
          <a:prstGeom prst="rect">
            <a:avLst/>
          </a:prstGeom>
          <a:noFill/>
          <a:ln/>
        </p:spPr>
        <p:txBody>
          <a:bodyPr wrap="square" rtlCol="0" anchor="ctr"/>
          <a:lstStyle/>
          <a:p>
            <a:pPr indent="0" marL="0">
              <a:buNone/>
            </a:pPr>
            <a:r>
              <a:rPr lang="en-US" sz="1000" b="1" dirty="0">
                <a:solidFill>
                  <a:srgbClr val="F39C12"/>
                </a:solidFill>
              </a:rPr>
              <a:t>Modulo 4</a:t>
            </a:r>
            <a:endParaRPr lang="en-US" sz="1000" dirty="0"/>
          </a:p>
        </p:txBody>
      </p:sp>
      <p:sp>
        <p:nvSpPr>
          <p:cNvPr id="10" name="Text 8"/>
          <p:cNvSpPr/>
          <p:nvPr/>
        </p:nvSpPr>
        <p:spPr>
          <a:xfrm>
            <a:off x="777240" y="2560320"/>
            <a:ext cx="3154680" cy="914400"/>
          </a:xfrm>
          <a:prstGeom prst="rect">
            <a:avLst/>
          </a:prstGeom>
          <a:noFill/>
          <a:ln/>
        </p:spPr>
        <p:txBody>
          <a:bodyPr wrap="square" rtlCol="0" anchor="t"/>
          <a:lstStyle/>
          <a:p>
            <a:pPr indent="0" marL="0">
              <a:buNone/>
            </a:pPr>
            <a:r>
              <a:rPr lang="en-US" sz="1100" dirty="0">
                <a:solidFill>
                  <a:srgbClr val="1A2A38"/>
                </a:solidFill>
              </a:rPr>
              <a:t>6 sites · 36 surveys · items/100 m transect · EU JointList categories</a:t>
            </a:r>
            <a:endParaRPr lang="en-US" sz="1100" dirty="0"/>
          </a:p>
        </p:txBody>
      </p:sp>
      <p:sp>
        <p:nvSpPr>
          <p:cNvPr id="11" name="Shape 9"/>
          <p:cNvSpPr/>
          <p:nvPr/>
        </p:nvSpPr>
        <p:spPr>
          <a:xfrm>
            <a:off x="4343400" y="1554480"/>
            <a:ext cx="3566160" cy="2011680"/>
          </a:xfrm>
          <a:prstGeom prst="roundRect">
            <a:avLst>
              <a:gd name="adj" fmla="val 3636"/>
            </a:avLst>
          </a:prstGeom>
          <a:solidFill>
            <a:srgbClr val="F4F7F9"/>
          </a:solidFill>
          <a:ln w="12700">
            <a:solidFill>
              <a:srgbClr val="D8E1E8"/>
            </a:solidFill>
            <a:prstDash val="solid"/>
          </a:ln>
        </p:spPr>
      </p:sp>
      <p:sp>
        <p:nvSpPr>
          <p:cNvPr id="12" name="Shape 10"/>
          <p:cNvSpPr/>
          <p:nvPr/>
        </p:nvSpPr>
        <p:spPr>
          <a:xfrm>
            <a:off x="4572000" y="1783080"/>
            <a:ext cx="640080" cy="640080"/>
          </a:xfrm>
          <a:prstGeom prst="ellipse">
            <a:avLst/>
          </a:prstGeom>
          <a:solidFill>
            <a:srgbClr val="065A82"/>
          </a:solidFill>
          <a:ln/>
        </p:spPr>
      </p:sp>
      <p:sp>
        <p:nvSpPr>
          <p:cNvPr id="13" name="Text 11"/>
          <p:cNvSpPr/>
          <p:nvPr/>
        </p:nvSpPr>
        <p:spPr>
          <a:xfrm>
            <a:off x="4572000" y="1801368"/>
            <a:ext cx="640080" cy="603504"/>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4" name="Text 12"/>
          <p:cNvSpPr/>
          <p:nvPr/>
        </p:nvSpPr>
        <p:spPr>
          <a:xfrm>
            <a:off x="5349240" y="1810512"/>
            <a:ext cx="2468880" cy="365760"/>
          </a:xfrm>
          <a:prstGeom prst="rect">
            <a:avLst/>
          </a:prstGeom>
          <a:noFill/>
          <a:ln/>
        </p:spPr>
        <p:txBody>
          <a:bodyPr wrap="square" rtlCol="0" anchor="ctr"/>
          <a:lstStyle/>
          <a:p>
            <a:pPr indent="0" marL="0">
              <a:buNone/>
            </a:pPr>
            <a:r>
              <a:rPr lang="en-US" sz="1600" b="1" dirty="0">
                <a:solidFill>
                  <a:srgbClr val="065A82"/>
                </a:solidFill>
              </a:rPr>
              <a:t>Floating Litter</a:t>
            </a:r>
            <a:endParaRPr lang="en-US" sz="1600" dirty="0"/>
          </a:p>
        </p:txBody>
      </p:sp>
      <p:sp>
        <p:nvSpPr>
          <p:cNvPr id="15" name="Text 13"/>
          <p:cNvSpPr/>
          <p:nvPr/>
        </p:nvSpPr>
        <p:spPr>
          <a:xfrm>
            <a:off x="5349240" y="2176272"/>
            <a:ext cx="2468880" cy="274320"/>
          </a:xfrm>
          <a:prstGeom prst="rect">
            <a:avLst/>
          </a:prstGeom>
          <a:noFill/>
          <a:ln/>
        </p:spPr>
        <p:txBody>
          <a:bodyPr wrap="square" rtlCol="0" anchor="ctr"/>
          <a:lstStyle/>
          <a:p>
            <a:pPr indent="0" marL="0">
              <a:buNone/>
            </a:pPr>
            <a:r>
              <a:rPr lang="en-US" sz="1000" b="1" dirty="0">
                <a:solidFill>
                  <a:srgbClr val="F39C12"/>
                </a:solidFill>
              </a:rPr>
              <a:t>Modulo 2-bis</a:t>
            </a:r>
            <a:endParaRPr lang="en-US" sz="1000" dirty="0"/>
          </a:p>
        </p:txBody>
      </p:sp>
      <p:sp>
        <p:nvSpPr>
          <p:cNvPr id="16" name="Text 14"/>
          <p:cNvSpPr/>
          <p:nvPr/>
        </p:nvSpPr>
        <p:spPr>
          <a:xfrm>
            <a:off x="4572000" y="2560320"/>
            <a:ext cx="3154680" cy="914400"/>
          </a:xfrm>
          <a:prstGeom prst="rect">
            <a:avLst/>
          </a:prstGeom>
          <a:noFill/>
          <a:ln/>
        </p:spPr>
        <p:txBody>
          <a:bodyPr wrap="square" rtlCol="0" anchor="t"/>
          <a:lstStyle/>
          <a:p>
            <a:pPr indent="0" marL="0">
              <a:buNone/>
            </a:pPr>
            <a:r>
              <a:rPr lang="en-US" sz="1100" dirty="0">
                <a:solidFill>
                  <a:srgbClr val="1A2A38"/>
                </a:solidFill>
              </a:rPr>
              <a:t>21 stations · ship-based visual transect · material composition</a:t>
            </a:r>
            <a:endParaRPr lang="en-US" sz="1100" dirty="0"/>
          </a:p>
        </p:txBody>
      </p:sp>
      <p:sp>
        <p:nvSpPr>
          <p:cNvPr id="17" name="Shape 15"/>
          <p:cNvSpPr/>
          <p:nvPr/>
        </p:nvSpPr>
        <p:spPr>
          <a:xfrm>
            <a:off x="8138160" y="1554480"/>
            <a:ext cx="3566160" cy="2011680"/>
          </a:xfrm>
          <a:prstGeom prst="roundRect">
            <a:avLst>
              <a:gd name="adj" fmla="val 3636"/>
            </a:avLst>
          </a:prstGeom>
          <a:solidFill>
            <a:srgbClr val="F4F7F9"/>
          </a:solidFill>
          <a:ln w="12700">
            <a:solidFill>
              <a:srgbClr val="D8E1E8"/>
            </a:solidFill>
            <a:prstDash val="solid"/>
          </a:ln>
        </p:spPr>
      </p:sp>
      <p:sp>
        <p:nvSpPr>
          <p:cNvPr id="18" name="Shape 16"/>
          <p:cNvSpPr/>
          <p:nvPr/>
        </p:nvSpPr>
        <p:spPr>
          <a:xfrm>
            <a:off x="8366760" y="1783080"/>
            <a:ext cx="640080" cy="640080"/>
          </a:xfrm>
          <a:prstGeom prst="ellipse">
            <a:avLst/>
          </a:prstGeom>
          <a:solidFill>
            <a:srgbClr val="065A82"/>
          </a:solidFill>
          <a:ln/>
        </p:spPr>
      </p:sp>
      <p:sp>
        <p:nvSpPr>
          <p:cNvPr id="19" name="Text 17"/>
          <p:cNvSpPr/>
          <p:nvPr/>
        </p:nvSpPr>
        <p:spPr>
          <a:xfrm>
            <a:off x="8366760" y="1801368"/>
            <a:ext cx="640080" cy="603504"/>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0" name="Text 18"/>
          <p:cNvSpPr/>
          <p:nvPr/>
        </p:nvSpPr>
        <p:spPr>
          <a:xfrm>
            <a:off x="9144000" y="1810512"/>
            <a:ext cx="2468880" cy="365760"/>
          </a:xfrm>
          <a:prstGeom prst="rect">
            <a:avLst/>
          </a:prstGeom>
          <a:noFill/>
          <a:ln/>
        </p:spPr>
        <p:txBody>
          <a:bodyPr wrap="square" rtlCol="0" anchor="ctr"/>
          <a:lstStyle/>
          <a:p>
            <a:pPr indent="0" marL="0">
              <a:buNone/>
            </a:pPr>
            <a:r>
              <a:rPr lang="en-US" sz="1600" b="1" dirty="0">
                <a:solidFill>
                  <a:srgbClr val="065A82"/>
                </a:solidFill>
              </a:rPr>
              <a:t>Microplastics</a:t>
            </a:r>
            <a:endParaRPr lang="en-US" sz="1600" dirty="0"/>
          </a:p>
        </p:txBody>
      </p:sp>
      <p:sp>
        <p:nvSpPr>
          <p:cNvPr id="21" name="Text 19"/>
          <p:cNvSpPr/>
          <p:nvPr/>
        </p:nvSpPr>
        <p:spPr>
          <a:xfrm>
            <a:off x="9144000" y="2176272"/>
            <a:ext cx="2468880" cy="274320"/>
          </a:xfrm>
          <a:prstGeom prst="rect">
            <a:avLst/>
          </a:prstGeom>
          <a:noFill/>
          <a:ln/>
        </p:spPr>
        <p:txBody>
          <a:bodyPr wrap="square" rtlCol="0" anchor="ctr"/>
          <a:lstStyle/>
          <a:p>
            <a:pPr indent="0" marL="0">
              <a:buNone/>
            </a:pPr>
            <a:r>
              <a:rPr lang="en-US" sz="1000" b="1" dirty="0">
                <a:solidFill>
                  <a:srgbClr val="F39C12"/>
                </a:solidFill>
              </a:rPr>
              <a:t>Modulo 2</a:t>
            </a:r>
            <a:endParaRPr lang="en-US" sz="1000" dirty="0"/>
          </a:p>
        </p:txBody>
      </p:sp>
      <p:sp>
        <p:nvSpPr>
          <p:cNvPr id="22" name="Text 20"/>
          <p:cNvSpPr/>
          <p:nvPr/>
        </p:nvSpPr>
        <p:spPr>
          <a:xfrm>
            <a:off x="8366760" y="2560320"/>
            <a:ext cx="3154680" cy="914400"/>
          </a:xfrm>
          <a:prstGeom prst="rect">
            <a:avLst/>
          </a:prstGeom>
          <a:noFill/>
          <a:ln/>
        </p:spPr>
        <p:txBody>
          <a:bodyPr wrap="square" rtlCol="0" anchor="t"/>
          <a:lstStyle/>
          <a:p>
            <a:pPr indent="0" marL="0">
              <a:buNone/>
            </a:pPr>
            <a:r>
              <a:rPr lang="en-US" sz="1100" dirty="0">
                <a:solidFill>
                  <a:srgbClr val="1A2A38"/>
                </a:solidFill>
              </a:rPr>
              <a:t>336 trawl cells/yr (2018–22) · IDW concentration grid</a:t>
            </a:r>
            <a:endParaRPr lang="en-US" sz="1100" dirty="0"/>
          </a:p>
        </p:txBody>
      </p:sp>
      <p:sp>
        <p:nvSpPr>
          <p:cNvPr id="23" name="Shape 21"/>
          <p:cNvSpPr/>
          <p:nvPr/>
        </p:nvSpPr>
        <p:spPr>
          <a:xfrm>
            <a:off x="548640" y="3794760"/>
            <a:ext cx="3566160" cy="2011680"/>
          </a:xfrm>
          <a:prstGeom prst="roundRect">
            <a:avLst>
              <a:gd name="adj" fmla="val 3636"/>
            </a:avLst>
          </a:prstGeom>
          <a:solidFill>
            <a:srgbClr val="F4F7F9"/>
          </a:solidFill>
          <a:ln w="12700">
            <a:solidFill>
              <a:srgbClr val="D8E1E8"/>
            </a:solidFill>
            <a:prstDash val="solid"/>
          </a:ln>
        </p:spPr>
      </p:sp>
      <p:sp>
        <p:nvSpPr>
          <p:cNvPr id="24" name="Shape 22"/>
          <p:cNvSpPr/>
          <p:nvPr/>
        </p:nvSpPr>
        <p:spPr>
          <a:xfrm>
            <a:off x="777240" y="4023360"/>
            <a:ext cx="640080" cy="640080"/>
          </a:xfrm>
          <a:prstGeom prst="ellipse">
            <a:avLst/>
          </a:prstGeom>
          <a:solidFill>
            <a:srgbClr val="065A82"/>
          </a:solidFill>
          <a:ln/>
        </p:spPr>
      </p:sp>
      <p:sp>
        <p:nvSpPr>
          <p:cNvPr id="25" name="Text 23"/>
          <p:cNvSpPr/>
          <p:nvPr/>
        </p:nvSpPr>
        <p:spPr>
          <a:xfrm>
            <a:off x="777240" y="4041648"/>
            <a:ext cx="640080" cy="603504"/>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6" name="Text 24"/>
          <p:cNvSpPr/>
          <p:nvPr/>
        </p:nvSpPr>
        <p:spPr>
          <a:xfrm>
            <a:off x="1554480" y="4050792"/>
            <a:ext cx="2468880" cy="365760"/>
          </a:xfrm>
          <a:prstGeom prst="rect">
            <a:avLst/>
          </a:prstGeom>
          <a:noFill/>
          <a:ln/>
        </p:spPr>
        <p:txBody>
          <a:bodyPr wrap="square" rtlCol="0" anchor="ctr"/>
          <a:lstStyle/>
          <a:p>
            <a:pPr indent="0" marL="0">
              <a:buNone/>
            </a:pPr>
            <a:r>
              <a:rPr lang="en-US" sz="1600" b="1" dirty="0">
                <a:solidFill>
                  <a:srgbClr val="065A82"/>
                </a:solidFill>
              </a:rPr>
              <a:t>Bio Impact</a:t>
            </a:r>
            <a:endParaRPr lang="en-US" sz="1600" dirty="0"/>
          </a:p>
        </p:txBody>
      </p:sp>
      <p:sp>
        <p:nvSpPr>
          <p:cNvPr id="27" name="Text 25"/>
          <p:cNvSpPr/>
          <p:nvPr/>
        </p:nvSpPr>
        <p:spPr>
          <a:xfrm>
            <a:off x="1554480" y="4416552"/>
            <a:ext cx="2468880" cy="274320"/>
          </a:xfrm>
          <a:prstGeom prst="rect">
            <a:avLst/>
          </a:prstGeom>
          <a:noFill/>
          <a:ln/>
        </p:spPr>
        <p:txBody>
          <a:bodyPr wrap="square" rtlCol="0" anchor="ctr"/>
          <a:lstStyle/>
          <a:p>
            <a:pPr indent="0" marL="0">
              <a:buNone/>
            </a:pPr>
            <a:r>
              <a:rPr lang="en-US" sz="1000" b="1" dirty="0">
                <a:solidFill>
                  <a:srgbClr val="F39C12"/>
                </a:solidFill>
              </a:rPr>
              <a:t>D10 strandings</a:t>
            </a:r>
            <a:endParaRPr lang="en-US" sz="1000" dirty="0"/>
          </a:p>
        </p:txBody>
      </p:sp>
      <p:sp>
        <p:nvSpPr>
          <p:cNvPr id="28" name="Text 26"/>
          <p:cNvSpPr/>
          <p:nvPr/>
        </p:nvSpPr>
        <p:spPr>
          <a:xfrm>
            <a:off x="777240" y="4800600"/>
            <a:ext cx="3154680" cy="914400"/>
          </a:xfrm>
          <a:prstGeom prst="rect">
            <a:avLst/>
          </a:prstGeom>
          <a:noFill/>
          <a:ln/>
        </p:spPr>
        <p:txBody>
          <a:bodyPr wrap="square" rtlCol="0" anchor="t"/>
          <a:lstStyle/>
          <a:p>
            <a:pPr indent="0" marL="0">
              <a:buNone/>
            </a:pPr>
            <a:r>
              <a:rPr lang="en-US" sz="1100" dirty="0">
                <a:solidFill>
                  <a:srgbClr val="1A2A38"/>
                </a:solidFill>
              </a:rPr>
              <a:t>Entanglement + ingestion · Caretta caretta · CNR-IAS Oristano</a:t>
            </a:r>
            <a:endParaRPr lang="en-US" sz="1100" dirty="0"/>
          </a:p>
        </p:txBody>
      </p:sp>
      <p:sp>
        <p:nvSpPr>
          <p:cNvPr id="29" name="Shape 27"/>
          <p:cNvSpPr/>
          <p:nvPr/>
        </p:nvSpPr>
        <p:spPr>
          <a:xfrm>
            <a:off x="4343400" y="3794760"/>
            <a:ext cx="3566160" cy="2011680"/>
          </a:xfrm>
          <a:prstGeom prst="roundRect">
            <a:avLst>
              <a:gd name="adj" fmla="val 3636"/>
            </a:avLst>
          </a:prstGeom>
          <a:solidFill>
            <a:srgbClr val="F4F7F9"/>
          </a:solidFill>
          <a:ln w="12700">
            <a:solidFill>
              <a:srgbClr val="D8E1E8"/>
            </a:solidFill>
            <a:prstDash val="solid"/>
          </a:ln>
        </p:spPr>
      </p:sp>
      <p:sp>
        <p:nvSpPr>
          <p:cNvPr id="30" name="Shape 28"/>
          <p:cNvSpPr/>
          <p:nvPr/>
        </p:nvSpPr>
        <p:spPr>
          <a:xfrm>
            <a:off x="4572000" y="4023360"/>
            <a:ext cx="640080" cy="640080"/>
          </a:xfrm>
          <a:prstGeom prst="ellipse">
            <a:avLst/>
          </a:prstGeom>
          <a:solidFill>
            <a:srgbClr val="065A82"/>
          </a:solidFill>
          <a:ln/>
        </p:spPr>
      </p:sp>
      <p:sp>
        <p:nvSpPr>
          <p:cNvPr id="31" name="Text 29"/>
          <p:cNvSpPr/>
          <p:nvPr/>
        </p:nvSpPr>
        <p:spPr>
          <a:xfrm>
            <a:off x="4572000" y="4041648"/>
            <a:ext cx="640080" cy="603504"/>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2" name="Text 30"/>
          <p:cNvSpPr/>
          <p:nvPr/>
        </p:nvSpPr>
        <p:spPr>
          <a:xfrm>
            <a:off x="5349240" y="4050792"/>
            <a:ext cx="2468880" cy="365760"/>
          </a:xfrm>
          <a:prstGeom prst="rect">
            <a:avLst/>
          </a:prstGeom>
          <a:noFill/>
          <a:ln/>
        </p:spPr>
        <p:txBody>
          <a:bodyPr wrap="square" rtlCol="0" anchor="ctr"/>
          <a:lstStyle/>
          <a:p>
            <a:pPr indent="0" marL="0">
              <a:buNone/>
            </a:pPr>
            <a:r>
              <a:rPr lang="en-US" sz="1600" b="1" dirty="0">
                <a:solidFill>
                  <a:srgbClr val="065A82"/>
                </a:solidFill>
              </a:rPr>
              <a:t>Sea Currents</a:t>
            </a:r>
            <a:endParaRPr lang="en-US" sz="1600" dirty="0"/>
          </a:p>
        </p:txBody>
      </p:sp>
      <p:sp>
        <p:nvSpPr>
          <p:cNvPr id="33" name="Text 31"/>
          <p:cNvSpPr/>
          <p:nvPr/>
        </p:nvSpPr>
        <p:spPr>
          <a:xfrm>
            <a:off x="5349240" y="4416552"/>
            <a:ext cx="2468880" cy="274320"/>
          </a:xfrm>
          <a:prstGeom prst="rect">
            <a:avLst/>
          </a:prstGeom>
          <a:noFill/>
          <a:ln/>
        </p:spPr>
        <p:txBody>
          <a:bodyPr wrap="square" rtlCol="0" anchor="ctr"/>
          <a:lstStyle/>
          <a:p>
            <a:pPr indent="0" marL="0">
              <a:buNone/>
            </a:pPr>
            <a:r>
              <a:rPr lang="en-US" sz="1000" b="1" dirty="0">
                <a:solidFill>
                  <a:srgbClr val="F39C12"/>
                </a:solidFill>
              </a:rPr>
              <a:t>CMEMS reanalysis</a:t>
            </a:r>
            <a:endParaRPr lang="en-US" sz="1000" dirty="0"/>
          </a:p>
        </p:txBody>
      </p:sp>
      <p:sp>
        <p:nvSpPr>
          <p:cNvPr id="34" name="Text 32"/>
          <p:cNvSpPr/>
          <p:nvPr/>
        </p:nvSpPr>
        <p:spPr>
          <a:xfrm>
            <a:off x="4572000" y="4800600"/>
            <a:ext cx="3154680" cy="914400"/>
          </a:xfrm>
          <a:prstGeom prst="rect">
            <a:avLst/>
          </a:prstGeom>
          <a:noFill/>
          <a:ln/>
        </p:spPr>
        <p:txBody>
          <a:bodyPr wrap="square" rtlCol="0" anchor="t"/>
          <a:lstStyle/>
          <a:p>
            <a:pPr indent="0" marL="0">
              <a:buNone/>
            </a:pPr>
            <a:r>
              <a:rPr lang="en-US" sz="1100" dirty="0">
                <a:solidFill>
                  <a:srgbClr val="1A2A38"/>
                </a:solidFill>
              </a:rPr>
              <a:t>Monthly u/v fields · transport driver · 72 monthly records</a:t>
            </a:r>
            <a:endParaRPr lang="en-US" sz="1100" dirty="0"/>
          </a:p>
        </p:txBody>
      </p:sp>
      <p:sp>
        <p:nvSpPr>
          <p:cNvPr id="35" name="Shape 33"/>
          <p:cNvSpPr/>
          <p:nvPr/>
        </p:nvSpPr>
        <p:spPr>
          <a:xfrm>
            <a:off x="8138160" y="3794760"/>
            <a:ext cx="3566160" cy="2011680"/>
          </a:xfrm>
          <a:prstGeom prst="roundRect">
            <a:avLst>
              <a:gd name="adj" fmla="val 3636"/>
            </a:avLst>
          </a:prstGeom>
          <a:solidFill>
            <a:srgbClr val="F4F7F9"/>
          </a:solidFill>
          <a:ln w="12700">
            <a:solidFill>
              <a:srgbClr val="D8E1E8"/>
            </a:solidFill>
            <a:prstDash val="solid"/>
          </a:ln>
        </p:spPr>
      </p:sp>
      <p:sp>
        <p:nvSpPr>
          <p:cNvPr id="36" name="Shape 34"/>
          <p:cNvSpPr/>
          <p:nvPr/>
        </p:nvSpPr>
        <p:spPr>
          <a:xfrm>
            <a:off x="8366760" y="4023360"/>
            <a:ext cx="640080" cy="640080"/>
          </a:xfrm>
          <a:prstGeom prst="ellipse">
            <a:avLst/>
          </a:prstGeom>
          <a:solidFill>
            <a:srgbClr val="065A82"/>
          </a:solidFill>
          <a:ln/>
        </p:spPr>
      </p:sp>
      <p:sp>
        <p:nvSpPr>
          <p:cNvPr id="37" name="Text 35"/>
          <p:cNvSpPr/>
          <p:nvPr/>
        </p:nvSpPr>
        <p:spPr>
          <a:xfrm>
            <a:off x="8366760" y="4041648"/>
            <a:ext cx="640080" cy="603504"/>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8" name="Text 36"/>
          <p:cNvSpPr/>
          <p:nvPr/>
        </p:nvSpPr>
        <p:spPr>
          <a:xfrm>
            <a:off x="9144000" y="4050792"/>
            <a:ext cx="2468880" cy="365760"/>
          </a:xfrm>
          <a:prstGeom prst="rect">
            <a:avLst/>
          </a:prstGeom>
          <a:noFill/>
          <a:ln/>
        </p:spPr>
        <p:txBody>
          <a:bodyPr wrap="square" rtlCol="0" anchor="ctr"/>
          <a:lstStyle/>
          <a:p>
            <a:pPr indent="0" marL="0">
              <a:buNone/>
            </a:pPr>
            <a:r>
              <a:rPr lang="en-US" sz="1600" b="1" dirty="0">
                <a:solidFill>
                  <a:srgbClr val="065A82"/>
                </a:solidFill>
              </a:rPr>
              <a:t>Tourism</a:t>
            </a:r>
            <a:endParaRPr lang="en-US" sz="1600" dirty="0"/>
          </a:p>
        </p:txBody>
      </p:sp>
      <p:sp>
        <p:nvSpPr>
          <p:cNvPr id="39" name="Text 37"/>
          <p:cNvSpPr/>
          <p:nvPr/>
        </p:nvSpPr>
        <p:spPr>
          <a:xfrm>
            <a:off x="9144000" y="4416552"/>
            <a:ext cx="2468880" cy="274320"/>
          </a:xfrm>
          <a:prstGeom prst="rect">
            <a:avLst/>
          </a:prstGeom>
          <a:noFill/>
          <a:ln/>
        </p:spPr>
        <p:txBody>
          <a:bodyPr wrap="square" rtlCol="0" anchor="ctr"/>
          <a:lstStyle/>
          <a:p>
            <a:pPr indent="0" marL="0">
              <a:buNone/>
            </a:pPr>
            <a:r>
              <a:rPr lang="en-US" sz="1000" b="1" dirty="0">
                <a:solidFill>
                  <a:srgbClr val="F39C12"/>
                </a:solidFill>
              </a:rPr>
              <a:t>ISTAT</a:t>
            </a:r>
            <a:endParaRPr lang="en-US" sz="1000" dirty="0"/>
          </a:p>
        </p:txBody>
      </p:sp>
      <p:sp>
        <p:nvSpPr>
          <p:cNvPr id="40" name="Text 38"/>
          <p:cNvSpPr/>
          <p:nvPr/>
        </p:nvSpPr>
        <p:spPr>
          <a:xfrm>
            <a:off x="8366760" y="4800600"/>
            <a:ext cx="3154680" cy="914400"/>
          </a:xfrm>
          <a:prstGeom prst="rect">
            <a:avLst/>
          </a:prstGeom>
          <a:noFill/>
          <a:ln/>
        </p:spPr>
        <p:txBody>
          <a:bodyPr wrap="square" rtlCol="0" anchor="t"/>
          <a:lstStyle/>
          <a:p>
            <a:pPr indent="0" marL="0">
              <a:buNone/>
            </a:pPr>
            <a:r>
              <a:rPr lang="en-US" sz="1100" dirty="0">
                <a:solidFill>
                  <a:srgbClr val="1A2A38"/>
                </a:solidFill>
              </a:rPr>
              <a:t>Annual tourist-nights · anthropogenic pressure proxy</a:t>
            </a:r>
            <a:endParaRPr lang="en-US" sz="1100" dirty="0"/>
          </a:p>
        </p:txBody>
      </p:sp>
      <p:sp>
        <p:nvSpPr>
          <p:cNvPr id="41" name="Text 39"/>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42" name="Text 40"/>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3</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SCHEMA DRIFT 2018 → 2023</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Data Harmonisation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2960" y="1554480"/>
          <a:ext cx="10515600" cy="914400"/>
        </p:xfrm>
        <a:graphic>
          <a:graphicData uri="http://schemas.openxmlformats.org/drawingml/2006/table">
            <a:tbl>
              <a:tblPr/>
              <a:tblGrid>
                <a:gridCol w="2377440"/>
                <a:gridCol w="2926080"/>
                <a:gridCol w="3108960"/>
                <a:gridCol w="2103120"/>
              </a:tblGrid>
              <a:tr h="457200">
                <a:tc>
                  <a:txBody>
                    <a:bodyPr/>
                    <a:lstStyle/>
                    <a:p>
                      <a:pPr algn="l" indent="0" marL="0">
                        <a:buNone/>
                      </a:pPr>
                      <a:r>
                        <a:rPr lang="en-US" sz="1250" b="1" dirty="0">
                          <a:solidFill>
                            <a:srgbClr val="FFFFFF"/>
                          </a:solidFill>
                        </a:rPr>
                        <a:t>Issue</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l" indent="0" marL="0">
                        <a:buNone/>
                      </a:pPr>
                      <a:r>
                        <a:rPr lang="en-US" sz="1250" b="1" dirty="0">
                          <a:solidFill>
                            <a:srgbClr val="FFFFFF"/>
                          </a:solidFill>
                        </a:rPr>
                        <a:t>Early format</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l" indent="0" marL="0">
                        <a:buNone/>
                      </a:pPr>
                      <a:r>
                        <a:rPr lang="en-US" sz="1250" b="1" dirty="0">
                          <a:solidFill>
                            <a:srgbClr val="FFFFFF"/>
                          </a:solidFill>
                        </a:rPr>
                        <a:t>Late format</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l" indent="0" marL="0">
                        <a:buNone/>
                      </a:pPr>
                      <a:r>
                        <a:rPr lang="en-US" sz="1250" b="1" dirty="0">
                          <a:solidFill>
                            <a:srgbClr val="FFFFFF"/>
                          </a:solidFill>
                        </a:rPr>
                        <a:t>Unified field</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r>
              <a:tr h="457200">
                <a:tc>
                  <a:txBody>
                    <a:bodyPr/>
                    <a:lstStyle/>
                    <a:p>
                      <a:pPr algn="l" indent="0" marL="0">
                        <a:buNone/>
                      </a:pPr>
                      <a:r>
                        <a:rPr lang="en-US" sz="1250" dirty="0">
                          <a:solidFill>
                            <a:srgbClr val="1A2A38"/>
                          </a:solidFill>
                        </a:rPr>
                        <a:t>Survey ID</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SampleID</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CodiceCampionamento</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 survey_id</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457200">
                <a:tc>
                  <a:txBody>
                    <a:bodyPr/>
                    <a:lstStyle/>
                    <a:p>
                      <a:pPr algn="l" indent="0" marL="0">
                        <a:buNone/>
                      </a:pPr>
                      <a:r>
                        <a:rPr lang="en-US" sz="1250" dirty="0">
                          <a:solidFill>
                            <a:srgbClr val="1A2A38"/>
                          </a:solidFill>
                        </a:rPr>
                        <a:t>Item count</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NumeroItems</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NumeroOggetti</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 n_items</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457200">
                <a:tc>
                  <a:txBody>
                    <a:bodyPr/>
                    <a:lstStyle/>
                    <a:p>
                      <a:pPr algn="l" indent="0" marL="0">
                        <a:buNone/>
                      </a:pPr>
                      <a:r>
                        <a:rPr lang="en-US" sz="1250" dirty="0">
                          <a:solidFill>
                            <a:srgbClr val="1A2A38"/>
                          </a:solidFill>
                        </a:rPr>
                        <a:t>Transect length</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Lunghezza</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LunghezzaTransetto</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 transect_m</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457200">
                <a:tc>
                  <a:txBody>
                    <a:bodyPr/>
                    <a:lstStyle/>
                    <a:p>
                      <a:pPr algn="l" indent="0" marL="0">
                        <a:buNone/>
                      </a:pPr>
                      <a:r>
                        <a:rPr lang="en-US" sz="1250" dirty="0">
                          <a:solidFill>
                            <a:srgbClr val="1A2A38"/>
                          </a:solidFill>
                        </a:rPr>
                        <a:t>Material names</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Polimeri artificiali</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Artificial polymer</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 normalized EN</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457200">
                <a:tc>
                  <a:txBody>
                    <a:bodyPr/>
                    <a:lstStyle/>
                    <a:p>
                      <a:pPr algn="l" indent="0" marL="0">
                        <a:buNone/>
                      </a:pPr>
                      <a:r>
                        <a:rPr lang="en-US" sz="1250" dirty="0">
                          <a:solidFill>
                            <a:srgbClr val="1A2A38"/>
                          </a:solidFill>
                        </a:rPr>
                        <a:t>Coordinates</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missing per row</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station table</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l" indent="0" marL="0">
                        <a:buNone/>
                      </a:pPr>
                      <a:r>
                        <a:rPr lang="en-US" sz="1250" dirty="0">
                          <a:solidFill>
                            <a:srgbClr val="1A2A38"/>
                          </a:solidFill>
                        </a:rPr>
                        <a:t>→ filled per beach_id</a:t>
                      </a:r>
                      <a:endParaRPr lang="en-US" sz="12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bl>
          </a:graphicData>
        </a:graphic>
      </p:graphicFrame>
      <p:sp>
        <p:nvSpPr>
          <p:cNvPr id="6" name="Text 3"/>
          <p:cNvSpPr/>
          <p:nvPr/>
        </p:nvSpPr>
        <p:spPr>
          <a:xfrm>
            <a:off x="822960" y="4572000"/>
            <a:ext cx="10515600" cy="320040"/>
          </a:xfrm>
          <a:prstGeom prst="rect">
            <a:avLst/>
          </a:prstGeom>
          <a:noFill/>
          <a:ln/>
        </p:spPr>
        <p:txBody>
          <a:bodyPr wrap="square" rtlCol="0" anchor="ctr"/>
          <a:lstStyle/>
          <a:p>
            <a:pPr indent="0" marL="0">
              <a:buNone/>
            </a:pPr>
            <a:r>
              <a:rPr lang="en-US" sz="1300" b="1" dirty="0">
                <a:solidFill>
                  <a:srgbClr val="1C7293"/>
                </a:solidFill>
              </a:rPr>
              <a:t>✓  </a:t>
            </a:r>
            <a:pPr indent="0" marL="0">
              <a:buNone/>
            </a:pPr>
            <a:r>
              <a:rPr lang="en-US" sz="1300" dirty="0">
                <a:solidFill>
                  <a:srgbClr val="1A2A38"/>
                </a:solidFill>
              </a:rPr>
              <a:t>All beach files normalised to transect_m = 100 m (fixed MSFD protocol)</a:t>
            </a:r>
            <a:endParaRPr lang="en-US" sz="1300" dirty="0"/>
          </a:p>
        </p:txBody>
      </p:sp>
      <p:sp>
        <p:nvSpPr>
          <p:cNvPr id="7" name="Text 4"/>
          <p:cNvSpPr/>
          <p:nvPr/>
        </p:nvSpPr>
        <p:spPr>
          <a:xfrm>
            <a:off x="822960" y="4937760"/>
            <a:ext cx="10515600" cy="320040"/>
          </a:xfrm>
          <a:prstGeom prst="rect">
            <a:avLst/>
          </a:prstGeom>
          <a:noFill/>
          <a:ln/>
        </p:spPr>
        <p:txBody>
          <a:bodyPr wrap="square" rtlCol="0" anchor="ctr"/>
          <a:lstStyle/>
          <a:p>
            <a:pPr indent="0" marL="0">
              <a:buNone/>
            </a:pPr>
            <a:r>
              <a:rPr lang="en-US" sz="1300" b="1" dirty="0">
                <a:solidFill>
                  <a:srgbClr val="1C7293"/>
                </a:solidFill>
              </a:rPr>
              <a:t>✓  </a:t>
            </a:r>
            <a:pPr indent="0" marL="0">
              <a:buNone/>
            </a:pPr>
            <a:r>
              <a:rPr lang="en-US" sz="1300" dirty="0">
                <a:solidFill>
                  <a:srgbClr val="1A2A38"/>
                </a:solidFill>
              </a:rPr>
              <a:t>Non-Sardinia records filtered by lat/lon bbox (38.5–41.6 N, 7.8–10.2 E) across all ISPRA modules</a:t>
            </a:r>
            <a:endParaRPr lang="en-US" sz="1300" dirty="0"/>
          </a:p>
        </p:txBody>
      </p:sp>
      <p:sp>
        <p:nvSpPr>
          <p:cNvPr id="8" name="Text 5"/>
          <p:cNvSpPr/>
          <p:nvPr/>
        </p:nvSpPr>
        <p:spPr>
          <a:xfrm>
            <a:off x="822960" y="5577840"/>
            <a:ext cx="10515600" cy="365760"/>
          </a:xfrm>
          <a:prstGeom prst="rect">
            <a:avLst/>
          </a:prstGeom>
          <a:noFill/>
          <a:ln/>
        </p:spPr>
        <p:txBody>
          <a:bodyPr wrap="square" rtlCol="0" anchor="ctr"/>
          <a:lstStyle/>
          <a:p>
            <a:pPr indent="0" marL="0">
              <a:buNone/>
            </a:pPr>
            <a:r>
              <a:rPr lang="en-US" sz="1200" b="1" i="1" dirty="0">
                <a:solidFill>
                  <a:srgbClr val="1C7293"/>
                </a:solidFill>
              </a:rPr>
              <a:t>Raw XLSX  →  pandas normalize()  →  unified per-compartment CSV  →  dashboard_data.json</a:t>
            </a:r>
            <a:endParaRPr lang="en-US" sz="1200" dirty="0"/>
          </a:p>
        </p:txBody>
      </p:sp>
      <p:sp>
        <p:nvSpPr>
          <p:cNvPr id="9" name="Text 6"/>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0" name="Text 7"/>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4</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5A8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65A82"/>
          </a:solidFill>
          <a:ln/>
        </p:spPr>
      </p:sp>
      <p:sp>
        <p:nvSpPr>
          <p:cNvPr id="3" name="Text 1"/>
          <p:cNvSpPr/>
          <p:nvPr/>
        </p:nvSpPr>
        <p:spPr>
          <a:xfrm>
            <a:off x="365760" y="182880"/>
            <a:ext cx="5486400" cy="5486400"/>
          </a:xfrm>
          <a:prstGeom prst="rect">
            <a:avLst/>
          </a:prstGeom>
          <a:noFill/>
          <a:ln/>
        </p:spPr>
        <p:txBody>
          <a:bodyPr wrap="square" rtlCol="0" anchor="ctr"/>
          <a:lstStyle/>
          <a:p>
            <a:pPr algn="l" indent="0" marL="0">
              <a:buNone/>
            </a:pPr>
            <a:r>
              <a:rPr lang="en-US" sz="30000" b="1" dirty="0">
                <a:solidFill>
                  <a:srgbClr val="1C7293">
                    <a:alpha val="30000"/>
                  </a:srgbClr>
                </a:solidFill>
              </a:rPr>
              <a:t>2</a:t>
            </a:r>
            <a:endParaRPr lang="en-US" sz="30000" dirty="0"/>
          </a:p>
        </p:txBody>
      </p:sp>
      <p:sp>
        <p:nvSpPr>
          <p:cNvPr id="4" name="Text 2"/>
          <p:cNvSpPr/>
          <p:nvPr/>
        </p:nvSpPr>
        <p:spPr>
          <a:xfrm>
            <a:off x="822960" y="2743200"/>
            <a:ext cx="10515600" cy="914400"/>
          </a:xfrm>
          <a:prstGeom prst="rect">
            <a:avLst/>
          </a:prstGeom>
          <a:noFill/>
          <a:ln/>
        </p:spPr>
        <p:txBody>
          <a:bodyPr wrap="square" rtlCol="0" anchor="ctr"/>
          <a:lstStyle/>
          <a:p>
            <a:pPr indent="0" marL="0">
              <a:buNone/>
            </a:pPr>
            <a:r>
              <a:rPr lang="en-US" sz="4000" b="1" dirty="0">
                <a:solidFill>
                  <a:srgbClr val="FFFFFF"/>
                </a:solidFill>
              </a:rPr>
              <a:t>Exploratory Analysis</a:t>
            </a:r>
            <a:endParaRPr lang="en-US" sz="4000" dirty="0"/>
          </a:p>
        </p:txBody>
      </p:sp>
      <p:sp>
        <p:nvSpPr>
          <p:cNvPr id="5" name="Shape 3"/>
          <p:cNvSpPr/>
          <p:nvPr/>
        </p:nvSpPr>
        <p:spPr>
          <a:xfrm>
            <a:off x="914400" y="3703320"/>
            <a:ext cx="2011680" cy="0"/>
          </a:xfrm>
          <a:prstGeom prst="line">
            <a:avLst/>
          </a:prstGeom>
          <a:noFill/>
          <a:ln w="38100">
            <a:solidFill>
              <a:srgbClr val="F39C12"/>
            </a:solidFill>
            <a:prstDash val="solid"/>
          </a:ln>
        </p:spPr>
      </p:sp>
      <p:sp>
        <p:nvSpPr>
          <p:cNvPr id="6" name="Text 4"/>
          <p:cNvSpPr/>
          <p:nvPr/>
        </p:nvSpPr>
        <p:spPr>
          <a:xfrm>
            <a:off x="868680" y="3840480"/>
            <a:ext cx="10515600" cy="548640"/>
          </a:xfrm>
          <a:prstGeom prst="rect">
            <a:avLst/>
          </a:prstGeom>
          <a:noFill/>
          <a:ln/>
        </p:spPr>
        <p:txBody>
          <a:bodyPr wrap="square" rtlCol="0" anchor="ctr"/>
          <a:lstStyle/>
          <a:p>
            <a:pPr indent="0" marL="0">
              <a:buNone/>
            </a:pPr>
            <a:r>
              <a:rPr lang="en-US" sz="1600" dirty="0">
                <a:solidFill>
                  <a:srgbClr val="CADCFC"/>
                </a:solidFill>
              </a:rPr>
              <a:t>Beach · Floating · Micro · Bio · Pressures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2018–2023</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Beach Litter — Trend per Station</a:t>
            </a:r>
            <a:endParaRPr lang="en-US" sz="2800" dirty="0"/>
          </a:p>
        </p:txBody>
      </p:sp>
      <p:pic>
        <p:nvPicPr>
          <p:cNvPr id="5" name="Image 0" descr="/Users/danieleuras/Documents/GitHub/hhe-labsardinia/data/figures/beach_trend_per_station.png">    </p:cNvPr>
          <p:cNvPicPr>
            <a:picLocks noChangeAspect="1"/>
          </p:cNvPicPr>
          <p:nvPr/>
        </p:nvPicPr>
        <p:blipFill>
          <a:blip r:embed="rId1"/>
          <a:stretch>
            <a:fillRect/>
          </a:stretch>
        </p:blipFill>
        <p:spPr>
          <a:xfrm>
            <a:off x="548640" y="1941726"/>
            <a:ext cx="6949440" cy="3797508"/>
          </a:xfrm>
          <a:prstGeom prst="rect">
            <a:avLst/>
          </a:prstGeom>
        </p:spPr>
      </p:pic>
      <p:sp>
        <p:nvSpPr>
          <p:cNvPr id="6" name="Text 3"/>
          <p:cNvSpPr/>
          <p:nvPr/>
        </p:nvSpPr>
        <p:spPr>
          <a:xfrm>
            <a:off x="7772400" y="1463040"/>
            <a:ext cx="3931920" cy="365760"/>
          </a:xfrm>
          <a:prstGeom prst="rect">
            <a:avLst/>
          </a:prstGeom>
          <a:noFill/>
          <a:ln/>
        </p:spPr>
        <p:txBody>
          <a:bodyPr wrap="square" rtlCol="0" anchor="ctr"/>
          <a:lstStyle/>
          <a:p>
            <a:pPr indent="0" marL="0">
              <a:buNone/>
            </a:pPr>
            <a:r>
              <a:rPr lang="en-US" sz="1300" b="1" dirty="0">
                <a:solidFill>
                  <a:srgbClr val="1C7293"/>
                </a:solidFill>
              </a:rPr>
              <a:t>KEY FINDINGS</a:t>
            </a:r>
            <a:endParaRPr lang="en-US" sz="1300" dirty="0"/>
          </a:p>
        </p:txBody>
      </p:sp>
      <p:sp>
        <p:nvSpPr>
          <p:cNvPr id="7" name="Text 4"/>
          <p:cNvSpPr/>
          <p:nvPr/>
        </p:nvSpPr>
        <p:spPr>
          <a:xfrm>
            <a:off x="7772400" y="1920240"/>
            <a:ext cx="4023360" cy="4114800"/>
          </a:xfrm>
          <a:prstGeom prst="rect">
            <a:avLst/>
          </a:prstGeom>
          <a:noFill/>
          <a:ln/>
        </p:spPr>
        <p:txBody>
          <a:bodyPr wrap="square" rtlCol="0" anchor="ctr"/>
          <a:lstStyle/>
          <a:p>
            <a:pPr marL="342900" indent="-342900">
              <a:lnSpc>
                <a:spcPct val="115000"/>
              </a:lnSpc>
              <a:spcAft>
                <a:spcPts val="1000"/>
              </a:spcAft>
              <a:buSzPct val="100000"/>
              <a:buChar char="•"/>
            </a:pPr>
            <a:r>
              <a:rPr lang="en-US" sz="1300" dirty="0">
                <a:solidFill>
                  <a:srgbClr val="1A2A38"/>
                </a:solidFill>
              </a:rPr>
              <a:t>Oristano Is Arenas: highest density (avg 1,255 items/100 m)</a:t>
            </a:r>
            <a:endParaRPr lang="en-US" sz="1300" dirty="0"/>
          </a:p>
          <a:p>
            <a:pPr marL="342900" indent="-342900">
              <a:lnSpc>
                <a:spcPct val="115000"/>
              </a:lnSpc>
              <a:spcAft>
                <a:spcPts val="1000"/>
              </a:spcAft>
              <a:buSzPct val="100000"/>
              <a:buChar char="•"/>
            </a:pPr>
            <a:r>
              <a:rPr lang="en-US" sz="1300" dirty="0">
                <a:solidFill>
                  <a:srgbClr val="1A2A38"/>
                </a:solidFill>
              </a:rPr>
              <a:t>Alghero Lido: second (avg 734)</a:t>
            </a:r>
            <a:endParaRPr lang="en-US" sz="1300" dirty="0"/>
          </a:p>
          <a:p>
            <a:pPr marL="342900" indent="-342900">
              <a:lnSpc>
                <a:spcPct val="115000"/>
              </a:lnSpc>
              <a:spcAft>
                <a:spcPts val="1000"/>
              </a:spcAft>
              <a:buSzPct val="100000"/>
              <a:buChar char="•"/>
            </a:pPr>
            <a:r>
              <a:rPr lang="en-US" sz="1300" dirty="0">
                <a:solidFill>
                  <a:srgbClr val="1A2A38"/>
                </a:solidFill>
              </a:rPr>
              <a:t>San Teodoro La Cinta: lowest (avg 85)</a:t>
            </a:r>
            <a:endParaRPr lang="en-US" sz="1300" dirty="0"/>
          </a:p>
          <a:p>
            <a:pPr marL="342900" indent="-342900">
              <a:lnSpc>
                <a:spcPct val="115000"/>
              </a:lnSpc>
              <a:spcAft>
                <a:spcPts val="1000"/>
              </a:spcAft>
              <a:buSzPct val="100000"/>
              <a:buChar char="•"/>
            </a:pPr>
            <a:r>
              <a:rPr lang="en-US" sz="1300" dirty="0">
                <a:solidFill>
                  <a:srgbClr val="1A2A38"/>
                </a:solidFill>
              </a:rPr>
              <a:t>EU indicative threshold: 150 items/100 m</a:t>
            </a:r>
            <a:endParaRPr lang="en-US" sz="1300" dirty="0"/>
          </a:p>
          <a:p>
            <a:pPr marL="342900" indent="-342900">
              <a:lnSpc>
                <a:spcPct val="115000"/>
              </a:lnSpc>
              <a:spcAft>
                <a:spcPts val="1000"/>
              </a:spcAft>
              <a:buSzPct val="100000"/>
              <a:buChar char="•"/>
            </a:pPr>
            <a:r>
              <a:rPr lang="en-US" sz="1300" dirty="0">
                <a:solidFill>
                  <a:srgbClr val="1A2A38"/>
                </a:solidFill>
              </a:rPr>
              <a:t>West coast consistently &gt; east coast</a:t>
            </a:r>
            <a:endParaRPr lang="en-US" sz="1300" dirty="0"/>
          </a:p>
          <a:p>
            <a:pPr marL="342900" indent="-342900">
              <a:lnSpc>
                <a:spcPct val="115000"/>
              </a:lnSpc>
              <a:spcAft>
                <a:spcPts val="1000"/>
              </a:spcAft>
              <a:buSzPct val="100000"/>
              <a:buChar char="•"/>
            </a:pPr>
            <a:r>
              <a:rPr lang="en-US" sz="1300" dirty="0">
                <a:solidFill>
                  <a:srgbClr val="1A2A38"/>
                </a:solidFill>
              </a:rPr>
              <a:t>Strong inter-annual variability — survey timing &amp; storm events</a:t>
            </a:r>
            <a:endParaRPr lang="en-US" sz="1300" dirty="0"/>
          </a:p>
        </p:txBody>
      </p:sp>
      <p:sp>
        <p:nvSpPr>
          <p:cNvPr id="8" name="Text 5"/>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9" name="Text 6"/>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CATEGORY + SECTOR ATTRIBUTION</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Beach Litter — Composition &amp; Source</a:t>
            </a:r>
            <a:endParaRPr lang="en-US" sz="2800" dirty="0"/>
          </a:p>
        </p:txBody>
      </p:sp>
      <p:pic>
        <p:nvPicPr>
          <p:cNvPr id="5" name="Image 0" descr="/Users/danieleuras/Documents/GitHub/hhe-labsardinia/data/figures/beach_top_categories.png">    </p:cNvPr>
          <p:cNvPicPr>
            <a:picLocks noChangeAspect="1"/>
          </p:cNvPicPr>
          <p:nvPr/>
        </p:nvPicPr>
        <p:blipFill>
          <a:blip r:embed="rId1"/>
          <a:stretch>
            <a:fillRect/>
          </a:stretch>
        </p:blipFill>
        <p:spPr>
          <a:xfrm>
            <a:off x="877824" y="1463040"/>
            <a:ext cx="4828032" cy="2194560"/>
          </a:xfrm>
          <a:prstGeom prst="rect">
            <a:avLst/>
          </a:prstGeom>
        </p:spPr>
      </p:pic>
      <p:pic>
        <p:nvPicPr>
          <p:cNvPr id="6" name="Image 1" descr="/Users/danieleuras/Documents/GitHub/hhe-labsardinia/data/figures/beach_source_attribution.png">    </p:cNvPr>
          <p:cNvPicPr>
            <a:picLocks noChangeAspect="1"/>
          </p:cNvPicPr>
          <p:nvPr/>
        </p:nvPicPr>
        <p:blipFill>
          <a:blip r:embed="rId2"/>
          <a:stretch>
            <a:fillRect/>
          </a:stretch>
        </p:blipFill>
        <p:spPr>
          <a:xfrm>
            <a:off x="1097280" y="3749040"/>
            <a:ext cx="4389120" cy="2194560"/>
          </a:xfrm>
          <a:prstGeom prst="rect">
            <a:avLst/>
          </a:prstGeom>
        </p:spPr>
      </p:pic>
      <p:pic>
        <p:nvPicPr>
          <p:cNvPr id="7" name="Image 2" descr="/Users/danieleuras/Documents/GitHub/hhe-labsardinia/data/figures/beach_category_by_year.png">    </p:cNvPr>
          <p:cNvPicPr>
            <a:picLocks noChangeAspect="1"/>
          </p:cNvPicPr>
          <p:nvPr/>
        </p:nvPicPr>
        <p:blipFill>
          <a:blip r:embed="rId3"/>
          <a:stretch>
            <a:fillRect/>
          </a:stretch>
        </p:blipFill>
        <p:spPr>
          <a:xfrm>
            <a:off x="6309360" y="2133600"/>
            <a:ext cx="5486400" cy="3048000"/>
          </a:xfrm>
          <a:prstGeom prst="rect">
            <a:avLst/>
          </a:prstGeom>
        </p:spPr>
      </p:pic>
      <p:sp>
        <p:nvSpPr>
          <p:cNvPr id="8" name="Text 3"/>
          <p:cNvSpPr/>
          <p:nvPr/>
        </p:nvSpPr>
        <p:spPr>
          <a:xfrm>
            <a:off x="548640" y="5989320"/>
            <a:ext cx="5486400" cy="411480"/>
          </a:xfrm>
          <a:prstGeom prst="rect">
            <a:avLst/>
          </a:prstGeom>
          <a:noFill/>
          <a:ln/>
        </p:spPr>
        <p:txBody>
          <a:bodyPr wrap="square" rtlCol="0" anchor="ctr"/>
          <a:lstStyle/>
          <a:p>
            <a:pPr indent="0" marL="0">
              <a:buNone/>
            </a:pPr>
            <a:r>
              <a:rPr lang="en-US" sz="1000" i="1" dirty="0">
                <a:solidFill>
                  <a:srgbClr val="6B7B8C"/>
                </a:solidFill>
              </a:rPr>
              <a:t>Single-use plastics &amp; fishing-related items dominate; shoreline/recreational sources lead the attribution split.</a:t>
            </a:r>
            <a:endParaRPr lang="en-US" sz="1000" dirty="0"/>
          </a:p>
        </p:txBody>
      </p:sp>
      <p:sp>
        <p:nvSpPr>
          <p:cNvPr id="9" name="Text 4"/>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0" name="Text 5"/>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7</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Floating Litter — Material &amp; Seasonality</a:t>
            </a:r>
            <a:endParaRPr lang="en-US" sz="2800" dirty="0"/>
          </a:p>
        </p:txBody>
      </p:sp>
      <p:pic>
        <p:nvPicPr>
          <p:cNvPr id="4" name="Image 0" descr="/Users/danieleuras/Documents/GitHub/hhe-labsardinia/data/figures/floating_material_pie.png">    </p:cNvPr>
          <p:cNvPicPr>
            <a:picLocks noChangeAspect="1"/>
          </p:cNvPicPr>
          <p:nvPr/>
        </p:nvPicPr>
        <p:blipFill>
          <a:blip r:embed="rId1"/>
          <a:stretch>
            <a:fillRect/>
          </a:stretch>
        </p:blipFill>
        <p:spPr>
          <a:xfrm>
            <a:off x="645566" y="1371600"/>
            <a:ext cx="4378147" cy="3840480"/>
          </a:xfrm>
          <a:prstGeom prst="rect">
            <a:avLst/>
          </a:prstGeom>
        </p:spPr>
      </p:pic>
      <p:pic>
        <p:nvPicPr>
          <p:cNvPr id="5" name="Image 1" descr="/Users/danieleuras/Documents/GitHub/hhe-labsardinia/data/figures/floating_seasonality.png">    </p:cNvPr>
          <p:cNvPicPr>
            <a:picLocks noChangeAspect="1"/>
          </p:cNvPicPr>
          <p:nvPr/>
        </p:nvPicPr>
        <p:blipFill>
          <a:blip r:embed="rId2"/>
          <a:stretch>
            <a:fillRect/>
          </a:stretch>
        </p:blipFill>
        <p:spPr>
          <a:xfrm>
            <a:off x="5966460" y="1554480"/>
            <a:ext cx="5257800" cy="2103120"/>
          </a:xfrm>
          <a:prstGeom prst="rect">
            <a:avLst/>
          </a:prstGeom>
        </p:spPr>
      </p:pic>
      <p:sp>
        <p:nvSpPr>
          <p:cNvPr id="6" name="Shape 2"/>
          <p:cNvSpPr/>
          <p:nvPr/>
        </p:nvSpPr>
        <p:spPr>
          <a:xfrm>
            <a:off x="5394960" y="3931920"/>
            <a:ext cx="6400800" cy="1737360"/>
          </a:xfrm>
          <a:prstGeom prst="roundRect">
            <a:avLst>
              <a:gd name="adj" fmla="val 4211"/>
            </a:avLst>
          </a:prstGeom>
          <a:solidFill>
            <a:srgbClr val="F4F7F9"/>
          </a:solidFill>
          <a:ln/>
        </p:spPr>
      </p:sp>
      <p:sp>
        <p:nvSpPr>
          <p:cNvPr id="7" name="Text 3"/>
          <p:cNvSpPr/>
          <p:nvPr/>
        </p:nvSpPr>
        <p:spPr>
          <a:xfrm>
            <a:off x="5669280" y="4114800"/>
            <a:ext cx="5943600" cy="457200"/>
          </a:xfrm>
          <a:prstGeom prst="rect">
            <a:avLst/>
          </a:prstGeom>
          <a:noFill/>
          <a:ln/>
        </p:spPr>
        <p:txBody>
          <a:bodyPr wrap="square" rtlCol="0" anchor="ctr"/>
          <a:lstStyle/>
          <a:p>
            <a:pPr indent="0" marL="0">
              <a:buNone/>
            </a:pPr>
            <a:r>
              <a:rPr lang="en-US" sz="2200" b="1" dirty="0">
                <a:solidFill>
                  <a:srgbClr val="065A82"/>
                </a:solidFill>
              </a:rPr>
              <a:t>70% </a:t>
            </a:r>
            <a:pPr indent="0" marL="0">
              <a:buNone/>
            </a:pPr>
            <a:r>
              <a:rPr lang="en-US" sz="1400" dirty="0">
                <a:solidFill>
                  <a:srgbClr val="1A2A38"/>
                </a:solidFill>
              </a:rPr>
              <a:t>of floating litter is artificial polymer (2021–2023)</a:t>
            </a:r>
            <a:endParaRPr lang="en-US" sz="2200" dirty="0"/>
          </a:p>
        </p:txBody>
      </p:sp>
      <p:sp>
        <p:nvSpPr>
          <p:cNvPr id="8" name="Text 4"/>
          <p:cNvSpPr/>
          <p:nvPr/>
        </p:nvSpPr>
        <p:spPr>
          <a:xfrm>
            <a:off x="5669280" y="4617720"/>
            <a:ext cx="5943600" cy="1005840"/>
          </a:xfrm>
          <a:prstGeom prst="rect">
            <a:avLst/>
          </a:prstGeom>
          <a:noFill/>
          <a:ln/>
        </p:spPr>
        <p:txBody>
          <a:bodyPr wrap="square" rtlCol="0" anchor="t"/>
          <a:lstStyle/>
          <a:p>
            <a:pPr indent="0" marL="0">
              <a:buNone/>
            </a:pPr>
            <a:r>
              <a:rPr lang="en-US" sz="1300" dirty="0">
                <a:solidFill>
                  <a:srgbClr val="1A2A38"/>
                </a:solidFill>
              </a:rPr>
              <a:t>Observations stay elevated from late spring through autumn, with secondary peaks driven by seasonal wind &amp; current transport. Beach litter is even more plastic-dominated (84% artificial polymer in 2023).</a:t>
            </a:r>
            <a:endParaRPr lang="en-US" sz="1300" dirty="0"/>
          </a:p>
        </p:txBody>
      </p:sp>
      <p:sp>
        <p:nvSpPr>
          <p:cNvPr id="9" name="Text 5"/>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0" name="Text 6"/>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8</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MODULO 2 · 2018–2022</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Microplastics — IDW Concentration Grid</a:t>
            </a:r>
            <a:endParaRPr lang="en-US" sz="2800" dirty="0"/>
          </a:p>
        </p:txBody>
      </p:sp>
      <p:pic>
        <p:nvPicPr>
          <p:cNvPr id="5" name="Image 0" descr="/Users/danieleuras/Documents/GitHub/hhe-labsardinia/data/figures/microplastics_map.png">    </p:cNvPr>
          <p:cNvPicPr>
            <a:picLocks noChangeAspect="1"/>
          </p:cNvPicPr>
          <p:nvPr/>
        </p:nvPicPr>
        <p:blipFill>
          <a:blip r:embed="rId1"/>
          <a:stretch>
            <a:fillRect/>
          </a:stretch>
        </p:blipFill>
        <p:spPr>
          <a:xfrm>
            <a:off x="548640" y="1775806"/>
            <a:ext cx="7589520" cy="4312227"/>
          </a:xfrm>
          <a:prstGeom prst="rect">
            <a:avLst/>
          </a:prstGeom>
        </p:spPr>
      </p:pic>
      <p:sp>
        <p:nvSpPr>
          <p:cNvPr id="6" name="Text 3"/>
          <p:cNvSpPr/>
          <p:nvPr/>
        </p:nvSpPr>
        <p:spPr>
          <a:xfrm>
            <a:off x="8412480" y="1645920"/>
            <a:ext cx="3383280" cy="411480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1A2A38"/>
                </a:solidFill>
              </a:rPr>
              <a:t>Modulo 2 trawl samples interpolated to 336 cells/year</a:t>
            </a:r>
            <a:endParaRPr lang="en-US" sz="1300" dirty="0"/>
          </a:p>
          <a:p>
            <a:pPr marL="342900" indent="-342900">
              <a:lnSpc>
                <a:spcPct val="120000"/>
              </a:lnSpc>
              <a:spcAft>
                <a:spcPts val="1200"/>
              </a:spcAft>
              <a:buSzPct val="100000"/>
              <a:buChar char="•"/>
            </a:pPr>
            <a:r>
              <a:rPr lang="en-US" sz="1300" dirty="0">
                <a:solidFill>
                  <a:srgbClr val="1A2A38"/>
                </a:solidFill>
              </a:rPr>
              <a:t>IDW on regular 0.12° grid, coastal-masked</a:t>
            </a:r>
            <a:endParaRPr lang="en-US" sz="1300" dirty="0"/>
          </a:p>
          <a:p>
            <a:pPr marL="342900" indent="-342900">
              <a:lnSpc>
                <a:spcPct val="120000"/>
              </a:lnSpc>
              <a:spcAft>
                <a:spcPts val="1200"/>
              </a:spcAft>
              <a:buSzPct val="100000"/>
              <a:buChar char="•"/>
            </a:pPr>
            <a:r>
              <a:rPr lang="en-US" sz="1300" dirty="0">
                <a:solidFill>
                  <a:srgbClr val="1A2A38"/>
                </a:solidFill>
              </a:rPr>
              <a:t>Higher concentrations off west &amp; south coasts</a:t>
            </a:r>
            <a:endParaRPr lang="en-US" sz="1300" dirty="0"/>
          </a:p>
          <a:p>
            <a:pPr marL="342900" indent="-342900">
              <a:lnSpc>
                <a:spcPct val="120000"/>
              </a:lnSpc>
              <a:spcAft>
                <a:spcPts val="1200"/>
              </a:spcAft>
              <a:buSzPct val="100000"/>
              <a:buChar char="•"/>
            </a:pPr>
            <a:r>
              <a:rPr lang="en-US" sz="1300" dirty="0">
                <a:solidFill>
                  <a:srgbClr val="1A2A38"/>
                </a:solidFill>
              </a:rPr>
              <a:t>Coverage 2018–2022 (2023 not yet released)</a:t>
            </a:r>
            <a:endParaRPr lang="en-US" sz="1300" dirty="0"/>
          </a:p>
        </p:txBody>
      </p:sp>
      <p:sp>
        <p:nvSpPr>
          <p:cNvPr id="7" name="Text 4"/>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8" name="Text 5"/>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9</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ENTANGLEMENT + INGESTION · CARETTA CARETTA</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Biological Impact — Sea Turtles</a:t>
            </a:r>
            <a:endParaRPr lang="en-US" sz="2800" dirty="0"/>
          </a:p>
        </p:txBody>
      </p:sp>
      <p:pic>
        <p:nvPicPr>
          <p:cNvPr id="5" name="Image 0" descr="/Users/danieleuras/Documents/GitHub/hhe-labsardinia/data/figures/entanglement_map.png">    </p:cNvPr>
          <p:cNvPicPr>
            <a:picLocks noChangeAspect="1"/>
          </p:cNvPicPr>
          <p:nvPr/>
        </p:nvPicPr>
        <p:blipFill>
          <a:blip r:embed="rId1"/>
          <a:stretch>
            <a:fillRect/>
          </a:stretch>
        </p:blipFill>
        <p:spPr>
          <a:xfrm>
            <a:off x="548640" y="1897380"/>
            <a:ext cx="3108960" cy="3886200"/>
          </a:xfrm>
          <a:prstGeom prst="rect">
            <a:avLst/>
          </a:prstGeom>
        </p:spPr>
      </p:pic>
      <p:pic>
        <p:nvPicPr>
          <p:cNvPr id="6" name="Image 1" descr="/Users/danieleuras/Documents/GitHub/hhe-labsardinia/data/figures/ingestion_map.png">    </p:cNvPr>
          <p:cNvPicPr>
            <a:picLocks noChangeAspect="1"/>
          </p:cNvPicPr>
          <p:nvPr/>
        </p:nvPicPr>
        <p:blipFill>
          <a:blip r:embed="rId2"/>
          <a:stretch>
            <a:fillRect/>
          </a:stretch>
        </p:blipFill>
        <p:spPr>
          <a:xfrm>
            <a:off x="3657600" y="1897380"/>
            <a:ext cx="3108960" cy="3886200"/>
          </a:xfrm>
          <a:prstGeom prst="rect">
            <a:avLst/>
          </a:prstGeom>
        </p:spPr>
      </p:pic>
      <p:sp>
        <p:nvSpPr>
          <p:cNvPr id="7" name="Shape 3"/>
          <p:cNvSpPr/>
          <p:nvPr/>
        </p:nvSpPr>
        <p:spPr>
          <a:xfrm>
            <a:off x="7040880" y="1554480"/>
            <a:ext cx="4663440" cy="1828800"/>
          </a:xfrm>
          <a:prstGeom prst="roundRect">
            <a:avLst>
              <a:gd name="adj" fmla="val 4000"/>
            </a:avLst>
          </a:prstGeom>
          <a:solidFill>
            <a:srgbClr val="065A82"/>
          </a:solidFill>
          <a:ln/>
        </p:spPr>
      </p:sp>
      <p:sp>
        <p:nvSpPr>
          <p:cNvPr id="8" name="Text 4"/>
          <p:cNvSpPr/>
          <p:nvPr/>
        </p:nvSpPr>
        <p:spPr>
          <a:xfrm>
            <a:off x="7315200" y="1691640"/>
            <a:ext cx="4206240" cy="365760"/>
          </a:xfrm>
          <a:prstGeom prst="rect">
            <a:avLst/>
          </a:prstGeom>
          <a:noFill/>
          <a:ln/>
        </p:spPr>
        <p:txBody>
          <a:bodyPr wrap="square" rtlCol="0" anchor="ctr"/>
          <a:lstStyle/>
          <a:p>
            <a:pPr indent="0" marL="0">
              <a:buNone/>
            </a:pPr>
            <a:r>
              <a:rPr lang="en-US" sz="1600" b="1" dirty="0">
                <a:solidFill>
                  <a:srgbClr val="F39C12"/>
                </a:solidFill>
              </a:rPr>
              <a:t>Bio Score = (ENT + ING) / N_max</a:t>
            </a:r>
            <a:endParaRPr lang="en-US" sz="1600" dirty="0"/>
          </a:p>
        </p:txBody>
      </p:sp>
      <p:sp>
        <p:nvSpPr>
          <p:cNvPr id="9" name="Text 5"/>
          <p:cNvSpPr/>
          <p:nvPr/>
        </p:nvSpPr>
        <p:spPr>
          <a:xfrm>
            <a:off x="7315200" y="2103120"/>
            <a:ext cx="4206240" cy="1188720"/>
          </a:xfrm>
          <a:prstGeom prst="rect">
            <a:avLst/>
          </a:prstGeom>
          <a:noFill/>
          <a:ln/>
        </p:spPr>
        <p:txBody>
          <a:bodyPr wrap="square" rtlCol="0" anchor="t"/>
          <a:lstStyle/>
          <a:p>
            <a:pPr indent="0" marL="0">
              <a:buNone/>
            </a:pPr>
            <a:r>
              <a:rPr lang="en-US" sz="1250" dirty="0">
                <a:solidFill>
                  <a:srgbClr val="FFFFFF"/>
                </a:solidFill>
              </a:rPr>
              <a:t>Combines entanglement and plastic-ingestion events recorded on stranded loggerhead turtles (~99% Caretta caretta), normalised across years.</a:t>
            </a:r>
            <a:endParaRPr lang="en-US" sz="1250" dirty="0"/>
          </a:p>
        </p:txBody>
      </p:sp>
      <p:sp>
        <p:nvSpPr>
          <p:cNvPr id="10" name="Text 6"/>
          <p:cNvSpPr/>
          <p:nvPr/>
        </p:nvSpPr>
        <p:spPr>
          <a:xfrm>
            <a:off x="7040880" y="3611880"/>
            <a:ext cx="4663440" cy="365760"/>
          </a:xfrm>
          <a:prstGeom prst="rect">
            <a:avLst/>
          </a:prstGeom>
          <a:noFill/>
          <a:ln/>
        </p:spPr>
        <p:txBody>
          <a:bodyPr wrap="square" rtlCol="0" anchor="ctr"/>
          <a:lstStyle/>
          <a:p>
            <a:pPr indent="0" marL="0">
              <a:buNone/>
            </a:pPr>
            <a:r>
              <a:rPr lang="en-US" sz="1300" b="1" dirty="0">
                <a:solidFill>
                  <a:srgbClr val="1C7293"/>
                </a:solidFill>
              </a:rPr>
              <a:t>PEAK 2021</a:t>
            </a:r>
            <a:endParaRPr lang="en-US" sz="1300" dirty="0"/>
          </a:p>
        </p:txBody>
      </p:sp>
      <p:sp>
        <p:nvSpPr>
          <p:cNvPr id="11" name="Text 7"/>
          <p:cNvSpPr/>
          <p:nvPr/>
        </p:nvSpPr>
        <p:spPr>
          <a:xfrm>
            <a:off x="7040880" y="4023360"/>
            <a:ext cx="4572000" cy="2011680"/>
          </a:xfrm>
          <a:prstGeom prst="rect">
            <a:avLst/>
          </a:prstGeom>
          <a:noFill/>
          <a:ln/>
        </p:spPr>
        <p:txBody>
          <a:bodyPr wrap="square" rtlCol="0" anchor="ctr"/>
          <a:lstStyle/>
          <a:p>
            <a:pPr marL="342900" indent="-342900">
              <a:lnSpc>
                <a:spcPct val="115000"/>
              </a:lnSpc>
              <a:spcAft>
                <a:spcPts val="800"/>
              </a:spcAft>
              <a:buSzPct val="100000"/>
              <a:buChar char="•"/>
            </a:pPr>
            <a:r>
              <a:rPr lang="en-US" sz="1250" dirty="0">
                <a:solidFill>
                  <a:srgbClr val="1A2A38"/>
                </a:solidFill>
              </a:rPr>
              <a:t>2021: 46 combined events → score 1.00 (peak)</a:t>
            </a:r>
            <a:endParaRPr lang="en-US" sz="1250" dirty="0"/>
          </a:p>
          <a:p>
            <a:pPr marL="342900" indent="-342900">
              <a:lnSpc>
                <a:spcPct val="115000"/>
              </a:lnSpc>
              <a:spcAft>
                <a:spcPts val="800"/>
              </a:spcAft>
              <a:buSzPct val="100000"/>
              <a:buChar char="•"/>
            </a:pPr>
            <a:r>
              <a:rPr lang="en-US" sz="1250" dirty="0">
                <a:solidFill>
                  <a:srgbClr val="1A2A38"/>
                </a:solidFill>
              </a:rPr>
              <a:t>2022: 38 events → 0.72</a:t>
            </a:r>
            <a:endParaRPr lang="en-US" sz="1250" dirty="0"/>
          </a:p>
          <a:p>
            <a:pPr marL="342900" indent="-342900">
              <a:lnSpc>
                <a:spcPct val="115000"/>
              </a:lnSpc>
              <a:spcAft>
                <a:spcPts val="800"/>
              </a:spcAft>
              <a:buSzPct val="100000"/>
              <a:buChar char="•"/>
            </a:pPr>
            <a:r>
              <a:rPr lang="en-US" sz="1250" dirty="0">
                <a:solidFill>
                  <a:srgbClr val="1A2A38"/>
                </a:solidFill>
              </a:rPr>
              <a:t>2018 &amp; 2023: lowest impact (≤18 events)</a:t>
            </a:r>
            <a:endParaRPr lang="en-US" sz="1250" dirty="0"/>
          </a:p>
          <a:p>
            <a:pPr marL="342900" indent="-342900">
              <a:lnSpc>
                <a:spcPct val="115000"/>
              </a:lnSpc>
              <a:spcAft>
                <a:spcPts val="800"/>
              </a:spcAft>
              <a:buSzPct val="100000"/>
              <a:buChar char="•"/>
            </a:pPr>
            <a:r>
              <a:rPr lang="en-US" sz="1250" dirty="0">
                <a:solidFill>
                  <a:srgbClr val="1A2A38"/>
                </a:solidFill>
              </a:rPr>
              <a:t>Ingestion dominated by sheet plastic (SHE) &amp; fragments (FRA)</a:t>
            </a:r>
            <a:endParaRPr lang="en-US" sz="1250" dirty="0"/>
          </a:p>
        </p:txBody>
      </p:sp>
      <p:sp>
        <p:nvSpPr>
          <p:cNvPr id="12" name="Text 8"/>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3" name="Text 9"/>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10</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PRESSURE VS. LITTER SIGNAL</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Anthropogenic Pressure — Tourism</a:t>
            </a:r>
            <a:endParaRPr lang="en-US" sz="2800" dirty="0"/>
          </a:p>
        </p:txBody>
      </p:sp>
      <p:pic>
        <p:nvPicPr>
          <p:cNvPr id="5" name="Image 0" descr="/Users/danieleuras/Documents/GitHub/hhe-labsardinia/data/figures/tourism_correlation.png">    </p:cNvPr>
          <p:cNvPicPr>
            <a:picLocks noChangeAspect="1"/>
          </p:cNvPicPr>
          <p:nvPr/>
        </p:nvPicPr>
        <p:blipFill>
          <a:blip r:embed="rId1"/>
          <a:stretch>
            <a:fillRect/>
          </a:stretch>
        </p:blipFill>
        <p:spPr>
          <a:xfrm>
            <a:off x="1129284" y="1554480"/>
            <a:ext cx="9902952" cy="3474720"/>
          </a:xfrm>
          <a:prstGeom prst="rect">
            <a:avLst/>
          </a:prstGeom>
        </p:spPr>
      </p:pic>
      <p:sp>
        <p:nvSpPr>
          <p:cNvPr id="6" name="Shape 3"/>
          <p:cNvSpPr/>
          <p:nvPr/>
        </p:nvSpPr>
        <p:spPr>
          <a:xfrm>
            <a:off x="822960" y="4937760"/>
            <a:ext cx="10515600" cy="1188720"/>
          </a:xfrm>
          <a:prstGeom prst="roundRect">
            <a:avLst>
              <a:gd name="adj" fmla="val 6154"/>
            </a:avLst>
          </a:prstGeom>
          <a:solidFill>
            <a:srgbClr val="F4F7F9"/>
          </a:solidFill>
          <a:ln/>
        </p:spPr>
      </p:sp>
      <p:sp>
        <p:nvSpPr>
          <p:cNvPr id="7" name="Text 4"/>
          <p:cNvSpPr/>
          <p:nvPr/>
        </p:nvSpPr>
        <p:spPr>
          <a:xfrm>
            <a:off x="1097280" y="5074920"/>
            <a:ext cx="9966960" cy="914400"/>
          </a:xfrm>
          <a:prstGeom prst="rect">
            <a:avLst/>
          </a:prstGeom>
          <a:noFill/>
          <a:ln/>
        </p:spPr>
        <p:txBody>
          <a:bodyPr wrap="square" rtlCol="0" anchor="ctr"/>
          <a:lstStyle/>
          <a:p>
            <a:pPr indent="0" marL="0">
              <a:lnSpc>
                <a:spcPct val="110000"/>
              </a:lnSpc>
              <a:buNone/>
            </a:pPr>
            <a:r>
              <a:rPr lang="en-US" sz="1300" b="1" dirty="0">
                <a:solidFill>
                  <a:srgbClr val="065A82"/>
                </a:solidFill>
              </a:rPr>
              <a:t>Tourism is a pressure proxy, not a clean predictor.  </a:t>
            </a:r>
            <a:pPr indent="0" marL="0">
              <a:lnSpc>
                <a:spcPct val="110000"/>
              </a:lnSpc>
              <a:buNone/>
            </a:pPr>
            <a:r>
              <a:rPr lang="en-US" sz="1300" dirty="0">
                <a:solidFill>
                  <a:srgbClr val="1A2A38"/>
                </a:solidFill>
              </a:rPr>
              <a:t>Annual tourist-nights and beach litter are weakly / negatively correlated (Spearman r ≈ −0.44) — high-litter west-coast sites are not the busiest tourist beaches. This points to transport and legacy litter, not just local input.</a:t>
            </a:r>
            <a:endParaRPr lang="en-US" sz="1300" dirty="0"/>
          </a:p>
        </p:txBody>
      </p:sp>
      <p:sp>
        <p:nvSpPr>
          <p:cNvPr id="8" name="Text 5"/>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9" name="Text 6"/>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11</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Cross-Compartment Correlations</a:t>
            </a:r>
            <a:endParaRPr lang="en-US" sz="2800" dirty="0"/>
          </a:p>
        </p:txBody>
      </p:sp>
      <p:pic>
        <p:nvPicPr>
          <p:cNvPr id="4" name="Image 0" descr="/Users/danieleuras/Documents/GitHub/hhe-labsardinia/data/figures/correlation_matrix.png">    </p:cNvPr>
          <p:cNvPicPr>
            <a:picLocks noChangeAspect="1"/>
          </p:cNvPicPr>
          <p:nvPr/>
        </p:nvPicPr>
        <p:blipFill>
          <a:blip r:embed="rId1"/>
          <a:stretch>
            <a:fillRect/>
          </a:stretch>
        </p:blipFill>
        <p:spPr>
          <a:xfrm>
            <a:off x="731520" y="1575075"/>
            <a:ext cx="5029200" cy="4530811"/>
          </a:xfrm>
          <a:prstGeom prst="rect">
            <a:avLst/>
          </a:prstGeom>
        </p:spPr>
      </p:pic>
      <p:sp>
        <p:nvSpPr>
          <p:cNvPr id="5" name="Text 2"/>
          <p:cNvSpPr/>
          <p:nvPr/>
        </p:nvSpPr>
        <p:spPr>
          <a:xfrm>
            <a:off x="6400800" y="1737360"/>
            <a:ext cx="5029200" cy="365760"/>
          </a:xfrm>
          <a:prstGeom prst="rect">
            <a:avLst/>
          </a:prstGeom>
          <a:noFill/>
          <a:ln/>
        </p:spPr>
        <p:txBody>
          <a:bodyPr wrap="square" rtlCol="0" anchor="ctr"/>
          <a:lstStyle/>
          <a:p>
            <a:pPr indent="0" marL="0">
              <a:buNone/>
            </a:pPr>
            <a:r>
              <a:rPr lang="en-US" sz="1300" b="1" dirty="0">
                <a:solidFill>
                  <a:srgbClr val="1C7293"/>
                </a:solidFill>
              </a:rPr>
              <a:t>READING THE MATRIX</a:t>
            </a:r>
            <a:endParaRPr lang="en-US" sz="1300" dirty="0"/>
          </a:p>
        </p:txBody>
      </p:sp>
      <p:sp>
        <p:nvSpPr>
          <p:cNvPr id="6" name="Text 3"/>
          <p:cNvSpPr/>
          <p:nvPr/>
        </p:nvSpPr>
        <p:spPr>
          <a:xfrm>
            <a:off x="6400800" y="2194560"/>
            <a:ext cx="512064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350" dirty="0">
                <a:solidFill>
                  <a:srgbClr val="1A2A38"/>
                </a:solidFill>
              </a:rPr>
              <a:t>Spearman rank correlation across hazard components (annual, all beaches pooled)</a:t>
            </a:r>
            <a:endParaRPr lang="en-US" sz="1350" dirty="0"/>
          </a:p>
          <a:p>
            <a:pPr marL="342900" indent="-342900">
              <a:lnSpc>
                <a:spcPct val="120000"/>
              </a:lnSpc>
              <a:spcAft>
                <a:spcPts val="1200"/>
              </a:spcAft>
              <a:buSzPct val="100000"/>
              <a:buChar char="•"/>
            </a:pPr>
            <a:r>
              <a:rPr lang="en-US" sz="1350" dirty="0">
                <a:solidFill>
                  <a:srgbClr val="1A2A38"/>
                </a:solidFill>
              </a:rPr>
              <a:t>Beach litter ↔ tourists: moderate negative (−0.44)</a:t>
            </a:r>
            <a:endParaRPr lang="en-US" sz="1350" dirty="0"/>
          </a:p>
          <a:p>
            <a:pPr marL="342900" indent="-342900">
              <a:lnSpc>
                <a:spcPct val="120000"/>
              </a:lnSpc>
              <a:spcAft>
                <a:spcPts val="1200"/>
              </a:spcAft>
              <a:buSzPct val="100000"/>
              <a:buChar char="•"/>
            </a:pPr>
            <a:r>
              <a:rPr lang="en-US" sz="1350" dirty="0">
                <a:solidFill>
                  <a:srgbClr val="1A2A38"/>
                </a:solidFill>
              </a:rPr>
              <a:t>Current speed ↔ floating litter: strong negative (−0.66)</a:t>
            </a:r>
            <a:endParaRPr lang="en-US" sz="1350" dirty="0"/>
          </a:p>
          <a:p>
            <a:pPr marL="342900" indent="-342900">
              <a:lnSpc>
                <a:spcPct val="120000"/>
              </a:lnSpc>
              <a:spcAft>
                <a:spcPts val="1200"/>
              </a:spcAft>
              <a:buSzPct val="100000"/>
              <a:buChar char="•"/>
            </a:pPr>
            <a:r>
              <a:rPr lang="en-US" sz="1350" dirty="0">
                <a:solidFill>
                  <a:srgbClr val="1A2A38"/>
                </a:solidFill>
              </a:rPr>
              <a:t>Tourism not a dominant positive driver — supports transport hypothesis</a:t>
            </a:r>
            <a:endParaRPr lang="en-US" sz="1350" dirty="0"/>
          </a:p>
          <a:p>
            <a:pPr marL="342900" indent="-342900">
              <a:lnSpc>
                <a:spcPct val="120000"/>
              </a:lnSpc>
              <a:spcAft>
                <a:spcPts val="1200"/>
              </a:spcAft>
              <a:buSzPct val="100000"/>
              <a:buChar char="•"/>
            </a:pPr>
            <a:r>
              <a:rPr lang="en-US" sz="1350" dirty="0">
                <a:solidFill>
                  <a:srgbClr val="1A2A38"/>
                </a:solidFill>
              </a:rPr>
              <a:t>Justifies a weighted composite rather than a single proxy</a:t>
            </a:r>
            <a:endParaRPr lang="en-US" sz="1350" dirty="0"/>
          </a:p>
        </p:txBody>
      </p:sp>
      <p:sp>
        <p:nvSpPr>
          <p:cNvPr id="7" name="Text 4"/>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8" name="Text 5"/>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12</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65A82"/>
        </a:solidFill>
      </p:bgPr>
    </p:bg>
    <p:spTree>
      <p:nvGrpSpPr>
        <p:cNvPr id="1" name=""/>
        <p:cNvGrpSpPr/>
        <p:nvPr/>
      </p:nvGrpSpPr>
      <p:grpSpPr>
        <a:xfrm>
          <a:off x="0" y="0"/>
          <a:ext cx="0" cy="0"/>
          <a:chOff x="0" y="0"/>
          <a:chExt cx="0" cy="0"/>
        </a:xfrm>
      </p:grpSpPr>
      <p:sp>
        <p:nvSpPr>
          <p:cNvPr id="2" name="Text 0"/>
          <p:cNvSpPr/>
          <p:nvPr/>
        </p:nvSpPr>
        <p:spPr>
          <a:xfrm>
            <a:off x="365760" y="548640"/>
            <a:ext cx="5029200" cy="5029200"/>
          </a:xfrm>
          <a:prstGeom prst="rect">
            <a:avLst/>
          </a:prstGeom>
          <a:noFill/>
          <a:ln/>
        </p:spPr>
        <p:txBody>
          <a:bodyPr wrap="square" rtlCol="0" anchor="ctr"/>
          <a:lstStyle/>
          <a:p>
            <a:pPr algn="l" indent="0" marL="0">
              <a:buNone/>
            </a:pPr>
            <a:r>
              <a:rPr lang="en-US" sz="23000" dirty="0">
                <a:solidFill>
                  <a:srgbClr val="000000">
                    <a:alpha val="22000"/>
                  </a:srgbClr>
                </a:solidFill>
              </a:rPr>
              <a:t>🦠</a:t>
            </a:r>
            <a:endParaRPr lang="en-US" sz="23000" dirty="0"/>
          </a:p>
        </p:txBody>
      </p:sp>
      <p:sp>
        <p:nvSpPr>
          <p:cNvPr id="3" name="Text 1"/>
          <p:cNvSpPr/>
          <p:nvPr/>
        </p:nvSpPr>
        <p:spPr>
          <a:xfrm>
            <a:off x="822960" y="2743200"/>
            <a:ext cx="10789920" cy="914400"/>
          </a:xfrm>
          <a:prstGeom prst="rect">
            <a:avLst/>
          </a:prstGeom>
          <a:noFill/>
          <a:ln/>
        </p:spPr>
        <p:txBody>
          <a:bodyPr wrap="square" rtlCol="0" anchor="ctr"/>
          <a:lstStyle/>
          <a:p>
            <a:pPr indent="0" marL="0">
              <a:buNone/>
            </a:pPr>
            <a:r>
              <a:rPr lang="en-US" sz="3800" b="1" dirty="0">
                <a:solidFill>
                  <a:srgbClr val="FFFFFF"/>
                </a:solidFill>
              </a:rPr>
              <a:t>COVID-19 — A Natural Experiment</a:t>
            </a:r>
            <a:endParaRPr lang="en-US" sz="3800" dirty="0"/>
          </a:p>
        </p:txBody>
      </p:sp>
      <p:sp>
        <p:nvSpPr>
          <p:cNvPr id="4" name="Shape 2"/>
          <p:cNvSpPr/>
          <p:nvPr/>
        </p:nvSpPr>
        <p:spPr>
          <a:xfrm>
            <a:off x="914400" y="3703320"/>
            <a:ext cx="2011680" cy="0"/>
          </a:xfrm>
          <a:prstGeom prst="line">
            <a:avLst/>
          </a:prstGeom>
          <a:noFill/>
          <a:ln w="38100">
            <a:solidFill>
              <a:srgbClr val="F39C12"/>
            </a:solidFill>
            <a:prstDash val="solid"/>
          </a:ln>
        </p:spPr>
      </p:sp>
      <p:sp>
        <p:nvSpPr>
          <p:cNvPr id="5" name="Text 3"/>
          <p:cNvSpPr/>
          <p:nvPr/>
        </p:nvSpPr>
        <p:spPr>
          <a:xfrm>
            <a:off x="868680" y="3840480"/>
            <a:ext cx="10515600" cy="548640"/>
          </a:xfrm>
          <a:prstGeom prst="rect">
            <a:avLst/>
          </a:prstGeom>
          <a:noFill/>
          <a:ln/>
        </p:spPr>
        <p:txBody>
          <a:bodyPr wrap="square" rtlCol="0" anchor="ctr"/>
          <a:lstStyle/>
          <a:p>
            <a:pPr indent="0" marL="0">
              <a:buNone/>
            </a:pPr>
            <a:r>
              <a:rPr lang="en-US" sz="1600" dirty="0">
                <a:solidFill>
                  <a:srgbClr val="CADCFC"/>
                </a:solidFill>
              </a:rPr>
              <a:t>Pre · During · Post — isolating human vs. natural drivers (2018–2023)</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DEFINITION &amp; EXPOSURE</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Three Periods — The Tourism Shock</a:t>
            </a:r>
            <a:endParaRPr lang="en-US" sz="2800" dirty="0"/>
          </a:p>
        </p:txBody>
      </p:sp>
      <p:sp>
        <p:nvSpPr>
          <p:cNvPr id="5" name="Shape 3"/>
          <p:cNvSpPr/>
          <p:nvPr/>
        </p:nvSpPr>
        <p:spPr>
          <a:xfrm>
            <a:off x="822960" y="1554480"/>
            <a:ext cx="3383280" cy="2743200"/>
          </a:xfrm>
          <a:prstGeom prst="roundRect">
            <a:avLst>
              <a:gd name="adj" fmla="val 3333"/>
            </a:avLst>
          </a:prstGeom>
          <a:solidFill>
            <a:srgbClr val="F4F7F9"/>
          </a:solidFill>
          <a:ln w="12700">
            <a:solidFill>
              <a:srgbClr val="D8E1E8"/>
            </a:solidFill>
            <a:prstDash val="solid"/>
          </a:ln>
        </p:spPr>
      </p:sp>
      <p:sp>
        <p:nvSpPr>
          <p:cNvPr id="6" name="Shape 4"/>
          <p:cNvSpPr/>
          <p:nvPr/>
        </p:nvSpPr>
        <p:spPr>
          <a:xfrm>
            <a:off x="822960" y="1554480"/>
            <a:ext cx="3383280" cy="685800"/>
          </a:xfrm>
          <a:prstGeom prst="rect">
            <a:avLst/>
          </a:prstGeom>
          <a:solidFill>
            <a:srgbClr val="1C7293"/>
          </a:solidFill>
          <a:ln/>
        </p:spPr>
      </p:sp>
      <p:sp>
        <p:nvSpPr>
          <p:cNvPr id="7" name="Text 5"/>
          <p:cNvSpPr/>
          <p:nvPr/>
        </p:nvSpPr>
        <p:spPr>
          <a:xfrm>
            <a:off x="822960" y="1627632"/>
            <a:ext cx="3383280" cy="320040"/>
          </a:xfrm>
          <a:prstGeom prst="rect">
            <a:avLst/>
          </a:prstGeom>
          <a:noFill/>
          <a:ln/>
        </p:spPr>
        <p:txBody>
          <a:bodyPr wrap="square" rtlCol="0" anchor="ctr"/>
          <a:lstStyle/>
          <a:p>
            <a:pPr algn="ctr" indent="0" marL="0">
              <a:buNone/>
            </a:pPr>
            <a:r>
              <a:rPr lang="en-US" sz="1700" b="1" dirty="0">
                <a:solidFill>
                  <a:srgbClr val="FFFFFF"/>
                </a:solidFill>
              </a:rPr>
              <a:t>PRE-COVID</a:t>
            </a:r>
            <a:endParaRPr lang="en-US" sz="1700" dirty="0"/>
          </a:p>
        </p:txBody>
      </p:sp>
      <p:sp>
        <p:nvSpPr>
          <p:cNvPr id="8" name="Text 6"/>
          <p:cNvSpPr/>
          <p:nvPr/>
        </p:nvSpPr>
        <p:spPr>
          <a:xfrm>
            <a:off x="822960" y="1938528"/>
            <a:ext cx="3383280" cy="274320"/>
          </a:xfrm>
          <a:prstGeom prst="rect">
            <a:avLst/>
          </a:prstGeom>
          <a:noFill/>
          <a:ln/>
        </p:spPr>
        <p:txBody>
          <a:bodyPr wrap="square" rtlCol="0" anchor="ctr"/>
          <a:lstStyle/>
          <a:p>
            <a:pPr algn="ctr" indent="0" marL="0">
              <a:buNone/>
            </a:pPr>
            <a:r>
              <a:rPr lang="en-US" sz="1200" dirty="0">
                <a:solidFill>
                  <a:srgbClr val="FFFFFF"/>
                </a:solidFill>
              </a:rPr>
              <a:t>2018 – 2019</a:t>
            </a:r>
            <a:endParaRPr lang="en-US" sz="1200" dirty="0"/>
          </a:p>
        </p:txBody>
      </p:sp>
      <p:sp>
        <p:nvSpPr>
          <p:cNvPr id="9" name="Text 7"/>
          <p:cNvSpPr/>
          <p:nvPr/>
        </p:nvSpPr>
        <p:spPr>
          <a:xfrm>
            <a:off x="822960" y="2514600"/>
            <a:ext cx="3383280" cy="822960"/>
          </a:xfrm>
          <a:prstGeom prst="rect">
            <a:avLst/>
          </a:prstGeom>
          <a:noFill/>
          <a:ln/>
        </p:spPr>
        <p:txBody>
          <a:bodyPr wrap="square" rtlCol="0" anchor="ctr"/>
          <a:lstStyle/>
          <a:p>
            <a:pPr algn="ctr" indent="0" marL="0">
              <a:buNone/>
            </a:pPr>
            <a:r>
              <a:rPr lang="en-US" sz="4000" b="1" dirty="0">
                <a:solidFill>
                  <a:srgbClr val="1C7293"/>
                </a:solidFill>
              </a:rPr>
              <a:t>14.3 M</a:t>
            </a:r>
            <a:endParaRPr lang="en-US" sz="4000" dirty="0"/>
          </a:p>
        </p:txBody>
      </p:sp>
      <p:sp>
        <p:nvSpPr>
          <p:cNvPr id="10" name="Text 8"/>
          <p:cNvSpPr/>
          <p:nvPr/>
        </p:nvSpPr>
        <p:spPr>
          <a:xfrm>
            <a:off x="1005840" y="3383280"/>
            <a:ext cx="3017520" cy="731520"/>
          </a:xfrm>
          <a:prstGeom prst="rect">
            <a:avLst/>
          </a:prstGeom>
          <a:noFill/>
          <a:ln/>
        </p:spPr>
        <p:txBody>
          <a:bodyPr wrap="square" rtlCol="0" anchor="t"/>
          <a:lstStyle/>
          <a:p>
            <a:pPr algn="ctr" indent="0" marL="0">
              <a:buNone/>
            </a:pPr>
            <a:r>
              <a:rPr lang="en-US" sz="1250" dirty="0">
                <a:solidFill>
                  <a:srgbClr val="1A2A38"/>
                </a:solidFill>
              </a:rPr>
              <a:t>tourist-nights / yr (baseline)</a:t>
            </a:r>
            <a:endParaRPr lang="en-US" sz="1250" dirty="0"/>
          </a:p>
        </p:txBody>
      </p:sp>
      <p:sp>
        <p:nvSpPr>
          <p:cNvPr id="11" name="Shape 9"/>
          <p:cNvSpPr/>
          <p:nvPr/>
        </p:nvSpPr>
        <p:spPr>
          <a:xfrm>
            <a:off x="4434840" y="1554480"/>
            <a:ext cx="3383280" cy="2743200"/>
          </a:xfrm>
          <a:prstGeom prst="roundRect">
            <a:avLst>
              <a:gd name="adj" fmla="val 3333"/>
            </a:avLst>
          </a:prstGeom>
          <a:solidFill>
            <a:srgbClr val="F4F7F9"/>
          </a:solidFill>
          <a:ln w="12700">
            <a:solidFill>
              <a:srgbClr val="D8E1E8"/>
            </a:solidFill>
            <a:prstDash val="solid"/>
          </a:ln>
        </p:spPr>
      </p:sp>
      <p:sp>
        <p:nvSpPr>
          <p:cNvPr id="12" name="Shape 10"/>
          <p:cNvSpPr/>
          <p:nvPr/>
        </p:nvSpPr>
        <p:spPr>
          <a:xfrm>
            <a:off x="4434840" y="1554480"/>
            <a:ext cx="3383280" cy="685800"/>
          </a:xfrm>
          <a:prstGeom prst="rect">
            <a:avLst/>
          </a:prstGeom>
          <a:solidFill>
            <a:srgbClr val="D7191C"/>
          </a:solidFill>
          <a:ln/>
        </p:spPr>
      </p:sp>
      <p:sp>
        <p:nvSpPr>
          <p:cNvPr id="13" name="Text 11"/>
          <p:cNvSpPr/>
          <p:nvPr/>
        </p:nvSpPr>
        <p:spPr>
          <a:xfrm>
            <a:off x="4434840" y="1627632"/>
            <a:ext cx="3383280" cy="320040"/>
          </a:xfrm>
          <a:prstGeom prst="rect">
            <a:avLst/>
          </a:prstGeom>
          <a:noFill/>
          <a:ln/>
        </p:spPr>
        <p:txBody>
          <a:bodyPr wrap="square" rtlCol="0" anchor="ctr"/>
          <a:lstStyle/>
          <a:p>
            <a:pPr algn="ctr" indent="0" marL="0">
              <a:buNone/>
            </a:pPr>
            <a:r>
              <a:rPr lang="en-US" sz="1700" b="1" dirty="0">
                <a:solidFill>
                  <a:srgbClr val="FFFFFF"/>
                </a:solidFill>
              </a:rPr>
              <a:t>COVID</a:t>
            </a:r>
            <a:endParaRPr lang="en-US" sz="1700" dirty="0"/>
          </a:p>
        </p:txBody>
      </p:sp>
      <p:sp>
        <p:nvSpPr>
          <p:cNvPr id="14" name="Text 12"/>
          <p:cNvSpPr/>
          <p:nvPr/>
        </p:nvSpPr>
        <p:spPr>
          <a:xfrm>
            <a:off x="4434840" y="1938528"/>
            <a:ext cx="3383280" cy="274320"/>
          </a:xfrm>
          <a:prstGeom prst="rect">
            <a:avLst/>
          </a:prstGeom>
          <a:noFill/>
          <a:ln/>
        </p:spPr>
        <p:txBody>
          <a:bodyPr wrap="square" rtlCol="0" anchor="ctr"/>
          <a:lstStyle/>
          <a:p>
            <a:pPr algn="ctr" indent="0" marL="0">
              <a:buNone/>
            </a:pPr>
            <a:r>
              <a:rPr lang="en-US" sz="1200" dirty="0">
                <a:solidFill>
                  <a:srgbClr val="FFFFFF"/>
                </a:solidFill>
              </a:rPr>
              <a:t>2020</a:t>
            </a:r>
            <a:endParaRPr lang="en-US" sz="1200" dirty="0"/>
          </a:p>
        </p:txBody>
      </p:sp>
      <p:sp>
        <p:nvSpPr>
          <p:cNvPr id="15" name="Text 13"/>
          <p:cNvSpPr/>
          <p:nvPr/>
        </p:nvSpPr>
        <p:spPr>
          <a:xfrm>
            <a:off x="4434840" y="2514600"/>
            <a:ext cx="3383280" cy="822960"/>
          </a:xfrm>
          <a:prstGeom prst="rect">
            <a:avLst/>
          </a:prstGeom>
          <a:noFill/>
          <a:ln/>
        </p:spPr>
        <p:txBody>
          <a:bodyPr wrap="square" rtlCol="0" anchor="ctr"/>
          <a:lstStyle/>
          <a:p>
            <a:pPr algn="ctr" indent="0" marL="0">
              <a:buNone/>
            </a:pPr>
            <a:r>
              <a:rPr lang="en-US" sz="4000" b="1" dirty="0">
                <a:solidFill>
                  <a:srgbClr val="D7191C"/>
                </a:solidFill>
              </a:rPr>
              <a:t>8.7 M</a:t>
            </a:r>
            <a:endParaRPr lang="en-US" sz="4000" dirty="0"/>
          </a:p>
        </p:txBody>
      </p:sp>
      <p:sp>
        <p:nvSpPr>
          <p:cNvPr id="16" name="Text 14"/>
          <p:cNvSpPr/>
          <p:nvPr/>
        </p:nvSpPr>
        <p:spPr>
          <a:xfrm>
            <a:off x="4617720" y="3383280"/>
            <a:ext cx="3017520" cy="731520"/>
          </a:xfrm>
          <a:prstGeom prst="rect">
            <a:avLst/>
          </a:prstGeom>
          <a:noFill/>
          <a:ln/>
        </p:spPr>
        <p:txBody>
          <a:bodyPr wrap="square" rtlCol="0" anchor="t"/>
          <a:lstStyle/>
          <a:p>
            <a:pPr algn="ctr" indent="0" marL="0">
              <a:buNone/>
            </a:pPr>
            <a:r>
              <a:rPr lang="en-US" sz="1250" dirty="0">
                <a:solidFill>
                  <a:srgbClr val="1A2A38"/>
                </a:solidFill>
              </a:rPr>
              <a:t>−39% vs. baseline (lockdown)</a:t>
            </a:r>
            <a:endParaRPr lang="en-US" sz="1250" dirty="0"/>
          </a:p>
        </p:txBody>
      </p:sp>
      <p:sp>
        <p:nvSpPr>
          <p:cNvPr id="17" name="Shape 15"/>
          <p:cNvSpPr/>
          <p:nvPr/>
        </p:nvSpPr>
        <p:spPr>
          <a:xfrm>
            <a:off x="8046720" y="1554480"/>
            <a:ext cx="3383280" cy="2743200"/>
          </a:xfrm>
          <a:prstGeom prst="roundRect">
            <a:avLst>
              <a:gd name="adj" fmla="val 3333"/>
            </a:avLst>
          </a:prstGeom>
          <a:solidFill>
            <a:srgbClr val="F4F7F9"/>
          </a:solidFill>
          <a:ln w="12700">
            <a:solidFill>
              <a:srgbClr val="D8E1E8"/>
            </a:solidFill>
            <a:prstDash val="solid"/>
          </a:ln>
        </p:spPr>
      </p:sp>
      <p:sp>
        <p:nvSpPr>
          <p:cNvPr id="18" name="Shape 16"/>
          <p:cNvSpPr/>
          <p:nvPr/>
        </p:nvSpPr>
        <p:spPr>
          <a:xfrm>
            <a:off x="8046720" y="1554480"/>
            <a:ext cx="3383280" cy="685800"/>
          </a:xfrm>
          <a:prstGeom prst="rect">
            <a:avLst/>
          </a:prstGeom>
          <a:solidFill>
            <a:srgbClr val="1A9641"/>
          </a:solidFill>
          <a:ln/>
        </p:spPr>
      </p:sp>
      <p:sp>
        <p:nvSpPr>
          <p:cNvPr id="19" name="Text 17"/>
          <p:cNvSpPr/>
          <p:nvPr/>
        </p:nvSpPr>
        <p:spPr>
          <a:xfrm>
            <a:off x="8046720" y="1627632"/>
            <a:ext cx="3383280" cy="320040"/>
          </a:xfrm>
          <a:prstGeom prst="rect">
            <a:avLst/>
          </a:prstGeom>
          <a:noFill/>
          <a:ln/>
        </p:spPr>
        <p:txBody>
          <a:bodyPr wrap="square" rtlCol="0" anchor="ctr"/>
          <a:lstStyle/>
          <a:p>
            <a:pPr algn="ctr" indent="0" marL="0">
              <a:buNone/>
            </a:pPr>
            <a:r>
              <a:rPr lang="en-US" sz="1700" b="1" dirty="0">
                <a:solidFill>
                  <a:srgbClr val="FFFFFF"/>
                </a:solidFill>
              </a:rPr>
              <a:t>POST-COVID</a:t>
            </a:r>
            <a:endParaRPr lang="en-US" sz="1700" dirty="0"/>
          </a:p>
        </p:txBody>
      </p:sp>
      <p:sp>
        <p:nvSpPr>
          <p:cNvPr id="20" name="Text 18"/>
          <p:cNvSpPr/>
          <p:nvPr/>
        </p:nvSpPr>
        <p:spPr>
          <a:xfrm>
            <a:off x="8046720" y="1938528"/>
            <a:ext cx="3383280" cy="274320"/>
          </a:xfrm>
          <a:prstGeom prst="rect">
            <a:avLst/>
          </a:prstGeom>
          <a:noFill/>
          <a:ln/>
        </p:spPr>
        <p:txBody>
          <a:bodyPr wrap="square" rtlCol="0" anchor="ctr"/>
          <a:lstStyle/>
          <a:p>
            <a:pPr algn="ctr" indent="0" marL="0">
              <a:buNone/>
            </a:pPr>
            <a:r>
              <a:rPr lang="en-US" sz="1200" dirty="0">
                <a:solidFill>
                  <a:srgbClr val="FFFFFF"/>
                </a:solidFill>
              </a:rPr>
              <a:t>2021 – 2023</a:t>
            </a:r>
            <a:endParaRPr lang="en-US" sz="1200" dirty="0"/>
          </a:p>
        </p:txBody>
      </p:sp>
      <p:sp>
        <p:nvSpPr>
          <p:cNvPr id="21" name="Text 19"/>
          <p:cNvSpPr/>
          <p:nvPr/>
        </p:nvSpPr>
        <p:spPr>
          <a:xfrm>
            <a:off x="8046720" y="2514600"/>
            <a:ext cx="3383280" cy="822960"/>
          </a:xfrm>
          <a:prstGeom prst="rect">
            <a:avLst/>
          </a:prstGeom>
          <a:noFill/>
          <a:ln/>
        </p:spPr>
        <p:txBody>
          <a:bodyPr wrap="square" rtlCol="0" anchor="ctr"/>
          <a:lstStyle/>
          <a:p>
            <a:pPr algn="ctr" indent="0" marL="0">
              <a:buNone/>
            </a:pPr>
            <a:r>
              <a:rPr lang="en-US" sz="4000" b="1" dirty="0">
                <a:solidFill>
                  <a:srgbClr val="1A9641"/>
                </a:solidFill>
              </a:rPr>
              <a:t>13.4 M</a:t>
            </a:r>
            <a:endParaRPr lang="en-US" sz="4000" dirty="0"/>
          </a:p>
        </p:txBody>
      </p:sp>
      <p:sp>
        <p:nvSpPr>
          <p:cNvPr id="22" name="Text 20"/>
          <p:cNvSpPr/>
          <p:nvPr/>
        </p:nvSpPr>
        <p:spPr>
          <a:xfrm>
            <a:off x="8229600" y="3383280"/>
            <a:ext cx="3017520" cy="731520"/>
          </a:xfrm>
          <a:prstGeom prst="rect">
            <a:avLst/>
          </a:prstGeom>
          <a:noFill/>
          <a:ln/>
        </p:spPr>
        <p:txBody>
          <a:bodyPr wrap="square" rtlCol="0" anchor="t"/>
          <a:lstStyle/>
          <a:p>
            <a:pPr algn="ctr" indent="0" marL="0">
              <a:buNone/>
            </a:pPr>
            <a:r>
              <a:rPr lang="en-US" sz="1250" dirty="0">
                <a:solidFill>
                  <a:srgbClr val="1A2A38"/>
                </a:solidFill>
              </a:rPr>
              <a:t>recovery to ~94% of baseline</a:t>
            </a:r>
            <a:endParaRPr lang="en-US" sz="1250" dirty="0"/>
          </a:p>
        </p:txBody>
      </p:sp>
      <p:sp>
        <p:nvSpPr>
          <p:cNvPr id="23" name="Shape 21"/>
          <p:cNvSpPr/>
          <p:nvPr/>
        </p:nvSpPr>
        <p:spPr>
          <a:xfrm>
            <a:off x="822960" y="4617720"/>
            <a:ext cx="10515600" cy="1371600"/>
          </a:xfrm>
          <a:prstGeom prst="roundRect">
            <a:avLst>
              <a:gd name="adj" fmla="val 5333"/>
            </a:avLst>
          </a:prstGeom>
          <a:solidFill>
            <a:srgbClr val="065A82"/>
          </a:solidFill>
          <a:ln/>
        </p:spPr>
      </p:sp>
      <p:sp>
        <p:nvSpPr>
          <p:cNvPr id="24" name="Text 22"/>
          <p:cNvSpPr/>
          <p:nvPr/>
        </p:nvSpPr>
        <p:spPr>
          <a:xfrm>
            <a:off x="1097280" y="4754880"/>
            <a:ext cx="9966960" cy="1097280"/>
          </a:xfrm>
          <a:prstGeom prst="rect">
            <a:avLst/>
          </a:prstGeom>
          <a:noFill/>
          <a:ln/>
        </p:spPr>
        <p:txBody>
          <a:bodyPr wrap="square" rtlCol="0" anchor="ctr"/>
          <a:lstStyle/>
          <a:p>
            <a:pPr indent="0" marL="0">
              <a:lnSpc>
                <a:spcPct val="115000"/>
              </a:lnSpc>
              <a:buNone/>
            </a:pPr>
            <a:r>
              <a:rPr lang="en-US" sz="1400" b="1" dirty="0">
                <a:solidFill>
                  <a:srgbClr val="F39C12"/>
                </a:solidFill>
              </a:rPr>
              <a:t>The design.  </a:t>
            </a:r>
            <a:pPr indent="0" marL="0">
              <a:lnSpc>
                <a:spcPct val="115000"/>
              </a:lnSpc>
              <a:buNone/>
            </a:pPr>
            <a:r>
              <a:rPr lang="en-US" sz="1400" dirty="0">
                <a:solidFill>
                  <a:srgbClr val="FFFFFF"/>
                </a:solidFill>
              </a:rPr>
              <a:t>Tourism (the main human pressure) dropped sharply in 2020 while sea currents — the natural transport driver — stayed almost constant (13.2 → 12.4 → 11.8 cm/s). Any litter change that tracks tourism is human-driven; anything that persists is transport / legacy.</a:t>
            </a:r>
            <a:endParaRPr lang="en-US" sz="1400" dirty="0"/>
          </a:p>
        </p:txBody>
      </p:sp>
      <p:sp>
        <p:nvSpPr>
          <p:cNvPr id="25" name="Text 23"/>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26" name="Text 24"/>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14</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PRE · DURING · POST BY COMPARTMENT</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COVID Response — What Changed</a:t>
            </a:r>
            <a:endParaRPr lang="en-US" sz="2800" dirty="0"/>
          </a:p>
        </p:txBody>
      </p:sp>
      <p:pic>
        <p:nvPicPr>
          <p:cNvPr id="5" name="Image 0" descr="/Users/danieleuras/Documents/GitHub/hhe-labsardinia/data/figures/covid_comparison.png">    </p:cNvPr>
          <p:cNvPicPr>
            <a:picLocks noChangeAspect="1"/>
          </p:cNvPicPr>
          <p:nvPr/>
        </p:nvPicPr>
        <p:blipFill>
          <a:blip r:embed="rId1"/>
          <a:stretch>
            <a:fillRect/>
          </a:stretch>
        </p:blipFill>
        <p:spPr>
          <a:xfrm>
            <a:off x="502920" y="1749251"/>
            <a:ext cx="6675120" cy="2445099"/>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4434840"/>
          <a:ext cx="7315200" cy="914400"/>
        </p:xfrm>
        <a:graphic>
          <a:graphicData uri="http://schemas.openxmlformats.org/drawingml/2006/table">
            <a:tbl>
              <a:tblPr/>
              <a:tblGrid>
                <a:gridCol w="3200400"/>
                <a:gridCol w="1371600"/>
                <a:gridCol w="1371600"/>
                <a:gridCol w="1371600"/>
              </a:tblGrid>
              <a:tr h="283464">
                <a:tc>
                  <a:txBody>
                    <a:bodyPr/>
                    <a:lstStyle/>
                    <a:p>
                      <a:pPr algn="ctr" indent="0" marL="0">
                        <a:buNone/>
                      </a:pPr>
                      <a:r>
                        <a:rPr lang="en-US" sz="1150" b="1" dirty="0">
                          <a:solidFill>
                            <a:srgbClr val="FFFFFF"/>
                          </a:solidFill>
                        </a:rPr>
                        <a:t>Metric</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ctr" indent="0" marL="0">
                        <a:buNone/>
                      </a:pPr>
                      <a:r>
                        <a:rPr lang="en-US" sz="1150" b="1" dirty="0">
                          <a:solidFill>
                            <a:srgbClr val="FFFFFF"/>
                          </a:solidFill>
                        </a:rPr>
                        <a:t>Pre</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ctr" indent="0" marL="0">
                        <a:buNone/>
                      </a:pPr>
                      <a:r>
                        <a:rPr lang="en-US" sz="1150" b="1" dirty="0">
                          <a:solidFill>
                            <a:srgbClr val="FFFFFF"/>
                          </a:solidFill>
                        </a:rPr>
                        <a:t>COVID</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ctr" indent="0" marL="0">
                        <a:buNone/>
                      </a:pPr>
                      <a:r>
                        <a:rPr lang="en-US" sz="1150" b="1" dirty="0">
                          <a:solidFill>
                            <a:srgbClr val="FFFFFF"/>
                          </a:solidFill>
                        </a:rPr>
                        <a:t>Post</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r>
              <a:tr h="283464">
                <a:tc>
                  <a:txBody>
                    <a:bodyPr/>
                    <a:lstStyle/>
                    <a:p>
                      <a:pPr algn="ctr" indent="0" marL="0">
                        <a:buNone/>
                      </a:pPr>
                      <a:r>
                        <a:rPr lang="en-US" sz="1150" dirty="0">
                          <a:solidFill>
                            <a:srgbClr val="1A2A38"/>
                          </a:solidFill>
                        </a:rPr>
                        <a:t>Beach litter (mean items/100 m)</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830</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269</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298</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283464">
                <a:tc>
                  <a:txBody>
                    <a:bodyPr/>
                    <a:lstStyle/>
                    <a:p>
                      <a:pPr algn="ctr" indent="0" marL="0">
                        <a:buNone/>
                      </a:pPr>
                      <a:r>
                        <a:rPr lang="en-US" sz="1150" dirty="0">
                          <a:solidFill>
                            <a:srgbClr val="1A2A38"/>
                          </a:solidFill>
                        </a:rPr>
                        <a:t>Beach litter (median)</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324</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176</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288</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283464">
                <a:tc>
                  <a:txBody>
                    <a:bodyPr/>
                    <a:lstStyle/>
                    <a:p>
                      <a:pPr algn="ctr" indent="0" marL="0">
                        <a:buNone/>
                      </a:pPr>
                      <a:r>
                        <a:rPr lang="en-US" sz="1150" dirty="0">
                          <a:solidFill>
                            <a:srgbClr val="1A2A38"/>
                          </a:solidFill>
                        </a:rPr>
                        <a:t>Floating obs (count)</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226</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124</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687</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283464">
                <a:tc>
                  <a:txBody>
                    <a:bodyPr/>
                    <a:lstStyle/>
                    <a:p>
                      <a:pPr algn="ctr" indent="0" marL="0">
                        <a:buNone/>
                      </a:pPr>
                      <a:r>
                        <a:rPr lang="en-US" sz="1150" dirty="0">
                          <a:solidFill>
                            <a:srgbClr val="1A2A38"/>
                          </a:solidFill>
                        </a:rPr>
                        <a:t>Bio events (ENT+ING)</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44</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20</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101</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283464">
                <a:tc>
                  <a:txBody>
                    <a:bodyPr/>
                    <a:lstStyle/>
                    <a:p>
                      <a:pPr algn="ctr" indent="0" marL="0">
                        <a:buNone/>
                      </a:pPr>
                      <a:r>
                        <a:rPr lang="en-US" sz="1150" dirty="0">
                          <a:solidFill>
                            <a:srgbClr val="1A2A38"/>
                          </a:solidFill>
                        </a:rPr>
                        <a:t>Current speed (cm/s)</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13.2</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12.4</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150" dirty="0">
                          <a:solidFill>
                            <a:srgbClr val="1A2A38"/>
                          </a:solidFill>
                        </a:rPr>
                        <a:t>11.8</a:t>
                      </a:r>
                      <a:endParaRPr lang="en-US" sz="115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bl>
          </a:graphicData>
        </a:graphic>
      </p:graphicFrame>
      <p:sp>
        <p:nvSpPr>
          <p:cNvPr id="7" name="Text 3"/>
          <p:cNvSpPr/>
          <p:nvPr/>
        </p:nvSpPr>
        <p:spPr>
          <a:xfrm>
            <a:off x="8229600" y="4434840"/>
            <a:ext cx="3474720" cy="320040"/>
          </a:xfrm>
          <a:prstGeom prst="rect">
            <a:avLst/>
          </a:prstGeom>
          <a:noFill/>
          <a:ln/>
        </p:spPr>
        <p:txBody>
          <a:bodyPr wrap="square" rtlCol="0" anchor="ctr"/>
          <a:lstStyle/>
          <a:p>
            <a:pPr indent="0" marL="0">
              <a:buNone/>
            </a:pPr>
            <a:r>
              <a:rPr lang="en-US" sz="1300" b="1" dirty="0">
                <a:solidFill>
                  <a:srgbClr val="1C7293"/>
                </a:solidFill>
              </a:rPr>
              <a:t>SIGNAL</a:t>
            </a:r>
            <a:endParaRPr lang="en-US" sz="1300" dirty="0"/>
          </a:p>
        </p:txBody>
      </p:sp>
      <p:sp>
        <p:nvSpPr>
          <p:cNvPr id="8" name="Text 4"/>
          <p:cNvSpPr/>
          <p:nvPr/>
        </p:nvSpPr>
        <p:spPr>
          <a:xfrm>
            <a:off x="8229600" y="4800600"/>
            <a:ext cx="3566160" cy="1188720"/>
          </a:xfrm>
          <a:prstGeom prst="rect">
            <a:avLst/>
          </a:prstGeom>
          <a:noFill/>
          <a:ln/>
        </p:spPr>
        <p:txBody>
          <a:bodyPr wrap="square" rtlCol="0" anchor="ctr"/>
          <a:lstStyle/>
          <a:p>
            <a:pPr marL="342900" indent="-342900">
              <a:lnSpc>
                <a:spcPct val="110000"/>
              </a:lnSpc>
              <a:spcAft>
                <a:spcPts val="500"/>
              </a:spcAft>
              <a:buSzPct val="100000"/>
              <a:buChar char="•"/>
            </a:pPr>
            <a:r>
              <a:rPr lang="en-US" sz="1150" dirty="0">
                <a:solidFill>
                  <a:srgbClr val="1A2A38"/>
                </a:solidFill>
              </a:rPr>
              <a:t>Beach litter fell with tourism (−68% mean during COVID)</a:t>
            </a:r>
            <a:endParaRPr lang="en-US" sz="1150" dirty="0"/>
          </a:p>
          <a:p>
            <a:pPr marL="342900" indent="-342900">
              <a:lnSpc>
                <a:spcPct val="110000"/>
              </a:lnSpc>
              <a:spcAft>
                <a:spcPts val="500"/>
              </a:spcAft>
              <a:buSzPct val="100000"/>
              <a:buChar char="•"/>
            </a:pPr>
            <a:r>
              <a:rPr lang="en-US" sz="1150" dirty="0">
                <a:solidFill>
                  <a:srgbClr val="1A2A38"/>
                </a:solidFill>
              </a:rPr>
              <a:t>Currents ~unchanged — natural driver held constant</a:t>
            </a:r>
            <a:endParaRPr lang="en-US" sz="1150" dirty="0"/>
          </a:p>
          <a:p>
            <a:pPr marL="342900" indent="-342900">
              <a:lnSpc>
                <a:spcPct val="110000"/>
              </a:lnSpc>
              <a:spcAft>
                <a:spcPts val="500"/>
              </a:spcAft>
              <a:buSzPct val="100000"/>
              <a:buChar char="•"/>
            </a:pPr>
            <a:r>
              <a:rPr lang="en-US" sz="1150" dirty="0">
                <a:solidFill>
                  <a:srgbClr val="1A2A38"/>
                </a:solidFill>
              </a:rPr>
              <a:t>Floating-obs rise post-COVID is mostly sampling effort</a:t>
            </a:r>
            <a:endParaRPr lang="en-US" sz="1150" dirty="0"/>
          </a:p>
        </p:txBody>
      </p:sp>
      <p:sp>
        <p:nvSpPr>
          <p:cNvPr id="9" name="Text 5"/>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0" name="Text 6"/>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HUMAN VS. NATURAL DRIVERS</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COVID — Interpretation</a:t>
            </a:r>
            <a:endParaRPr lang="en-US" sz="2800" dirty="0"/>
          </a:p>
        </p:txBody>
      </p:sp>
      <p:sp>
        <p:nvSpPr>
          <p:cNvPr id="5" name="Shape 3"/>
          <p:cNvSpPr/>
          <p:nvPr/>
        </p:nvSpPr>
        <p:spPr>
          <a:xfrm>
            <a:off x="822960" y="1645920"/>
            <a:ext cx="5120640" cy="109728"/>
          </a:xfrm>
          <a:prstGeom prst="rect">
            <a:avLst/>
          </a:prstGeom>
          <a:solidFill>
            <a:srgbClr val="1A9641"/>
          </a:solidFill>
          <a:ln/>
        </p:spPr>
      </p:sp>
      <p:sp>
        <p:nvSpPr>
          <p:cNvPr id="6" name="Text 4"/>
          <p:cNvSpPr/>
          <p:nvPr/>
        </p:nvSpPr>
        <p:spPr>
          <a:xfrm>
            <a:off x="822960" y="1828800"/>
            <a:ext cx="5120640" cy="457200"/>
          </a:xfrm>
          <a:prstGeom prst="rect">
            <a:avLst/>
          </a:prstGeom>
          <a:noFill/>
          <a:ln/>
        </p:spPr>
        <p:txBody>
          <a:bodyPr wrap="square" rtlCol="0" anchor="ctr"/>
          <a:lstStyle/>
          <a:p>
            <a:pPr indent="0" marL="0">
              <a:buNone/>
            </a:pPr>
            <a:r>
              <a:rPr lang="en-US" sz="1700" b="1" dirty="0">
                <a:solidFill>
                  <a:srgbClr val="1A9641"/>
                </a:solidFill>
              </a:rPr>
              <a:t>WHAT IT CONFIRMS</a:t>
            </a:r>
            <a:endParaRPr lang="en-US" sz="1700" dirty="0"/>
          </a:p>
        </p:txBody>
      </p:sp>
      <p:sp>
        <p:nvSpPr>
          <p:cNvPr id="7" name="Text 5"/>
          <p:cNvSpPr/>
          <p:nvPr/>
        </p:nvSpPr>
        <p:spPr>
          <a:xfrm>
            <a:off x="822960" y="2377440"/>
            <a:ext cx="5120640" cy="3291840"/>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1A2A38"/>
                </a:solidFill>
              </a:rPr>
              <a:t>Beach litter has a real local-human component — it fell ~68% when tourism collapsed</a:t>
            </a:r>
            <a:endParaRPr lang="en-US" sz="1400" dirty="0"/>
          </a:p>
          <a:p>
            <a:pPr marL="342900" indent="-342900">
              <a:lnSpc>
                <a:spcPct val="120000"/>
              </a:lnSpc>
              <a:spcAft>
                <a:spcPts val="1200"/>
              </a:spcAft>
              <a:buSzPct val="100000"/>
              <a:buChar char="•"/>
            </a:pPr>
            <a:r>
              <a:rPr lang="en-US" sz="1400" dirty="0">
                <a:solidFill>
                  <a:srgbClr val="1A2A38"/>
                </a:solidFill>
              </a:rPr>
              <a:t>Currents (natural driver) stayed constant → good experimental control</a:t>
            </a:r>
            <a:endParaRPr lang="en-US" sz="1400" dirty="0"/>
          </a:p>
          <a:p>
            <a:pPr marL="342900" indent="-342900">
              <a:lnSpc>
                <a:spcPct val="120000"/>
              </a:lnSpc>
              <a:spcAft>
                <a:spcPts val="1200"/>
              </a:spcAft>
              <a:buSzPct val="100000"/>
              <a:buChar char="•"/>
            </a:pPr>
            <a:r>
              <a:rPr lang="en-US" sz="1400" dirty="0">
                <a:solidFill>
                  <a:srgbClr val="1A2A38"/>
                </a:solidFill>
              </a:rPr>
              <a:t>Litter did NOT return to pre-COVID mean → legacy litter &amp; transport persist</a:t>
            </a:r>
            <a:endParaRPr lang="en-US" sz="1400" dirty="0"/>
          </a:p>
        </p:txBody>
      </p:sp>
      <p:sp>
        <p:nvSpPr>
          <p:cNvPr id="8" name="Shape 6"/>
          <p:cNvSpPr/>
          <p:nvPr/>
        </p:nvSpPr>
        <p:spPr>
          <a:xfrm>
            <a:off x="6400800" y="1645920"/>
            <a:ext cx="5120640" cy="109728"/>
          </a:xfrm>
          <a:prstGeom prst="rect">
            <a:avLst/>
          </a:prstGeom>
          <a:solidFill>
            <a:srgbClr val="F39C12"/>
          </a:solidFill>
          <a:ln/>
        </p:spPr>
      </p:sp>
      <p:sp>
        <p:nvSpPr>
          <p:cNvPr id="9" name="Text 7"/>
          <p:cNvSpPr/>
          <p:nvPr/>
        </p:nvSpPr>
        <p:spPr>
          <a:xfrm>
            <a:off x="6400800" y="1828800"/>
            <a:ext cx="5120640" cy="457200"/>
          </a:xfrm>
          <a:prstGeom prst="rect">
            <a:avLst/>
          </a:prstGeom>
          <a:noFill/>
          <a:ln/>
        </p:spPr>
        <p:txBody>
          <a:bodyPr wrap="square" rtlCol="0" anchor="ctr"/>
          <a:lstStyle/>
          <a:p>
            <a:pPr indent="0" marL="0">
              <a:buNone/>
            </a:pPr>
            <a:r>
              <a:rPr lang="en-US" sz="1700" b="1" dirty="0">
                <a:solidFill>
                  <a:srgbClr val="F39C12"/>
                </a:solidFill>
              </a:rPr>
              <a:t>CAVEATS</a:t>
            </a:r>
            <a:endParaRPr lang="en-US" sz="1700" dirty="0"/>
          </a:p>
        </p:txBody>
      </p:sp>
      <p:sp>
        <p:nvSpPr>
          <p:cNvPr id="10" name="Text 8"/>
          <p:cNvSpPr/>
          <p:nvPr/>
        </p:nvSpPr>
        <p:spPr>
          <a:xfrm>
            <a:off x="6400800" y="2377440"/>
            <a:ext cx="5120640" cy="3291840"/>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1A2A38"/>
                </a:solidFill>
              </a:rPr>
              <a:t>Pre-COVID mean inflated by a few extreme surveys (median drop smaller: 324 → 176)</a:t>
            </a:r>
            <a:endParaRPr lang="en-US" sz="1400" dirty="0"/>
          </a:p>
          <a:p>
            <a:pPr marL="342900" indent="-342900">
              <a:lnSpc>
                <a:spcPct val="120000"/>
              </a:lnSpc>
              <a:spcAft>
                <a:spcPts val="1200"/>
              </a:spcAft>
              <a:buSzPct val="100000"/>
              <a:buChar char="•"/>
            </a:pPr>
            <a:r>
              <a:rPr lang="en-US" sz="1400" dirty="0">
                <a:solidFill>
                  <a:srgbClr val="1A2A38"/>
                </a:solidFill>
              </a:rPr>
              <a:t>Floating &amp; bio rises post-2020 partly reflect more sampling, not more litter</a:t>
            </a:r>
            <a:endParaRPr lang="en-US" sz="1400" dirty="0"/>
          </a:p>
          <a:p>
            <a:pPr marL="342900" indent="-342900">
              <a:lnSpc>
                <a:spcPct val="120000"/>
              </a:lnSpc>
              <a:spcAft>
                <a:spcPts val="1200"/>
              </a:spcAft>
              <a:buSzPct val="100000"/>
              <a:buChar char="•"/>
            </a:pPr>
            <a:r>
              <a:rPr lang="en-US" sz="1400" dirty="0">
                <a:solidFill>
                  <a:srgbClr val="1A2A38"/>
                </a:solidFill>
              </a:rPr>
              <a:t>Single lockdown year → low statistical power, treat as indicative</a:t>
            </a:r>
            <a:endParaRPr lang="en-US" sz="1400" dirty="0"/>
          </a:p>
        </p:txBody>
      </p:sp>
      <p:sp>
        <p:nvSpPr>
          <p:cNvPr id="11" name="Shape 9"/>
          <p:cNvSpPr/>
          <p:nvPr/>
        </p:nvSpPr>
        <p:spPr>
          <a:xfrm>
            <a:off x="822960" y="5623560"/>
            <a:ext cx="10515600" cy="640080"/>
          </a:xfrm>
          <a:prstGeom prst="roundRect">
            <a:avLst>
              <a:gd name="adj" fmla="val 8571"/>
            </a:avLst>
          </a:prstGeom>
          <a:solidFill>
            <a:srgbClr val="065A82"/>
          </a:solidFill>
          <a:ln/>
        </p:spPr>
      </p:sp>
      <p:sp>
        <p:nvSpPr>
          <p:cNvPr id="12" name="Text 10"/>
          <p:cNvSpPr/>
          <p:nvPr/>
        </p:nvSpPr>
        <p:spPr>
          <a:xfrm>
            <a:off x="1097280" y="5687568"/>
            <a:ext cx="9966960" cy="502920"/>
          </a:xfrm>
          <a:prstGeom prst="rect">
            <a:avLst/>
          </a:prstGeom>
          <a:noFill/>
          <a:ln/>
        </p:spPr>
        <p:txBody>
          <a:bodyPr wrap="square" rtlCol="0" anchor="ctr"/>
          <a:lstStyle/>
          <a:p>
            <a:pPr indent="0" marL="0">
              <a:buNone/>
            </a:pPr>
            <a:r>
              <a:rPr lang="en-US" sz="1350" b="1" dirty="0">
                <a:solidFill>
                  <a:srgbClr val="F39C12"/>
                </a:solidFill>
              </a:rPr>
              <a:t>Take-away:  </a:t>
            </a:r>
            <a:pPr indent="0" marL="0">
              <a:buNone/>
            </a:pPr>
            <a:r>
              <a:rPr lang="en-US" sz="1350" dirty="0">
                <a:solidFill>
                  <a:srgbClr val="FFFFFF"/>
                </a:solidFill>
              </a:rPr>
              <a:t>beach litter is partly human-driven and partly transported — which is exactly why a multi-compartment, current-aware hazard index is needed.</a:t>
            </a:r>
            <a:endParaRPr lang="en-US" sz="1350" dirty="0"/>
          </a:p>
        </p:txBody>
      </p:sp>
      <p:sp>
        <p:nvSpPr>
          <p:cNvPr id="13" name="Text 11"/>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4" name="Text 12"/>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16</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5A8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65A82"/>
          </a:solidFill>
          <a:ln/>
        </p:spPr>
      </p:sp>
      <p:sp>
        <p:nvSpPr>
          <p:cNvPr id="3" name="Text 1"/>
          <p:cNvSpPr/>
          <p:nvPr/>
        </p:nvSpPr>
        <p:spPr>
          <a:xfrm>
            <a:off x="365760" y="182880"/>
            <a:ext cx="5486400" cy="5486400"/>
          </a:xfrm>
          <a:prstGeom prst="rect">
            <a:avLst/>
          </a:prstGeom>
          <a:noFill/>
          <a:ln/>
        </p:spPr>
        <p:txBody>
          <a:bodyPr wrap="square" rtlCol="0" anchor="ctr"/>
          <a:lstStyle/>
          <a:p>
            <a:pPr algn="l" indent="0" marL="0">
              <a:buNone/>
            </a:pPr>
            <a:r>
              <a:rPr lang="en-US" sz="30000" b="1" dirty="0">
                <a:solidFill>
                  <a:srgbClr val="1C7293">
                    <a:alpha val="30000"/>
                  </a:srgbClr>
                </a:solidFill>
              </a:rPr>
              <a:t>3</a:t>
            </a:r>
            <a:endParaRPr lang="en-US" sz="30000" dirty="0"/>
          </a:p>
        </p:txBody>
      </p:sp>
      <p:sp>
        <p:nvSpPr>
          <p:cNvPr id="4" name="Text 2"/>
          <p:cNvSpPr/>
          <p:nvPr/>
        </p:nvSpPr>
        <p:spPr>
          <a:xfrm>
            <a:off x="822960" y="2743200"/>
            <a:ext cx="10515600" cy="914400"/>
          </a:xfrm>
          <a:prstGeom prst="rect">
            <a:avLst/>
          </a:prstGeom>
          <a:noFill/>
          <a:ln/>
        </p:spPr>
        <p:txBody>
          <a:bodyPr wrap="square" rtlCol="0" anchor="ctr"/>
          <a:lstStyle/>
          <a:p>
            <a:pPr indent="0" marL="0">
              <a:buNone/>
            </a:pPr>
            <a:r>
              <a:rPr lang="en-US" sz="4000" b="1" dirty="0">
                <a:solidFill>
                  <a:srgbClr val="FFFFFF"/>
                </a:solidFill>
              </a:rPr>
              <a:t>Composite Hazard Index</a:t>
            </a:r>
            <a:endParaRPr lang="en-US" sz="4000" dirty="0"/>
          </a:p>
        </p:txBody>
      </p:sp>
      <p:sp>
        <p:nvSpPr>
          <p:cNvPr id="5" name="Shape 3"/>
          <p:cNvSpPr/>
          <p:nvPr/>
        </p:nvSpPr>
        <p:spPr>
          <a:xfrm>
            <a:off x="914400" y="3703320"/>
            <a:ext cx="2011680" cy="0"/>
          </a:xfrm>
          <a:prstGeom prst="line">
            <a:avLst/>
          </a:prstGeom>
          <a:noFill/>
          <a:ln w="38100">
            <a:solidFill>
              <a:srgbClr val="F39C12"/>
            </a:solidFill>
            <a:prstDash val="solid"/>
          </a:ln>
        </p:spPr>
      </p:sp>
      <p:sp>
        <p:nvSpPr>
          <p:cNvPr id="6" name="Text 4"/>
          <p:cNvSpPr/>
          <p:nvPr/>
        </p:nvSpPr>
        <p:spPr>
          <a:xfrm>
            <a:off x="868680" y="3840480"/>
            <a:ext cx="10515600" cy="548640"/>
          </a:xfrm>
          <a:prstGeom prst="rect">
            <a:avLst/>
          </a:prstGeom>
          <a:noFill/>
          <a:ln/>
        </p:spPr>
        <p:txBody>
          <a:bodyPr wrap="square" rtlCol="0" anchor="ctr"/>
          <a:lstStyle/>
          <a:p>
            <a:pPr indent="0" marL="0">
              <a:buNone/>
            </a:pPr>
            <a:r>
              <a:rPr lang="en-US" sz="1600" dirty="0">
                <a:solidFill>
                  <a:srgbClr val="CADCFC"/>
                </a:solidFill>
              </a:rPr>
              <a:t>Methodology · Maps · Coastal segments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Composite Hazard — Methodology</a:t>
            </a:r>
            <a:endParaRPr lang="en-US" sz="2800" dirty="0"/>
          </a:p>
        </p:txBody>
      </p:sp>
      <p:sp>
        <p:nvSpPr>
          <p:cNvPr id="4" name="Shape 2"/>
          <p:cNvSpPr/>
          <p:nvPr/>
        </p:nvSpPr>
        <p:spPr>
          <a:xfrm>
            <a:off x="731520" y="1554480"/>
            <a:ext cx="777240" cy="777240"/>
          </a:xfrm>
          <a:prstGeom prst="ellipse">
            <a:avLst/>
          </a:prstGeom>
          <a:solidFill>
            <a:srgbClr val="065A82"/>
          </a:solidFill>
          <a:ln/>
        </p:spPr>
      </p:sp>
      <p:sp>
        <p:nvSpPr>
          <p:cNvPr id="5" name="Text 3"/>
          <p:cNvSpPr/>
          <p:nvPr/>
        </p:nvSpPr>
        <p:spPr>
          <a:xfrm>
            <a:off x="731520" y="1554480"/>
            <a:ext cx="777240" cy="777240"/>
          </a:xfrm>
          <a:prstGeom prst="rect">
            <a:avLst/>
          </a:prstGeom>
          <a:noFill/>
          <a:ln/>
        </p:spPr>
        <p:txBody>
          <a:bodyPr wrap="square" rtlCol="0" anchor="ctr"/>
          <a:lstStyle/>
          <a:p>
            <a:pPr algn="ctr" indent="0" marL="0">
              <a:buNone/>
            </a:pPr>
            <a:r>
              <a:rPr lang="en-US" sz="2800" b="1" dirty="0">
                <a:solidFill>
                  <a:srgbClr val="F39C12"/>
                </a:solidFill>
              </a:rPr>
              <a:t>1</a:t>
            </a:r>
            <a:endParaRPr lang="en-US" sz="2800" dirty="0"/>
          </a:p>
        </p:txBody>
      </p:sp>
      <p:sp>
        <p:nvSpPr>
          <p:cNvPr id="6" name="Text 4"/>
          <p:cNvSpPr/>
          <p:nvPr/>
        </p:nvSpPr>
        <p:spPr>
          <a:xfrm>
            <a:off x="1737360" y="1572768"/>
            <a:ext cx="2743200" cy="411480"/>
          </a:xfrm>
          <a:prstGeom prst="rect">
            <a:avLst/>
          </a:prstGeom>
          <a:noFill/>
          <a:ln/>
        </p:spPr>
        <p:txBody>
          <a:bodyPr wrap="square" rtlCol="0" anchor="ctr"/>
          <a:lstStyle/>
          <a:p>
            <a:pPr indent="0" marL="0">
              <a:buNone/>
            </a:pPr>
            <a:r>
              <a:rPr lang="en-US" sz="1700" b="1" dirty="0">
                <a:solidFill>
                  <a:srgbClr val="065A82"/>
                </a:solidFill>
              </a:rPr>
              <a:t>NORMALISE</a:t>
            </a:r>
            <a:endParaRPr lang="en-US" sz="1700" dirty="0"/>
          </a:p>
        </p:txBody>
      </p:sp>
      <p:sp>
        <p:nvSpPr>
          <p:cNvPr id="7" name="Text 5"/>
          <p:cNvSpPr/>
          <p:nvPr/>
        </p:nvSpPr>
        <p:spPr>
          <a:xfrm>
            <a:off x="1737360" y="1965960"/>
            <a:ext cx="9601200" cy="640080"/>
          </a:xfrm>
          <a:prstGeom prst="rect">
            <a:avLst/>
          </a:prstGeom>
          <a:noFill/>
          <a:ln/>
        </p:spPr>
        <p:txBody>
          <a:bodyPr wrap="square" rtlCol="0" anchor="t"/>
          <a:lstStyle/>
          <a:p>
            <a:pPr indent="0" marL="0">
              <a:buNone/>
            </a:pPr>
            <a:r>
              <a:rPr lang="en-US" sz="1300" dirty="0">
                <a:solidFill>
                  <a:srgbClr val="1A2A38"/>
                </a:solidFill>
              </a:rPr>
              <a:t>Min-max each compartment → 0–1 per station. Global normalisation across all years for temporal comparability.</a:t>
            </a:r>
            <a:endParaRPr lang="en-US" sz="1300" dirty="0"/>
          </a:p>
        </p:txBody>
      </p:sp>
      <p:sp>
        <p:nvSpPr>
          <p:cNvPr id="8" name="Shape 6"/>
          <p:cNvSpPr/>
          <p:nvPr/>
        </p:nvSpPr>
        <p:spPr>
          <a:xfrm>
            <a:off x="731520" y="2697480"/>
            <a:ext cx="777240" cy="777240"/>
          </a:xfrm>
          <a:prstGeom prst="ellipse">
            <a:avLst/>
          </a:prstGeom>
          <a:solidFill>
            <a:srgbClr val="065A82"/>
          </a:solidFill>
          <a:ln/>
        </p:spPr>
      </p:sp>
      <p:sp>
        <p:nvSpPr>
          <p:cNvPr id="9" name="Text 7"/>
          <p:cNvSpPr/>
          <p:nvPr/>
        </p:nvSpPr>
        <p:spPr>
          <a:xfrm>
            <a:off x="731520" y="2697480"/>
            <a:ext cx="777240" cy="777240"/>
          </a:xfrm>
          <a:prstGeom prst="rect">
            <a:avLst/>
          </a:prstGeom>
          <a:noFill/>
          <a:ln/>
        </p:spPr>
        <p:txBody>
          <a:bodyPr wrap="square" rtlCol="0" anchor="ctr"/>
          <a:lstStyle/>
          <a:p>
            <a:pPr algn="ctr" indent="0" marL="0">
              <a:buNone/>
            </a:pPr>
            <a:r>
              <a:rPr lang="en-US" sz="2800" b="1" dirty="0">
                <a:solidFill>
                  <a:srgbClr val="F39C12"/>
                </a:solidFill>
              </a:rPr>
              <a:t>2</a:t>
            </a:r>
            <a:endParaRPr lang="en-US" sz="2800" dirty="0"/>
          </a:p>
        </p:txBody>
      </p:sp>
      <p:sp>
        <p:nvSpPr>
          <p:cNvPr id="10" name="Text 8"/>
          <p:cNvSpPr/>
          <p:nvPr/>
        </p:nvSpPr>
        <p:spPr>
          <a:xfrm>
            <a:off x="1737360" y="2715768"/>
            <a:ext cx="2743200" cy="411480"/>
          </a:xfrm>
          <a:prstGeom prst="rect">
            <a:avLst/>
          </a:prstGeom>
          <a:noFill/>
          <a:ln/>
        </p:spPr>
        <p:txBody>
          <a:bodyPr wrap="square" rtlCol="0" anchor="ctr"/>
          <a:lstStyle/>
          <a:p>
            <a:pPr indent="0" marL="0">
              <a:buNone/>
            </a:pPr>
            <a:r>
              <a:rPr lang="en-US" sz="1700" b="1" dirty="0">
                <a:solidFill>
                  <a:srgbClr val="065A82"/>
                </a:solidFill>
              </a:rPr>
              <a:t>INTERPOLATE</a:t>
            </a:r>
            <a:endParaRPr lang="en-US" sz="1700" dirty="0"/>
          </a:p>
        </p:txBody>
      </p:sp>
      <p:sp>
        <p:nvSpPr>
          <p:cNvPr id="11" name="Text 9"/>
          <p:cNvSpPr/>
          <p:nvPr/>
        </p:nvSpPr>
        <p:spPr>
          <a:xfrm>
            <a:off x="1737360" y="3108960"/>
            <a:ext cx="9601200" cy="640080"/>
          </a:xfrm>
          <a:prstGeom prst="rect">
            <a:avLst/>
          </a:prstGeom>
          <a:noFill/>
          <a:ln/>
        </p:spPr>
        <p:txBody>
          <a:bodyPr wrap="square" rtlCol="0" anchor="t"/>
          <a:lstStyle/>
          <a:p>
            <a:pPr indent="0" marL="0">
              <a:buNone/>
            </a:pPr>
            <a:r>
              <a:rPr lang="en-US" sz="1300" dirty="0">
                <a:solidFill>
                  <a:srgbClr val="1A2A38"/>
                </a:solidFill>
              </a:rPr>
              <a:t>IDW on regular 0.12° (~12 km) grid over Sardinia + buffer. 289 cells, coastal-masked.</a:t>
            </a:r>
            <a:endParaRPr lang="en-US" sz="1300" dirty="0"/>
          </a:p>
        </p:txBody>
      </p:sp>
      <p:sp>
        <p:nvSpPr>
          <p:cNvPr id="12" name="Shape 10"/>
          <p:cNvSpPr/>
          <p:nvPr/>
        </p:nvSpPr>
        <p:spPr>
          <a:xfrm>
            <a:off x="731520" y="3840480"/>
            <a:ext cx="777240" cy="777240"/>
          </a:xfrm>
          <a:prstGeom prst="ellipse">
            <a:avLst/>
          </a:prstGeom>
          <a:solidFill>
            <a:srgbClr val="065A82"/>
          </a:solidFill>
          <a:ln/>
        </p:spPr>
      </p:sp>
      <p:sp>
        <p:nvSpPr>
          <p:cNvPr id="13" name="Text 11"/>
          <p:cNvSpPr/>
          <p:nvPr/>
        </p:nvSpPr>
        <p:spPr>
          <a:xfrm>
            <a:off x="731520" y="3840480"/>
            <a:ext cx="777240" cy="777240"/>
          </a:xfrm>
          <a:prstGeom prst="rect">
            <a:avLst/>
          </a:prstGeom>
          <a:noFill/>
          <a:ln/>
        </p:spPr>
        <p:txBody>
          <a:bodyPr wrap="square" rtlCol="0" anchor="ctr"/>
          <a:lstStyle/>
          <a:p>
            <a:pPr algn="ctr" indent="0" marL="0">
              <a:buNone/>
            </a:pPr>
            <a:r>
              <a:rPr lang="en-US" sz="2800" b="1" dirty="0">
                <a:solidFill>
                  <a:srgbClr val="F39C12"/>
                </a:solidFill>
              </a:rPr>
              <a:t>3</a:t>
            </a:r>
            <a:endParaRPr lang="en-US" sz="2800" dirty="0"/>
          </a:p>
        </p:txBody>
      </p:sp>
      <p:sp>
        <p:nvSpPr>
          <p:cNvPr id="14" name="Text 12"/>
          <p:cNvSpPr/>
          <p:nvPr/>
        </p:nvSpPr>
        <p:spPr>
          <a:xfrm>
            <a:off x="1737360" y="3858768"/>
            <a:ext cx="2743200" cy="411480"/>
          </a:xfrm>
          <a:prstGeom prst="rect">
            <a:avLst/>
          </a:prstGeom>
          <a:noFill/>
          <a:ln/>
        </p:spPr>
        <p:txBody>
          <a:bodyPr wrap="square" rtlCol="0" anchor="ctr"/>
          <a:lstStyle/>
          <a:p>
            <a:pPr indent="0" marL="0">
              <a:buNone/>
            </a:pPr>
            <a:r>
              <a:rPr lang="en-US" sz="1700" b="1" dirty="0">
                <a:solidFill>
                  <a:srgbClr val="065A82"/>
                </a:solidFill>
              </a:rPr>
              <a:t>COMPOSITE</a:t>
            </a:r>
            <a:endParaRPr lang="en-US" sz="1700" dirty="0"/>
          </a:p>
        </p:txBody>
      </p:sp>
      <p:sp>
        <p:nvSpPr>
          <p:cNvPr id="15" name="Text 13"/>
          <p:cNvSpPr/>
          <p:nvPr/>
        </p:nvSpPr>
        <p:spPr>
          <a:xfrm>
            <a:off x="1737360" y="4251960"/>
            <a:ext cx="9601200" cy="640080"/>
          </a:xfrm>
          <a:prstGeom prst="rect">
            <a:avLst/>
          </a:prstGeom>
          <a:noFill/>
          <a:ln/>
        </p:spPr>
        <p:txBody>
          <a:bodyPr wrap="square" rtlCol="0" anchor="t"/>
          <a:lstStyle/>
          <a:p>
            <a:pPr indent="0" marL="0">
              <a:buNone/>
            </a:pPr>
            <a:r>
              <a:rPr lang="en-US" sz="1300" dirty="0">
                <a:solidFill>
                  <a:srgbClr val="1A2A38"/>
                </a:solidFill>
              </a:rPr>
              <a:t>Weighted mean: Beach 35% · Plastic 25% · Currents 20% · Bio 20% → hazard score per cell.</a:t>
            </a:r>
            <a:endParaRPr lang="en-US" sz="1300" dirty="0"/>
          </a:p>
        </p:txBody>
      </p:sp>
      <p:sp>
        <p:nvSpPr>
          <p:cNvPr id="16" name="Shape 14"/>
          <p:cNvSpPr/>
          <p:nvPr/>
        </p:nvSpPr>
        <p:spPr>
          <a:xfrm>
            <a:off x="731520" y="4983480"/>
            <a:ext cx="777240" cy="777240"/>
          </a:xfrm>
          <a:prstGeom prst="ellipse">
            <a:avLst/>
          </a:prstGeom>
          <a:solidFill>
            <a:srgbClr val="065A82"/>
          </a:solidFill>
          <a:ln/>
        </p:spPr>
      </p:sp>
      <p:sp>
        <p:nvSpPr>
          <p:cNvPr id="17" name="Text 15"/>
          <p:cNvSpPr/>
          <p:nvPr/>
        </p:nvSpPr>
        <p:spPr>
          <a:xfrm>
            <a:off x="731520" y="4983480"/>
            <a:ext cx="777240" cy="777240"/>
          </a:xfrm>
          <a:prstGeom prst="rect">
            <a:avLst/>
          </a:prstGeom>
          <a:noFill/>
          <a:ln/>
        </p:spPr>
        <p:txBody>
          <a:bodyPr wrap="square" rtlCol="0" anchor="ctr"/>
          <a:lstStyle/>
          <a:p>
            <a:pPr algn="ctr" indent="0" marL="0">
              <a:buNone/>
            </a:pPr>
            <a:r>
              <a:rPr lang="en-US" sz="2800" b="1" dirty="0">
                <a:solidFill>
                  <a:srgbClr val="F39C12"/>
                </a:solidFill>
              </a:rPr>
              <a:t>4</a:t>
            </a:r>
            <a:endParaRPr lang="en-US" sz="2800" dirty="0"/>
          </a:p>
        </p:txBody>
      </p:sp>
      <p:sp>
        <p:nvSpPr>
          <p:cNvPr id="18" name="Text 16"/>
          <p:cNvSpPr/>
          <p:nvPr/>
        </p:nvSpPr>
        <p:spPr>
          <a:xfrm>
            <a:off x="1737360" y="5001768"/>
            <a:ext cx="2743200" cy="411480"/>
          </a:xfrm>
          <a:prstGeom prst="rect">
            <a:avLst/>
          </a:prstGeom>
          <a:noFill/>
          <a:ln/>
        </p:spPr>
        <p:txBody>
          <a:bodyPr wrap="square" rtlCol="0" anchor="ctr"/>
          <a:lstStyle/>
          <a:p>
            <a:pPr indent="0" marL="0">
              <a:buNone/>
            </a:pPr>
            <a:r>
              <a:rPr lang="en-US" sz="1700" b="1" dirty="0">
                <a:solidFill>
                  <a:srgbClr val="065A82"/>
                </a:solidFill>
              </a:rPr>
              <a:t>CLASSIFY</a:t>
            </a:r>
            <a:endParaRPr lang="en-US" sz="1700" dirty="0"/>
          </a:p>
        </p:txBody>
      </p:sp>
      <p:sp>
        <p:nvSpPr>
          <p:cNvPr id="19" name="Text 17"/>
          <p:cNvSpPr/>
          <p:nvPr/>
        </p:nvSpPr>
        <p:spPr>
          <a:xfrm>
            <a:off x="1737360" y="5394960"/>
            <a:ext cx="9601200" cy="640080"/>
          </a:xfrm>
          <a:prstGeom prst="rect">
            <a:avLst/>
          </a:prstGeom>
          <a:noFill/>
          <a:ln/>
        </p:spPr>
        <p:txBody>
          <a:bodyPr wrap="square" rtlCol="0" anchor="t"/>
          <a:lstStyle/>
          <a:p>
            <a:pPr indent="0" marL="0">
              <a:buNone/>
            </a:pPr>
            <a:r>
              <a:rPr lang="en-US" sz="1300" dirty="0">
                <a:solidFill>
                  <a:srgbClr val="1A2A38"/>
                </a:solidFill>
              </a:rPr>
              <a:t>5 classes: Very Low &lt;0.2 · Low · Medium · High · Very High &gt;0.8.</a:t>
            </a:r>
            <a:endParaRPr lang="en-US" sz="1300" dirty="0"/>
          </a:p>
        </p:txBody>
      </p:sp>
      <p:sp>
        <p:nvSpPr>
          <p:cNvPr id="20" name="Shape 18"/>
          <p:cNvSpPr/>
          <p:nvPr/>
        </p:nvSpPr>
        <p:spPr>
          <a:xfrm>
            <a:off x="731520" y="6172200"/>
            <a:ext cx="320040" cy="274320"/>
          </a:xfrm>
          <a:prstGeom prst="rect">
            <a:avLst/>
          </a:prstGeom>
          <a:solidFill>
            <a:srgbClr val="1A9641"/>
          </a:solidFill>
          <a:ln w="6350">
            <a:solidFill>
              <a:srgbClr val="CCCCCC"/>
            </a:solidFill>
            <a:prstDash val="solid"/>
          </a:ln>
        </p:spPr>
      </p:sp>
      <p:sp>
        <p:nvSpPr>
          <p:cNvPr id="21" name="Text 19"/>
          <p:cNvSpPr/>
          <p:nvPr/>
        </p:nvSpPr>
        <p:spPr>
          <a:xfrm>
            <a:off x="1115568" y="6153912"/>
            <a:ext cx="1691640" cy="320040"/>
          </a:xfrm>
          <a:prstGeom prst="rect">
            <a:avLst/>
          </a:prstGeom>
          <a:noFill/>
          <a:ln/>
        </p:spPr>
        <p:txBody>
          <a:bodyPr wrap="square" rtlCol="0" anchor="ctr"/>
          <a:lstStyle/>
          <a:p>
            <a:pPr indent="0" marL="0">
              <a:buNone/>
            </a:pPr>
            <a:r>
              <a:rPr lang="en-US" sz="1100" dirty="0">
                <a:solidFill>
                  <a:srgbClr val="1A2A38"/>
                </a:solidFill>
              </a:rPr>
              <a:t>Very Low</a:t>
            </a:r>
            <a:endParaRPr lang="en-US" sz="1100" dirty="0"/>
          </a:p>
        </p:txBody>
      </p:sp>
      <p:sp>
        <p:nvSpPr>
          <p:cNvPr id="22" name="Shape 20"/>
          <p:cNvSpPr/>
          <p:nvPr/>
        </p:nvSpPr>
        <p:spPr>
          <a:xfrm>
            <a:off x="2880360" y="6172200"/>
            <a:ext cx="320040" cy="274320"/>
          </a:xfrm>
          <a:prstGeom prst="rect">
            <a:avLst/>
          </a:prstGeom>
          <a:solidFill>
            <a:srgbClr val="A6D96A"/>
          </a:solidFill>
          <a:ln w="6350">
            <a:solidFill>
              <a:srgbClr val="CCCCCC"/>
            </a:solidFill>
            <a:prstDash val="solid"/>
          </a:ln>
        </p:spPr>
      </p:sp>
      <p:sp>
        <p:nvSpPr>
          <p:cNvPr id="23" name="Text 21"/>
          <p:cNvSpPr/>
          <p:nvPr/>
        </p:nvSpPr>
        <p:spPr>
          <a:xfrm>
            <a:off x="3264408" y="6153912"/>
            <a:ext cx="1691640" cy="320040"/>
          </a:xfrm>
          <a:prstGeom prst="rect">
            <a:avLst/>
          </a:prstGeom>
          <a:noFill/>
          <a:ln/>
        </p:spPr>
        <p:txBody>
          <a:bodyPr wrap="square" rtlCol="0" anchor="ctr"/>
          <a:lstStyle/>
          <a:p>
            <a:pPr indent="0" marL="0">
              <a:buNone/>
            </a:pPr>
            <a:r>
              <a:rPr lang="en-US" sz="1100" dirty="0">
                <a:solidFill>
                  <a:srgbClr val="1A2A38"/>
                </a:solidFill>
              </a:rPr>
              <a:t>Low</a:t>
            </a:r>
            <a:endParaRPr lang="en-US" sz="1100" dirty="0"/>
          </a:p>
        </p:txBody>
      </p:sp>
      <p:sp>
        <p:nvSpPr>
          <p:cNvPr id="24" name="Shape 22"/>
          <p:cNvSpPr/>
          <p:nvPr/>
        </p:nvSpPr>
        <p:spPr>
          <a:xfrm>
            <a:off x="5029200" y="6172200"/>
            <a:ext cx="320040" cy="274320"/>
          </a:xfrm>
          <a:prstGeom prst="rect">
            <a:avLst/>
          </a:prstGeom>
          <a:solidFill>
            <a:srgbClr val="FFFFBF"/>
          </a:solidFill>
          <a:ln w="6350">
            <a:solidFill>
              <a:srgbClr val="CCCCCC"/>
            </a:solidFill>
            <a:prstDash val="solid"/>
          </a:ln>
        </p:spPr>
      </p:sp>
      <p:sp>
        <p:nvSpPr>
          <p:cNvPr id="25" name="Text 23"/>
          <p:cNvSpPr/>
          <p:nvPr/>
        </p:nvSpPr>
        <p:spPr>
          <a:xfrm>
            <a:off x="5413248" y="6153912"/>
            <a:ext cx="1691640" cy="320040"/>
          </a:xfrm>
          <a:prstGeom prst="rect">
            <a:avLst/>
          </a:prstGeom>
          <a:noFill/>
          <a:ln/>
        </p:spPr>
        <p:txBody>
          <a:bodyPr wrap="square" rtlCol="0" anchor="ctr"/>
          <a:lstStyle/>
          <a:p>
            <a:pPr indent="0" marL="0">
              <a:buNone/>
            </a:pPr>
            <a:r>
              <a:rPr lang="en-US" sz="1100" dirty="0">
                <a:solidFill>
                  <a:srgbClr val="1A2A38"/>
                </a:solidFill>
              </a:rPr>
              <a:t>Medium</a:t>
            </a:r>
            <a:endParaRPr lang="en-US" sz="1100" dirty="0"/>
          </a:p>
        </p:txBody>
      </p:sp>
      <p:sp>
        <p:nvSpPr>
          <p:cNvPr id="26" name="Shape 24"/>
          <p:cNvSpPr/>
          <p:nvPr/>
        </p:nvSpPr>
        <p:spPr>
          <a:xfrm>
            <a:off x="7178040" y="6172200"/>
            <a:ext cx="320040" cy="274320"/>
          </a:xfrm>
          <a:prstGeom prst="rect">
            <a:avLst/>
          </a:prstGeom>
          <a:solidFill>
            <a:srgbClr val="FDAE61"/>
          </a:solidFill>
          <a:ln w="6350">
            <a:solidFill>
              <a:srgbClr val="CCCCCC"/>
            </a:solidFill>
            <a:prstDash val="solid"/>
          </a:ln>
        </p:spPr>
      </p:sp>
      <p:sp>
        <p:nvSpPr>
          <p:cNvPr id="27" name="Text 25"/>
          <p:cNvSpPr/>
          <p:nvPr/>
        </p:nvSpPr>
        <p:spPr>
          <a:xfrm>
            <a:off x="7562088" y="6153912"/>
            <a:ext cx="1691640" cy="320040"/>
          </a:xfrm>
          <a:prstGeom prst="rect">
            <a:avLst/>
          </a:prstGeom>
          <a:noFill/>
          <a:ln/>
        </p:spPr>
        <p:txBody>
          <a:bodyPr wrap="square" rtlCol="0" anchor="ctr"/>
          <a:lstStyle/>
          <a:p>
            <a:pPr indent="0" marL="0">
              <a:buNone/>
            </a:pPr>
            <a:r>
              <a:rPr lang="en-US" sz="1100" dirty="0">
                <a:solidFill>
                  <a:srgbClr val="1A2A38"/>
                </a:solidFill>
              </a:rPr>
              <a:t>High</a:t>
            </a:r>
            <a:endParaRPr lang="en-US" sz="1100" dirty="0"/>
          </a:p>
        </p:txBody>
      </p:sp>
      <p:sp>
        <p:nvSpPr>
          <p:cNvPr id="28" name="Shape 26"/>
          <p:cNvSpPr/>
          <p:nvPr/>
        </p:nvSpPr>
        <p:spPr>
          <a:xfrm>
            <a:off x="9326880" y="6172200"/>
            <a:ext cx="320040" cy="274320"/>
          </a:xfrm>
          <a:prstGeom prst="rect">
            <a:avLst/>
          </a:prstGeom>
          <a:solidFill>
            <a:srgbClr val="D7191C"/>
          </a:solidFill>
          <a:ln w="6350">
            <a:solidFill>
              <a:srgbClr val="CCCCCC"/>
            </a:solidFill>
            <a:prstDash val="solid"/>
          </a:ln>
        </p:spPr>
      </p:sp>
      <p:sp>
        <p:nvSpPr>
          <p:cNvPr id="29" name="Text 27"/>
          <p:cNvSpPr/>
          <p:nvPr/>
        </p:nvSpPr>
        <p:spPr>
          <a:xfrm>
            <a:off x="9710928" y="6153912"/>
            <a:ext cx="1691640" cy="320040"/>
          </a:xfrm>
          <a:prstGeom prst="rect">
            <a:avLst/>
          </a:prstGeom>
          <a:noFill/>
          <a:ln/>
        </p:spPr>
        <p:txBody>
          <a:bodyPr wrap="square" rtlCol="0" anchor="ctr"/>
          <a:lstStyle/>
          <a:p>
            <a:pPr indent="0" marL="0">
              <a:buNone/>
            </a:pPr>
            <a:r>
              <a:rPr lang="en-US" sz="1100" dirty="0">
                <a:solidFill>
                  <a:srgbClr val="1A2A38"/>
                </a:solidFill>
              </a:rPr>
              <a:t>Very High</a:t>
            </a:r>
            <a:endParaRPr lang="en-US" sz="1100" dirty="0"/>
          </a:p>
        </p:txBody>
      </p:sp>
      <p:sp>
        <p:nvSpPr>
          <p:cNvPr id="30" name="Text 28"/>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31" name="Text 29"/>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18</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BEACH · FLOATING · COMPOSITE</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Composite Hazard Index — Map</a:t>
            </a:r>
            <a:endParaRPr lang="en-US" sz="2800" dirty="0"/>
          </a:p>
        </p:txBody>
      </p:sp>
      <p:pic>
        <p:nvPicPr>
          <p:cNvPr id="5" name="Image 0" descr="/Users/danieleuras/Documents/GitHub/hhe-labsardinia/data/figures/hazard_index_map.png">    </p:cNvPr>
          <p:cNvPicPr>
            <a:picLocks noChangeAspect="1"/>
          </p:cNvPicPr>
          <p:nvPr/>
        </p:nvPicPr>
        <p:blipFill>
          <a:blip r:embed="rId1"/>
          <a:stretch>
            <a:fillRect/>
          </a:stretch>
        </p:blipFill>
        <p:spPr>
          <a:xfrm>
            <a:off x="1325880" y="1417320"/>
            <a:ext cx="8961120" cy="4572000"/>
          </a:xfrm>
          <a:prstGeom prst="rect">
            <a:avLst/>
          </a:prstGeom>
        </p:spPr>
      </p:pic>
      <p:sp>
        <p:nvSpPr>
          <p:cNvPr id="6" name="Text 3"/>
          <p:cNvSpPr/>
          <p:nvPr/>
        </p:nvSpPr>
        <p:spPr>
          <a:xfrm>
            <a:off x="548640" y="6172200"/>
            <a:ext cx="11155680" cy="365760"/>
          </a:xfrm>
          <a:prstGeom prst="rect">
            <a:avLst/>
          </a:prstGeom>
          <a:noFill/>
          <a:ln/>
        </p:spPr>
        <p:txBody>
          <a:bodyPr wrap="square" rtlCol="0" anchor="ctr"/>
          <a:lstStyle/>
          <a:p>
            <a:pPr algn="ctr" indent="0" marL="0">
              <a:buNone/>
            </a:pPr>
            <a:r>
              <a:rPr lang="en-US" sz="1200" i="1" dirty="0">
                <a:solidFill>
                  <a:srgbClr val="6B7B8C"/>
                </a:solidFill>
              </a:rPr>
              <a:t>Beach score · Floating score · Composite hazard.   ● beach stations   ▲ offshore stations</a:t>
            </a:r>
            <a:endParaRPr lang="en-US" sz="1200" dirty="0"/>
          </a:p>
        </p:txBody>
      </p:sp>
      <p:sp>
        <p:nvSpPr>
          <p:cNvPr id="7" name="Text 4"/>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8" name="Text 5"/>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19</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Temporal Evolution — Hazard 2018–2023</a:t>
            </a:r>
            <a:endParaRPr lang="en-US" sz="2800" dirty="0"/>
          </a:p>
        </p:txBody>
      </p:sp>
      <p:pic>
        <p:nvPicPr>
          <p:cNvPr id="4" name="Image 0" descr="/Users/danieleuras/Documents/GitHub/hhe-labsardinia/data/figures/hazard_temporal_2x2.png">    </p:cNvPr>
          <p:cNvPicPr>
            <a:picLocks noChangeAspect="1"/>
          </p:cNvPicPr>
          <p:nvPr/>
        </p:nvPicPr>
        <p:blipFill>
          <a:blip r:embed="rId1"/>
          <a:stretch>
            <a:fillRect/>
          </a:stretch>
        </p:blipFill>
        <p:spPr>
          <a:xfrm>
            <a:off x="3931920" y="1459230"/>
            <a:ext cx="4572000" cy="4762500"/>
          </a:xfrm>
          <a:prstGeom prst="rect">
            <a:avLst/>
          </a:prstGeom>
        </p:spPr>
      </p:pic>
      <p:sp>
        <p:nvSpPr>
          <p:cNvPr id="5" name="Text 2"/>
          <p:cNvSpPr/>
          <p:nvPr/>
        </p:nvSpPr>
        <p:spPr>
          <a:xfrm>
            <a:off x="640080" y="1645920"/>
            <a:ext cx="3108960" cy="365760"/>
          </a:xfrm>
          <a:prstGeom prst="rect">
            <a:avLst/>
          </a:prstGeom>
          <a:noFill/>
          <a:ln/>
        </p:spPr>
        <p:txBody>
          <a:bodyPr wrap="square" rtlCol="0" anchor="ctr"/>
          <a:lstStyle/>
          <a:p>
            <a:pPr indent="0" marL="0">
              <a:buNone/>
            </a:pPr>
            <a:r>
              <a:rPr lang="en-US" sz="1300" b="1" dirty="0">
                <a:solidFill>
                  <a:srgbClr val="1C7293"/>
                </a:solidFill>
              </a:rPr>
              <a:t>PATTERNS OVER TIME</a:t>
            </a:r>
            <a:endParaRPr lang="en-US" sz="1300" dirty="0"/>
          </a:p>
        </p:txBody>
      </p:sp>
      <p:sp>
        <p:nvSpPr>
          <p:cNvPr id="6" name="Text 3"/>
          <p:cNvSpPr/>
          <p:nvPr/>
        </p:nvSpPr>
        <p:spPr>
          <a:xfrm>
            <a:off x="640080" y="2103120"/>
            <a:ext cx="320040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1A2A38"/>
                </a:solidFill>
              </a:rPr>
              <a:t>Globally-normalised → colours comparable across years</a:t>
            </a:r>
            <a:endParaRPr lang="en-US" sz="1300" dirty="0"/>
          </a:p>
          <a:p>
            <a:pPr marL="342900" indent="-342900">
              <a:lnSpc>
                <a:spcPct val="120000"/>
              </a:lnSpc>
              <a:spcAft>
                <a:spcPts val="1200"/>
              </a:spcAft>
              <a:buSzPct val="100000"/>
              <a:buChar char="•"/>
            </a:pPr>
            <a:r>
              <a:rPr lang="en-US" sz="1300" dirty="0">
                <a:solidFill>
                  <a:srgbClr val="1A2A38"/>
                </a:solidFill>
              </a:rPr>
              <a:t>West-coast corridor persists every year</a:t>
            </a:r>
            <a:endParaRPr lang="en-US" sz="1300" dirty="0"/>
          </a:p>
          <a:p>
            <a:pPr marL="342900" indent="-342900">
              <a:lnSpc>
                <a:spcPct val="120000"/>
              </a:lnSpc>
              <a:spcAft>
                <a:spcPts val="1200"/>
              </a:spcAft>
              <a:buSzPct val="100000"/>
              <a:buChar char="•"/>
            </a:pPr>
            <a:r>
              <a:rPr lang="en-US" sz="1300" dirty="0">
                <a:solidFill>
                  <a:srgbClr val="1A2A38"/>
                </a:solidFill>
              </a:rPr>
              <a:t>Bio compartment lifts 2021–2022 hazard</a:t>
            </a:r>
            <a:endParaRPr lang="en-US" sz="1300" dirty="0"/>
          </a:p>
          <a:p>
            <a:pPr marL="342900" indent="-342900">
              <a:lnSpc>
                <a:spcPct val="120000"/>
              </a:lnSpc>
              <a:spcAft>
                <a:spcPts val="1200"/>
              </a:spcAft>
              <a:buSzPct val="100000"/>
              <a:buChar char="•"/>
            </a:pPr>
            <a:r>
              <a:rPr lang="en-US" sz="1300" dirty="0">
                <a:solidFill>
                  <a:srgbClr val="1A2A38"/>
                </a:solidFill>
              </a:rPr>
              <a:t>No clear monotonic trend — inter-annual variability dominates</a:t>
            </a:r>
            <a:endParaRPr lang="en-US" sz="1300" dirty="0"/>
          </a:p>
        </p:txBody>
      </p:sp>
      <p:sp>
        <p:nvSpPr>
          <p:cNvPr id="7" name="Text 4"/>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8" name="Text 5"/>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20</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126 COASTAL COMUNI</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Coastal Segment Refinement</a:t>
            </a:r>
            <a:endParaRPr lang="en-US" sz="2800" dirty="0"/>
          </a:p>
        </p:txBody>
      </p:sp>
      <p:pic>
        <p:nvPicPr>
          <p:cNvPr id="5" name="Image 0" descr="/Users/danieleuras/Documents/GitHub/hhe-labsardinia/data/figures/comuni_hazard_map.png">    </p:cNvPr>
          <p:cNvPicPr>
            <a:picLocks noChangeAspect="1"/>
          </p:cNvPicPr>
          <p:nvPr/>
        </p:nvPicPr>
        <p:blipFill>
          <a:blip r:embed="rId1"/>
          <a:stretch>
            <a:fillRect/>
          </a:stretch>
        </p:blipFill>
        <p:spPr>
          <a:xfrm>
            <a:off x="769925" y="1417320"/>
            <a:ext cx="6323990" cy="4754880"/>
          </a:xfrm>
          <a:prstGeom prst="rect">
            <a:avLst/>
          </a:prstGeom>
        </p:spPr>
      </p:pic>
      <p:sp>
        <p:nvSpPr>
          <p:cNvPr id="6" name="Text 3"/>
          <p:cNvSpPr/>
          <p:nvPr/>
        </p:nvSpPr>
        <p:spPr>
          <a:xfrm>
            <a:off x="7680960" y="1645920"/>
            <a:ext cx="4114800" cy="365760"/>
          </a:xfrm>
          <a:prstGeom prst="rect">
            <a:avLst/>
          </a:prstGeom>
          <a:noFill/>
          <a:ln/>
        </p:spPr>
        <p:txBody>
          <a:bodyPr wrap="square" rtlCol="0" anchor="ctr"/>
          <a:lstStyle/>
          <a:p>
            <a:pPr indent="0" marL="0">
              <a:buNone/>
            </a:pPr>
            <a:r>
              <a:rPr lang="en-US" sz="1300" b="1" dirty="0">
                <a:solidFill>
                  <a:srgbClr val="1C7293"/>
                </a:solidFill>
              </a:rPr>
              <a:t>FROM GRID TO ADMIN UNITS</a:t>
            </a:r>
            <a:endParaRPr lang="en-US" sz="1300" dirty="0"/>
          </a:p>
        </p:txBody>
      </p:sp>
      <p:sp>
        <p:nvSpPr>
          <p:cNvPr id="7" name="Text 4"/>
          <p:cNvSpPr/>
          <p:nvPr/>
        </p:nvSpPr>
        <p:spPr>
          <a:xfrm>
            <a:off x="7680960" y="2103120"/>
            <a:ext cx="411480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1A2A38"/>
                </a:solidFill>
              </a:rPr>
              <a:t>Grid cells aggregated into 126 coastal municipalities</a:t>
            </a:r>
            <a:endParaRPr lang="en-US" sz="1300" dirty="0"/>
          </a:p>
          <a:p>
            <a:pPr marL="342900" indent="-342900">
              <a:lnSpc>
                <a:spcPct val="120000"/>
              </a:lnSpc>
              <a:spcAft>
                <a:spcPts val="1200"/>
              </a:spcAft>
              <a:buSzPct val="100000"/>
              <a:buChar char="•"/>
            </a:pPr>
            <a:r>
              <a:rPr lang="en-US" sz="1300" dirty="0">
                <a:solidFill>
                  <a:srgbClr val="1A2A38"/>
                </a:solidFill>
              </a:rPr>
              <a:t>Shapely point-in-polygon + nearest-centroid fallback</a:t>
            </a:r>
            <a:endParaRPr lang="en-US" sz="1300" dirty="0"/>
          </a:p>
          <a:p>
            <a:pPr marL="342900" indent="-342900">
              <a:lnSpc>
                <a:spcPct val="120000"/>
              </a:lnSpc>
              <a:spcAft>
                <a:spcPts val="1200"/>
              </a:spcAft>
              <a:buSzPct val="100000"/>
              <a:buChar char="•"/>
            </a:pPr>
            <a:r>
              <a:rPr lang="en-US" sz="1300" dirty="0">
                <a:solidFill>
                  <a:srgbClr val="1A2A38"/>
                </a:solidFill>
              </a:rPr>
              <a:t>Translates hazard into actionable management units</a:t>
            </a:r>
            <a:endParaRPr lang="en-US" sz="1300" dirty="0"/>
          </a:p>
          <a:p>
            <a:pPr marL="342900" indent="-342900">
              <a:lnSpc>
                <a:spcPct val="120000"/>
              </a:lnSpc>
              <a:spcAft>
                <a:spcPts val="1200"/>
              </a:spcAft>
              <a:buSzPct val="100000"/>
              <a:buChar char="•"/>
            </a:pPr>
            <a:r>
              <a:rPr lang="en-US" sz="1300" dirty="0">
                <a:solidFill>
                  <a:srgbClr val="1A2A38"/>
                </a:solidFill>
              </a:rPr>
              <a:t>Supports local policy &amp; clean-up prioritisation</a:t>
            </a:r>
            <a:endParaRPr lang="en-US" sz="1300" dirty="0"/>
          </a:p>
        </p:txBody>
      </p:sp>
      <p:sp>
        <p:nvSpPr>
          <p:cNvPr id="8" name="Text 5"/>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9" name="Text 6"/>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21</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65A82"/>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65A82"/>
          </a:solidFill>
          <a:ln/>
        </p:spPr>
      </p:sp>
      <p:sp>
        <p:nvSpPr>
          <p:cNvPr id="3" name="Text 1"/>
          <p:cNvSpPr/>
          <p:nvPr/>
        </p:nvSpPr>
        <p:spPr>
          <a:xfrm>
            <a:off x="365760" y="182880"/>
            <a:ext cx="5486400" cy="5486400"/>
          </a:xfrm>
          <a:prstGeom prst="rect">
            <a:avLst/>
          </a:prstGeom>
          <a:noFill/>
          <a:ln/>
        </p:spPr>
        <p:txBody>
          <a:bodyPr wrap="square" rtlCol="0" anchor="ctr"/>
          <a:lstStyle/>
          <a:p>
            <a:pPr algn="l" indent="0" marL="0">
              <a:buNone/>
            </a:pPr>
            <a:r>
              <a:rPr lang="en-US" sz="30000" b="1" dirty="0">
                <a:solidFill>
                  <a:srgbClr val="1C7293">
                    <a:alpha val="30000"/>
                  </a:srgbClr>
                </a:solidFill>
              </a:rPr>
              <a:t>4</a:t>
            </a:r>
            <a:endParaRPr lang="en-US" sz="30000" dirty="0"/>
          </a:p>
        </p:txBody>
      </p:sp>
      <p:sp>
        <p:nvSpPr>
          <p:cNvPr id="4" name="Text 2"/>
          <p:cNvSpPr/>
          <p:nvPr/>
        </p:nvSpPr>
        <p:spPr>
          <a:xfrm>
            <a:off x="822960" y="2743200"/>
            <a:ext cx="10515600" cy="914400"/>
          </a:xfrm>
          <a:prstGeom prst="rect">
            <a:avLst/>
          </a:prstGeom>
          <a:noFill/>
          <a:ln/>
        </p:spPr>
        <p:txBody>
          <a:bodyPr wrap="square" rtlCol="0" anchor="ctr"/>
          <a:lstStyle/>
          <a:p>
            <a:pPr indent="0" marL="0">
              <a:buNone/>
            </a:pPr>
            <a:r>
              <a:rPr lang="en-US" sz="4000" b="1" dirty="0">
                <a:solidFill>
                  <a:srgbClr val="FFFFFF"/>
                </a:solidFill>
              </a:rPr>
              <a:t>Spatial Autocorrelation</a:t>
            </a:r>
            <a:endParaRPr lang="en-US" sz="4000" dirty="0"/>
          </a:p>
        </p:txBody>
      </p:sp>
      <p:sp>
        <p:nvSpPr>
          <p:cNvPr id="5" name="Shape 3"/>
          <p:cNvSpPr/>
          <p:nvPr/>
        </p:nvSpPr>
        <p:spPr>
          <a:xfrm>
            <a:off x="914400" y="3703320"/>
            <a:ext cx="2011680" cy="0"/>
          </a:xfrm>
          <a:prstGeom prst="line">
            <a:avLst/>
          </a:prstGeom>
          <a:noFill/>
          <a:ln w="38100">
            <a:solidFill>
              <a:srgbClr val="F39C12"/>
            </a:solidFill>
            <a:prstDash val="solid"/>
          </a:ln>
        </p:spPr>
      </p:sp>
      <p:sp>
        <p:nvSpPr>
          <p:cNvPr id="6" name="Text 4"/>
          <p:cNvSpPr/>
          <p:nvPr/>
        </p:nvSpPr>
        <p:spPr>
          <a:xfrm>
            <a:off x="868680" y="3840480"/>
            <a:ext cx="10515600" cy="548640"/>
          </a:xfrm>
          <a:prstGeom prst="rect">
            <a:avLst/>
          </a:prstGeom>
          <a:noFill/>
          <a:ln/>
        </p:spPr>
        <p:txBody>
          <a:bodyPr wrap="square" rtlCol="0" anchor="ctr"/>
          <a:lstStyle/>
          <a:p>
            <a:pPr indent="0" marL="0">
              <a:buNone/>
            </a:pPr>
            <a:r>
              <a:rPr lang="en-US" sz="1600" dirty="0">
                <a:solidFill>
                  <a:srgbClr val="CADCFC"/>
                </a:solidFill>
              </a:rPr>
              <a:t>Moran’s I · LISA · Getis-Ord GI*</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384048"/>
            <a:ext cx="10058400" cy="274320"/>
          </a:xfrm>
          <a:prstGeom prst="rect">
            <a:avLst/>
          </a:prstGeom>
          <a:noFill/>
          <a:ln/>
        </p:spPr>
        <p:txBody>
          <a:bodyPr wrap="square" rtlCol="0" anchor="ctr"/>
          <a:lstStyle/>
          <a:p>
            <a:pPr indent="0" marL="0">
              <a:buNone/>
            </a:pPr>
            <a:r>
              <a:rPr lang="en-US" sz="1100" b="1" spc="200" kern="0" dirty="0">
                <a:solidFill>
                  <a:srgbClr val="1C7293"/>
                </a:solidFill>
              </a:rPr>
              <a:t>LEC12 GEOSPATIAL MODELS</a:t>
            </a:r>
            <a:endParaRPr lang="en-US" sz="1100" dirty="0"/>
          </a:p>
        </p:txBody>
      </p:sp>
      <p:sp>
        <p:nvSpPr>
          <p:cNvPr id="4" name="Text 2"/>
          <p:cNvSpPr/>
          <p:nvPr/>
        </p:nvSpPr>
        <p:spPr>
          <a:xfrm>
            <a:off x="548640" y="658368"/>
            <a:ext cx="10972800" cy="640080"/>
          </a:xfrm>
          <a:prstGeom prst="rect">
            <a:avLst/>
          </a:prstGeom>
          <a:noFill/>
          <a:ln/>
        </p:spPr>
        <p:txBody>
          <a:bodyPr wrap="square" rtlCol="0" anchor="ctr"/>
          <a:lstStyle/>
          <a:p>
            <a:pPr indent="0" marL="0">
              <a:buNone/>
            </a:pPr>
            <a:r>
              <a:rPr lang="en-US" sz="2800" b="1" dirty="0">
                <a:solidFill>
                  <a:srgbClr val="065A82"/>
                </a:solidFill>
              </a:rPr>
              <a:t>Spatial Statistics — Why &amp; How</a:t>
            </a:r>
            <a:endParaRPr lang="en-US" sz="2800" dirty="0"/>
          </a:p>
        </p:txBody>
      </p:sp>
      <p:sp>
        <p:nvSpPr>
          <p:cNvPr id="5" name="Shape 3"/>
          <p:cNvSpPr/>
          <p:nvPr/>
        </p:nvSpPr>
        <p:spPr>
          <a:xfrm>
            <a:off x="640080" y="1645920"/>
            <a:ext cx="3566160" cy="3931920"/>
          </a:xfrm>
          <a:prstGeom prst="roundRect">
            <a:avLst>
              <a:gd name="adj" fmla="val 2051"/>
            </a:avLst>
          </a:prstGeom>
          <a:solidFill>
            <a:srgbClr val="F4F7F9"/>
          </a:solidFill>
          <a:ln w="12700">
            <a:solidFill>
              <a:srgbClr val="D8E1E8"/>
            </a:solidFill>
            <a:prstDash val="solid"/>
          </a:ln>
        </p:spPr>
      </p:sp>
      <p:sp>
        <p:nvSpPr>
          <p:cNvPr id="6" name="Shape 4"/>
          <p:cNvSpPr/>
          <p:nvPr/>
        </p:nvSpPr>
        <p:spPr>
          <a:xfrm>
            <a:off x="640080" y="1645920"/>
            <a:ext cx="3566160" cy="640080"/>
          </a:xfrm>
          <a:prstGeom prst="rect">
            <a:avLst/>
          </a:prstGeom>
          <a:solidFill>
            <a:srgbClr val="065A82"/>
          </a:solidFill>
          <a:ln/>
        </p:spPr>
      </p:sp>
      <p:sp>
        <p:nvSpPr>
          <p:cNvPr id="7" name="Text 5"/>
          <p:cNvSpPr/>
          <p:nvPr/>
        </p:nvSpPr>
        <p:spPr>
          <a:xfrm>
            <a:off x="777240" y="1645920"/>
            <a:ext cx="3291840" cy="640080"/>
          </a:xfrm>
          <a:prstGeom prst="rect">
            <a:avLst/>
          </a:prstGeom>
          <a:noFill/>
          <a:ln/>
        </p:spPr>
        <p:txBody>
          <a:bodyPr wrap="square" rtlCol="0" anchor="ctr"/>
          <a:lstStyle/>
          <a:p>
            <a:pPr indent="0" marL="0">
              <a:buNone/>
            </a:pPr>
            <a:r>
              <a:rPr lang="en-US" sz="1600" b="1" dirty="0">
                <a:solidFill>
                  <a:srgbClr val="FFFFFF"/>
                </a:solidFill>
              </a:rPr>
              <a:t>Global Moran’s I</a:t>
            </a:r>
            <a:endParaRPr lang="en-US" sz="1600" dirty="0"/>
          </a:p>
        </p:txBody>
      </p:sp>
      <p:sp>
        <p:nvSpPr>
          <p:cNvPr id="8" name="Text 6"/>
          <p:cNvSpPr/>
          <p:nvPr/>
        </p:nvSpPr>
        <p:spPr>
          <a:xfrm>
            <a:off x="914400" y="2468880"/>
            <a:ext cx="3063240" cy="2926080"/>
          </a:xfrm>
          <a:prstGeom prst="rect">
            <a:avLst/>
          </a:prstGeom>
          <a:noFill/>
          <a:ln/>
        </p:spPr>
        <p:txBody>
          <a:bodyPr wrap="square" rtlCol="0" anchor="t"/>
          <a:lstStyle/>
          <a:p>
            <a:pPr indent="0" marL="0">
              <a:lnSpc>
                <a:spcPct val="120000"/>
              </a:lnSpc>
              <a:buNone/>
            </a:pPr>
            <a:r>
              <a:rPr lang="en-US" sz="1350" dirty="0">
                <a:solidFill>
                  <a:srgbClr val="1A2A38"/>
                </a:solidFill>
              </a:rPr>
              <a:t>One scalar per year. Tests whether high-hazard cells cluster in space vs. random. Queen contiguity, row-standardised W, 999-permutation p-value.</a:t>
            </a:r>
            <a:endParaRPr lang="en-US" sz="1350" dirty="0"/>
          </a:p>
        </p:txBody>
      </p:sp>
      <p:sp>
        <p:nvSpPr>
          <p:cNvPr id="9" name="Shape 7"/>
          <p:cNvSpPr/>
          <p:nvPr/>
        </p:nvSpPr>
        <p:spPr>
          <a:xfrm>
            <a:off x="4434840" y="1645920"/>
            <a:ext cx="3566160" cy="3931920"/>
          </a:xfrm>
          <a:prstGeom prst="roundRect">
            <a:avLst>
              <a:gd name="adj" fmla="val 2051"/>
            </a:avLst>
          </a:prstGeom>
          <a:solidFill>
            <a:srgbClr val="F4F7F9"/>
          </a:solidFill>
          <a:ln w="12700">
            <a:solidFill>
              <a:srgbClr val="D8E1E8"/>
            </a:solidFill>
            <a:prstDash val="solid"/>
          </a:ln>
        </p:spPr>
      </p:sp>
      <p:sp>
        <p:nvSpPr>
          <p:cNvPr id="10" name="Shape 8"/>
          <p:cNvSpPr/>
          <p:nvPr/>
        </p:nvSpPr>
        <p:spPr>
          <a:xfrm>
            <a:off x="4434840" y="1645920"/>
            <a:ext cx="3566160" cy="640080"/>
          </a:xfrm>
          <a:prstGeom prst="rect">
            <a:avLst/>
          </a:prstGeom>
          <a:solidFill>
            <a:srgbClr val="1C7293"/>
          </a:solidFill>
          <a:ln/>
        </p:spPr>
      </p:sp>
      <p:sp>
        <p:nvSpPr>
          <p:cNvPr id="11" name="Text 9"/>
          <p:cNvSpPr/>
          <p:nvPr/>
        </p:nvSpPr>
        <p:spPr>
          <a:xfrm>
            <a:off x="4572000" y="1645920"/>
            <a:ext cx="3291840" cy="640080"/>
          </a:xfrm>
          <a:prstGeom prst="rect">
            <a:avLst/>
          </a:prstGeom>
          <a:noFill/>
          <a:ln/>
        </p:spPr>
        <p:txBody>
          <a:bodyPr wrap="square" rtlCol="0" anchor="ctr"/>
          <a:lstStyle/>
          <a:p>
            <a:pPr indent="0" marL="0">
              <a:buNone/>
            </a:pPr>
            <a:r>
              <a:rPr lang="en-US" sz="1600" b="1" dirty="0">
                <a:solidFill>
                  <a:srgbClr val="FFFFFF"/>
                </a:solidFill>
              </a:rPr>
              <a:t>Local Moran’s I (LISA)</a:t>
            </a:r>
            <a:endParaRPr lang="en-US" sz="1600" dirty="0"/>
          </a:p>
        </p:txBody>
      </p:sp>
      <p:sp>
        <p:nvSpPr>
          <p:cNvPr id="12" name="Text 10"/>
          <p:cNvSpPr/>
          <p:nvPr/>
        </p:nvSpPr>
        <p:spPr>
          <a:xfrm>
            <a:off x="4709160" y="2468880"/>
            <a:ext cx="3063240" cy="2926080"/>
          </a:xfrm>
          <a:prstGeom prst="rect">
            <a:avLst/>
          </a:prstGeom>
          <a:noFill/>
          <a:ln/>
        </p:spPr>
        <p:txBody>
          <a:bodyPr wrap="square" rtlCol="0" anchor="t"/>
          <a:lstStyle/>
          <a:p>
            <a:pPr indent="0" marL="0">
              <a:lnSpc>
                <a:spcPct val="120000"/>
              </a:lnSpc>
              <a:buNone/>
            </a:pPr>
            <a:r>
              <a:rPr lang="en-US" sz="1350" dirty="0">
                <a:solidFill>
                  <a:srgbClr val="1A2A38"/>
                </a:solidFill>
              </a:rPr>
              <a:t>Per-cell statistic → HH / LL / HL / LH. Locates exactly where clustering occurs and flags spatial outliers.</a:t>
            </a:r>
            <a:endParaRPr lang="en-US" sz="1350" dirty="0"/>
          </a:p>
        </p:txBody>
      </p:sp>
      <p:sp>
        <p:nvSpPr>
          <p:cNvPr id="13" name="Shape 11"/>
          <p:cNvSpPr/>
          <p:nvPr/>
        </p:nvSpPr>
        <p:spPr>
          <a:xfrm>
            <a:off x="8229600" y="1645920"/>
            <a:ext cx="3566160" cy="3931920"/>
          </a:xfrm>
          <a:prstGeom prst="roundRect">
            <a:avLst>
              <a:gd name="adj" fmla="val 2051"/>
            </a:avLst>
          </a:prstGeom>
          <a:solidFill>
            <a:srgbClr val="F4F7F9"/>
          </a:solidFill>
          <a:ln w="12700">
            <a:solidFill>
              <a:srgbClr val="D8E1E8"/>
            </a:solidFill>
            <a:prstDash val="solid"/>
          </a:ln>
        </p:spPr>
      </p:sp>
      <p:sp>
        <p:nvSpPr>
          <p:cNvPr id="14" name="Shape 12"/>
          <p:cNvSpPr/>
          <p:nvPr/>
        </p:nvSpPr>
        <p:spPr>
          <a:xfrm>
            <a:off x="8229600" y="1645920"/>
            <a:ext cx="3566160" cy="640080"/>
          </a:xfrm>
          <a:prstGeom prst="rect">
            <a:avLst/>
          </a:prstGeom>
          <a:solidFill>
            <a:srgbClr val="F39C12"/>
          </a:solidFill>
          <a:ln/>
        </p:spPr>
      </p:sp>
      <p:sp>
        <p:nvSpPr>
          <p:cNvPr id="15" name="Text 13"/>
          <p:cNvSpPr/>
          <p:nvPr/>
        </p:nvSpPr>
        <p:spPr>
          <a:xfrm>
            <a:off x="8366760" y="1645920"/>
            <a:ext cx="3291840" cy="640080"/>
          </a:xfrm>
          <a:prstGeom prst="rect">
            <a:avLst/>
          </a:prstGeom>
          <a:noFill/>
          <a:ln/>
        </p:spPr>
        <p:txBody>
          <a:bodyPr wrap="square" rtlCol="0" anchor="ctr"/>
          <a:lstStyle/>
          <a:p>
            <a:pPr indent="0" marL="0">
              <a:buNone/>
            </a:pPr>
            <a:r>
              <a:rPr lang="en-US" sz="1600" b="1" dirty="0">
                <a:solidFill>
                  <a:srgbClr val="FFFFFF"/>
                </a:solidFill>
              </a:rPr>
              <a:t>Getis-Ord GI*</a:t>
            </a:r>
            <a:endParaRPr lang="en-US" sz="1600" dirty="0"/>
          </a:p>
        </p:txBody>
      </p:sp>
      <p:sp>
        <p:nvSpPr>
          <p:cNvPr id="16" name="Text 14"/>
          <p:cNvSpPr/>
          <p:nvPr/>
        </p:nvSpPr>
        <p:spPr>
          <a:xfrm>
            <a:off x="8503920" y="2468880"/>
            <a:ext cx="3063240" cy="2926080"/>
          </a:xfrm>
          <a:prstGeom prst="rect">
            <a:avLst/>
          </a:prstGeom>
          <a:noFill/>
          <a:ln/>
        </p:spPr>
        <p:txBody>
          <a:bodyPr wrap="square" rtlCol="0" anchor="t"/>
          <a:lstStyle/>
          <a:p>
            <a:pPr indent="0" marL="0">
              <a:lnSpc>
                <a:spcPct val="120000"/>
              </a:lnSpc>
              <a:buNone/>
            </a:pPr>
            <a:r>
              <a:rPr lang="en-US" sz="1350" dirty="0">
                <a:solidFill>
                  <a:srgbClr val="1A2A38"/>
                </a:solidFill>
              </a:rPr>
              <a:t>Per-cell z-score of local concentration. Grades hotspot / coldspot intensity in standard-deviation units.</a:t>
            </a:r>
            <a:endParaRPr lang="en-US" sz="1350" dirty="0"/>
          </a:p>
        </p:txBody>
      </p:sp>
      <p:sp>
        <p:nvSpPr>
          <p:cNvPr id="17" name="Text 15"/>
          <p:cNvSpPr/>
          <p:nvPr/>
        </p:nvSpPr>
        <p:spPr>
          <a:xfrm>
            <a:off x="640080" y="5806440"/>
            <a:ext cx="10972800" cy="365760"/>
          </a:xfrm>
          <a:prstGeom prst="rect">
            <a:avLst/>
          </a:prstGeom>
          <a:noFill/>
          <a:ln/>
        </p:spPr>
        <p:txBody>
          <a:bodyPr wrap="square" rtlCol="0" anchor="ctr"/>
          <a:lstStyle/>
          <a:p>
            <a:pPr indent="0" marL="0">
              <a:buNone/>
            </a:pPr>
            <a:r>
              <a:rPr lang="en-US" sz="1200" i="1" dirty="0">
                <a:solidFill>
                  <a:srgbClr val="1C7293"/>
                </a:solidFill>
              </a:rPr>
              <a:t>Built from scratch in NumPy (no PySAL dependency) — scripts/analysis_10_spatial_models.py</a:t>
            </a:r>
            <a:endParaRPr lang="en-US" sz="1200" dirty="0"/>
          </a:p>
        </p:txBody>
      </p:sp>
      <p:sp>
        <p:nvSpPr>
          <p:cNvPr id="18" name="Text 16"/>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9" name="Text 17"/>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23</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Global Moran’s I — Significant Clustering</a:t>
            </a:r>
            <a:endParaRPr lang="en-US" sz="2800" dirty="0"/>
          </a:p>
        </p:txBody>
      </p:sp>
      <p:pic>
        <p:nvPicPr>
          <p:cNvPr id="4" name="Image 0" descr="/Users/danieleuras/Documents/GitHub/hhe-labsardinia/data/figures/moran_scatter.png">    </p:cNvPr>
          <p:cNvPicPr>
            <a:picLocks noChangeAspect="1"/>
          </p:cNvPicPr>
          <p:nvPr/>
        </p:nvPicPr>
        <p:blipFill>
          <a:blip r:embed="rId1"/>
          <a:stretch>
            <a:fillRect/>
          </a:stretch>
        </p:blipFill>
        <p:spPr>
          <a:xfrm>
            <a:off x="548640" y="2074575"/>
            <a:ext cx="6675120" cy="353181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06640" y="1645920"/>
          <a:ext cx="4297680" cy="914400"/>
        </p:xfrm>
        <a:graphic>
          <a:graphicData uri="http://schemas.openxmlformats.org/drawingml/2006/table">
            <a:tbl>
              <a:tblPr/>
              <a:tblGrid>
                <a:gridCol w="1097280"/>
                <a:gridCol w="1554480"/>
                <a:gridCol w="822960"/>
                <a:gridCol w="822960"/>
              </a:tblGrid>
              <a:tr h="384048">
                <a:tc>
                  <a:txBody>
                    <a:bodyPr/>
                    <a:lstStyle/>
                    <a:p>
                      <a:pPr algn="ctr" indent="0" marL="0">
                        <a:buNone/>
                      </a:pPr>
                      <a:r>
                        <a:rPr lang="en-US" sz="1300" b="1" dirty="0">
                          <a:solidFill>
                            <a:srgbClr val="FFFFFF"/>
                          </a:solidFill>
                        </a:rPr>
                        <a:t>Year</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ctr" indent="0" marL="0">
                        <a:buNone/>
                      </a:pPr>
                      <a:r>
                        <a:rPr lang="en-US" sz="1300" b="1" dirty="0">
                          <a:solidFill>
                            <a:srgbClr val="FFFFFF"/>
                          </a:solidFill>
                        </a:rPr>
                        <a:t>Moran's I</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ctr" indent="0" marL="0">
                        <a:buNone/>
                      </a:pPr>
                      <a:r>
                        <a:rPr lang="en-US" sz="1300" b="1" dirty="0">
                          <a:solidFill>
                            <a:srgbClr val="FFFFFF"/>
                          </a:solidFill>
                        </a:rPr>
                        <a:t>z</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c>
                  <a:txBody>
                    <a:bodyPr/>
                    <a:lstStyle/>
                    <a:p>
                      <a:pPr algn="ctr" indent="0" marL="0">
                        <a:buNone/>
                      </a:pPr>
                      <a:r>
                        <a:rPr lang="en-US" sz="1300" b="1" dirty="0">
                          <a:solidFill>
                            <a:srgbClr val="FFFFFF"/>
                          </a:solidFill>
                        </a:rPr>
                        <a:t>p</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065A82"/>
                    </a:solidFill>
                  </a:tcPr>
                </a:tc>
              </a:tr>
              <a:tr h="384048">
                <a:tc>
                  <a:txBody>
                    <a:bodyPr/>
                    <a:lstStyle/>
                    <a:p>
                      <a:pPr algn="ctr" indent="0" marL="0">
                        <a:buNone/>
                      </a:pPr>
                      <a:r>
                        <a:rPr lang="en-US" sz="1300" dirty="0">
                          <a:solidFill>
                            <a:srgbClr val="1A2A38"/>
                          </a:solidFill>
                        </a:rPr>
                        <a:t>2018</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0.965</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31.4</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0.000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384048">
                <a:tc>
                  <a:txBody>
                    <a:bodyPr/>
                    <a:lstStyle/>
                    <a:p>
                      <a:pPr algn="ctr" indent="0" marL="0">
                        <a:buNone/>
                      </a:pPr>
                      <a:r>
                        <a:rPr lang="en-US" sz="1300" dirty="0">
                          <a:solidFill>
                            <a:srgbClr val="1A2A38"/>
                          </a:solidFill>
                        </a:rPr>
                        <a:t>2019</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0.936</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31.1</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0.000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384048">
                <a:tc>
                  <a:txBody>
                    <a:bodyPr/>
                    <a:lstStyle/>
                    <a:p>
                      <a:pPr algn="ctr" indent="0" marL="0">
                        <a:buNone/>
                      </a:pPr>
                      <a:r>
                        <a:rPr lang="en-US" sz="1300" dirty="0">
                          <a:solidFill>
                            <a:srgbClr val="1A2A38"/>
                          </a:solidFill>
                        </a:rPr>
                        <a:t>2020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0.948</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32.0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0.000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384048">
                <a:tc>
                  <a:txBody>
                    <a:bodyPr/>
                    <a:lstStyle/>
                    <a:p>
                      <a:pPr algn="ctr" indent="0" marL="0">
                        <a:buNone/>
                      </a:pPr>
                      <a:r>
                        <a:rPr lang="en-US" sz="1300" dirty="0">
                          <a:solidFill>
                            <a:srgbClr val="1A2A38"/>
                          </a:solidFill>
                        </a:rPr>
                        <a:t>2021</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0.943</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30.0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0.000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384048">
                <a:tc>
                  <a:txBody>
                    <a:bodyPr/>
                    <a:lstStyle/>
                    <a:p>
                      <a:pPr algn="ctr" indent="0" marL="0">
                        <a:buNone/>
                      </a:pPr>
                      <a:r>
                        <a:rPr lang="en-US" sz="1300" dirty="0">
                          <a:solidFill>
                            <a:srgbClr val="1A2A38"/>
                          </a:solidFill>
                        </a:rPr>
                        <a:t>2022</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0.951</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30.4</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0.000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r h="384048">
                <a:tc>
                  <a:txBody>
                    <a:bodyPr/>
                    <a:lstStyle/>
                    <a:p>
                      <a:pPr algn="ctr" indent="0" marL="0">
                        <a:buNone/>
                      </a:pPr>
                      <a:r>
                        <a:rPr lang="en-US" sz="1300" dirty="0">
                          <a:solidFill>
                            <a:srgbClr val="1A2A38"/>
                          </a:solidFill>
                        </a:rPr>
                        <a:t>2023</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0.948</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30.4</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c>
                  <a:txBody>
                    <a:bodyPr/>
                    <a:lstStyle/>
                    <a:p>
                      <a:pPr algn="ctr" indent="0" marL="0">
                        <a:buNone/>
                      </a:pPr>
                      <a:r>
                        <a:rPr lang="en-US" sz="1300" dirty="0">
                          <a:solidFill>
                            <a:srgbClr val="1A2A38"/>
                          </a:solidFill>
                        </a:rPr>
                        <a:t>0.000</a:t>
                      </a:r>
                      <a:endParaRPr lang="en-US" sz="1300" dirty="0"/>
                    </a:p>
                  </a:txBody>
                  <a:tcPr marL="91440" marR="91440" marT="45720" marB="45720" anchor="ctr">
                    <a:lnL w="12700" cap="flat" cmpd="sng" algn="ctr">
                      <a:solidFill>
                        <a:srgbClr val="D8E1E8"/>
                      </a:solidFill>
                      <a:prstDash val="solid"/>
                      <a:round/>
                      <a:headEnd type="none" w="med" len="med"/>
                      <a:tailEnd type="none" w="med" len="med"/>
                    </a:lnL>
                    <a:lnR w="12700" cap="flat" cmpd="sng" algn="ctr">
                      <a:solidFill>
                        <a:srgbClr val="D8E1E8"/>
                      </a:solidFill>
                      <a:prstDash val="solid"/>
                      <a:round/>
                      <a:headEnd type="none" w="med" len="med"/>
                      <a:tailEnd type="none" w="med" len="med"/>
                    </a:lnR>
                    <a:lnT w="12700" cap="flat" cmpd="sng" algn="ctr">
                      <a:solidFill>
                        <a:srgbClr val="D8E1E8"/>
                      </a:solidFill>
                      <a:prstDash val="solid"/>
                      <a:round/>
                      <a:headEnd type="none" w="med" len="med"/>
                      <a:tailEnd type="none" w="med" len="med"/>
                    </a:lnT>
                    <a:lnB w="12700" cap="flat" cmpd="sng" algn="ctr">
                      <a:solidFill>
                        <a:srgbClr val="D8E1E8"/>
                      </a:solidFill>
                      <a:prstDash val="solid"/>
                      <a:round/>
                      <a:headEnd type="none" w="med" len="med"/>
                      <a:tailEnd type="none" w="med" len="med"/>
                    </a:lnB>
                    <a:solidFill>
                      <a:srgbClr val="F4F7F9"/>
                    </a:solidFill>
                  </a:tcPr>
                </a:tc>
              </a:tr>
            </a:tbl>
          </a:graphicData>
        </a:graphic>
      </p:graphicFrame>
      <p:sp>
        <p:nvSpPr>
          <p:cNvPr id="6" name="Text 2"/>
          <p:cNvSpPr/>
          <p:nvPr/>
        </p:nvSpPr>
        <p:spPr>
          <a:xfrm>
            <a:off x="7406640" y="4572000"/>
            <a:ext cx="4297680" cy="1463040"/>
          </a:xfrm>
          <a:prstGeom prst="rect">
            <a:avLst/>
          </a:prstGeom>
          <a:noFill/>
          <a:ln/>
        </p:spPr>
        <p:txBody>
          <a:bodyPr wrap="square" rtlCol="0" anchor="t"/>
          <a:lstStyle/>
          <a:p>
            <a:pPr indent="0" marL="0">
              <a:lnSpc>
                <a:spcPct val="115000"/>
              </a:lnSpc>
              <a:buNone/>
            </a:pPr>
            <a:r>
              <a:rPr lang="en-US" sz="1350" b="1" dirty="0">
                <a:solidFill>
                  <a:srgbClr val="065A82"/>
                </a:solidFill>
              </a:rPr>
              <a:t>I ≈ 0.95 every year, p = 0.000.
</a:t>
            </a:r>
            <a:pPr indent="0" marL="0">
              <a:lnSpc>
                <a:spcPct val="115000"/>
              </a:lnSpc>
              <a:buNone/>
            </a:pPr>
            <a:r>
              <a:rPr lang="en-US" sz="1350" dirty="0">
                <a:solidFill>
                  <a:srgbClr val="1A2A38"/>
                </a:solidFill>
              </a:rPr>
              <a:t>Hazard is strongly and significantly clustered in space — not random noise. The pattern is stable across all six years.</a:t>
            </a:r>
            <a:endParaRPr lang="en-US" sz="1350" dirty="0"/>
          </a:p>
        </p:txBody>
      </p:sp>
      <p:sp>
        <p:nvSpPr>
          <p:cNvPr id="7" name="Text 3"/>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8" name="Text 4"/>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24</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LISA Cluster Map — Local Moran’s I</a:t>
            </a:r>
            <a:endParaRPr lang="en-US" sz="2800" dirty="0"/>
          </a:p>
        </p:txBody>
      </p:sp>
      <p:pic>
        <p:nvPicPr>
          <p:cNvPr id="4" name="Image 0" descr="/Users/danieleuras/Documents/GitHub/hhe-labsardinia/data/figures/lisa_cluster_map.png">    </p:cNvPr>
          <p:cNvPicPr>
            <a:picLocks noChangeAspect="1"/>
          </p:cNvPicPr>
          <p:nvPr/>
        </p:nvPicPr>
        <p:blipFill>
          <a:blip r:embed="rId1"/>
          <a:stretch>
            <a:fillRect/>
          </a:stretch>
        </p:blipFill>
        <p:spPr>
          <a:xfrm>
            <a:off x="502920" y="1808480"/>
            <a:ext cx="7315200" cy="4064000"/>
          </a:xfrm>
          <a:prstGeom prst="rect">
            <a:avLst/>
          </a:prstGeom>
        </p:spPr>
      </p:pic>
      <p:sp>
        <p:nvSpPr>
          <p:cNvPr id="5" name="Shape 2"/>
          <p:cNvSpPr/>
          <p:nvPr/>
        </p:nvSpPr>
        <p:spPr>
          <a:xfrm>
            <a:off x="8138160" y="1600200"/>
            <a:ext cx="320040" cy="320040"/>
          </a:xfrm>
          <a:prstGeom prst="rect">
            <a:avLst/>
          </a:prstGeom>
          <a:solidFill>
            <a:srgbClr val="D7191C"/>
          </a:solidFill>
          <a:ln/>
        </p:spPr>
      </p:sp>
      <p:sp>
        <p:nvSpPr>
          <p:cNvPr id="6" name="Text 3"/>
          <p:cNvSpPr/>
          <p:nvPr/>
        </p:nvSpPr>
        <p:spPr>
          <a:xfrm>
            <a:off x="8549640" y="1581912"/>
            <a:ext cx="3474720" cy="365760"/>
          </a:xfrm>
          <a:prstGeom prst="rect">
            <a:avLst/>
          </a:prstGeom>
          <a:noFill/>
          <a:ln/>
        </p:spPr>
        <p:txBody>
          <a:bodyPr wrap="square" rtlCol="0" anchor="ctr"/>
          <a:lstStyle/>
          <a:p>
            <a:pPr indent="0" marL="0">
              <a:buNone/>
            </a:pPr>
            <a:r>
              <a:rPr lang="en-US" sz="1300" b="1" dirty="0">
                <a:solidFill>
                  <a:srgbClr val="1A2A38"/>
                </a:solidFill>
              </a:rPr>
              <a:t>HH  </a:t>
            </a:r>
            <a:pPr indent="0" marL="0">
              <a:buNone/>
            </a:pPr>
            <a:r>
              <a:rPr lang="en-US" sz="1300" dirty="0">
                <a:solidFill>
                  <a:srgbClr val="6B7B8C"/>
                </a:solidFill>
              </a:rPr>
              <a:t>Hotspot</a:t>
            </a:r>
            <a:endParaRPr lang="en-US" sz="1300" dirty="0"/>
          </a:p>
        </p:txBody>
      </p:sp>
      <p:sp>
        <p:nvSpPr>
          <p:cNvPr id="7" name="Shape 4"/>
          <p:cNvSpPr/>
          <p:nvPr/>
        </p:nvSpPr>
        <p:spPr>
          <a:xfrm>
            <a:off x="8138160" y="2057400"/>
            <a:ext cx="320040" cy="320040"/>
          </a:xfrm>
          <a:prstGeom prst="rect">
            <a:avLst/>
          </a:prstGeom>
          <a:solidFill>
            <a:srgbClr val="2C7BB6"/>
          </a:solidFill>
          <a:ln/>
        </p:spPr>
      </p:sp>
      <p:sp>
        <p:nvSpPr>
          <p:cNvPr id="8" name="Text 5"/>
          <p:cNvSpPr/>
          <p:nvPr/>
        </p:nvSpPr>
        <p:spPr>
          <a:xfrm>
            <a:off x="8549640" y="2039112"/>
            <a:ext cx="3474720" cy="365760"/>
          </a:xfrm>
          <a:prstGeom prst="rect">
            <a:avLst/>
          </a:prstGeom>
          <a:noFill/>
          <a:ln/>
        </p:spPr>
        <p:txBody>
          <a:bodyPr wrap="square" rtlCol="0" anchor="ctr"/>
          <a:lstStyle/>
          <a:p>
            <a:pPr indent="0" marL="0">
              <a:buNone/>
            </a:pPr>
            <a:r>
              <a:rPr lang="en-US" sz="1300" b="1" dirty="0">
                <a:solidFill>
                  <a:srgbClr val="1A2A38"/>
                </a:solidFill>
              </a:rPr>
              <a:t>LL  </a:t>
            </a:r>
            <a:pPr indent="0" marL="0">
              <a:buNone/>
            </a:pPr>
            <a:r>
              <a:rPr lang="en-US" sz="1300" dirty="0">
                <a:solidFill>
                  <a:srgbClr val="6B7B8C"/>
                </a:solidFill>
              </a:rPr>
              <a:t>Coldspot</a:t>
            </a:r>
            <a:endParaRPr lang="en-US" sz="1300" dirty="0"/>
          </a:p>
        </p:txBody>
      </p:sp>
      <p:sp>
        <p:nvSpPr>
          <p:cNvPr id="9" name="Shape 6"/>
          <p:cNvSpPr/>
          <p:nvPr/>
        </p:nvSpPr>
        <p:spPr>
          <a:xfrm>
            <a:off x="8138160" y="2514600"/>
            <a:ext cx="320040" cy="320040"/>
          </a:xfrm>
          <a:prstGeom prst="rect">
            <a:avLst/>
          </a:prstGeom>
          <a:solidFill>
            <a:srgbClr val="FDAE61"/>
          </a:solidFill>
          <a:ln/>
        </p:spPr>
      </p:sp>
      <p:sp>
        <p:nvSpPr>
          <p:cNvPr id="10" name="Text 7"/>
          <p:cNvSpPr/>
          <p:nvPr/>
        </p:nvSpPr>
        <p:spPr>
          <a:xfrm>
            <a:off x="8549640" y="2496312"/>
            <a:ext cx="3474720" cy="365760"/>
          </a:xfrm>
          <a:prstGeom prst="rect">
            <a:avLst/>
          </a:prstGeom>
          <a:noFill/>
          <a:ln/>
        </p:spPr>
        <p:txBody>
          <a:bodyPr wrap="square" rtlCol="0" anchor="ctr"/>
          <a:lstStyle/>
          <a:p>
            <a:pPr indent="0" marL="0">
              <a:buNone/>
            </a:pPr>
            <a:r>
              <a:rPr lang="en-US" sz="1300" b="1" dirty="0">
                <a:solidFill>
                  <a:srgbClr val="1A2A38"/>
                </a:solidFill>
              </a:rPr>
              <a:t>HL  </a:t>
            </a:r>
            <a:pPr indent="0" marL="0">
              <a:buNone/>
            </a:pPr>
            <a:r>
              <a:rPr lang="en-US" sz="1300" dirty="0">
                <a:solidFill>
                  <a:srgbClr val="6B7B8C"/>
                </a:solidFill>
              </a:rPr>
              <a:t>Outlier</a:t>
            </a:r>
            <a:endParaRPr lang="en-US" sz="1300" dirty="0"/>
          </a:p>
        </p:txBody>
      </p:sp>
      <p:sp>
        <p:nvSpPr>
          <p:cNvPr id="11" name="Shape 8"/>
          <p:cNvSpPr/>
          <p:nvPr/>
        </p:nvSpPr>
        <p:spPr>
          <a:xfrm>
            <a:off x="8138160" y="2971800"/>
            <a:ext cx="320040" cy="320040"/>
          </a:xfrm>
          <a:prstGeom prst="rect">
            <a:avLst/>
          </a:prstGeom>
          <a:solidFill>
            <a:srgbClr val="ABD9E9"/>
          </a:solidFill>
          <a:ln/>
        </p:spPr>
      </p:sp>
      <p:sp>
        <p:nvSpPr>
          <p:cNvPr id="12" name="Text 9"/>
          <p:cNvSpPr/>
          <p:nvPr/>
        </p:nvSpPr>
        <p:spPr>
          <a:xfrm>
            <a:off x="8549640" y="2953512"/>
            <a:ext cx="3474720" cy="365760"/>
          </a:xfrm>
          <a:prstGeom prst="rect">
            <a:avLst/>
          </a:prstGeom>
          <a:noFill/>
          <a:ln/>
        </p:spPr>
        <p:txBody>
          <a:bodyPr wrap="square" rtlCol="0" anchor="ctr"/>
          <a:lstStyle/>
          <a:p>
            <a:pPr indent="0" marL="0">
              <a:buNone/>
            </a:pPr>
            <a:r>
              <a:rPr lang="en-US" sz="1300" b="1" dirty="0">
                <a:solidFill>
                  <a:srgbClr val="1A2A38"/>
                </a:solidFill>
              </a:rPr>
              <a:t>LH  </a:t>
            </a:r>
            <a:pPr indent="0" marL="0">
              <a:buNone/>
            </a:pPr>
            <a:r>
              <a:rPr lang="en-US" sz="1300" dirty="0">
                <a:solidFill>
                  <a:srgbClr val="6B7B8C"/>
                </a:solidFill>
              </a:rPr>
              <a:t>Outlier</a:t>
            </a:r>
            <a:endParaRPr lang="en-US" sz="1300" dirty="0"/>
          </a:p>
        </p:txBody>
      </p:sp>
      <p:sp>
        <p:nvSpPr>
          <p:cNvPr id="13" name="Text 10"/>
          <p:cNvSpPr/>
          <p:nvPr/>
        </p:nvSpPr>
        <p:spPr>
          <a:xfrm>
            <a:off x="8138160" y="3657600"/>
            <a:ext cx="3657600" cy="2286000"/>
          </a:xfrm>
          <a:prstGeom prst="rect">
            <a:avLst/>
          </a:prstGeom>
          <a:noFill/>
          <a:ln/>
        </p:spPr>
        <p:txBody>
          <a:bodyPr wrap="square" rtlCol="0" anchor="ctr"/>
          <a:lstStyle/>
          <a:p>
            <a:pPr marL="342900" indent="-342900">
              <a:lnSpc>
                <a:spcPct val="120000"/>
              </a:lnSpc>
              <a:spcAft>
                <a:spcPts val="1000"/>
              </a:spcAft>
              <a:buSzPct val="100000"/>
              <a:buChar char="•"/>
            </a:pPr>
            <a:r>
              <a:rPr lang="en-US" sz="1300" dirty="0">
                <a:solidFill>
                  <a:srgbClr val="1A2A38"/>
                </a:solidFill>
              </a:rPr>
              <a:t>West coast = HH hotspot (Alghero–Oristano corridor)</a:t>
            </a:r>
            <a:endParaRPr lang="en-US" sz="1300" dirty="0"/>
          </a:p>
          <a:p>
            <a:pPr marL="342900" indent="-342900">
              <a:lnSpc>
                <a:spcPct val="120000"/>
              </a:lnSpc>
              <a:spcAft>
                <a:spcPts val="1000"/>
              </a:spcAft>
              <a:buSzPct val="100000"/>
              <a:buChar char="•"/>
            </a:pPr>
            <a:r>
              <a:rPr lang="en-US" sz="1300" dirty="0">
                <a:solidFill>
                  <a:srgbClr val="1A2A38"/>
                </a:solidFill>
              </a:rPr>
              <a:t>East coast = LL coldspot</a:t>
            </a:r>
            <a:endParaRPr lang="en-US" sz="1300" dirty="0"/>
          </a:p>
          <a:p>
            <a:pPr marL="342900" indent="-342900">
              <a:lnSpc>
                <a:spcPct val="120000"/>
              </a:lnSpc>
              <a:spcAft>
                <a:spcPts val="1000"/>
              </a:spcAft>
              <a:buSzPct val="100000"/>
              <a:buChar char="•"/>
            </a:pPr>
            <a:r>
              <a:rPr lang="en-US" sz="1300" dirty="0">
                <a:solidFill>
                  <a:srgbClr val="1A2A38"/>
                </a:solidFill>
              </a:rPr>
              <a:t>Zero HL/LH outliers → coherent spatial pattern</a:t>
            </a:r>
            <a:endParaRPr lang="en-US" sz="1300" dirty="0"/>
          </a:p>
          <a:p>
            <a:pPr marL="342900" indent="-342900">
              <a:lnSpc>
                <a:spcPct val="120000"/>
              </a:lnSpc>
              <a:spcAft>
                <a:spcPts val="1000"/>
              </a:spcAft>
              <a:buSzPct val="100000"/>
              <a:buChar char="•"/>
            </a:pPr>
            <a:r>
              <a:rPr lang="en-US" sz="1300" dirty="0">
                <a:solidFill>
                  <a:srgbClr val="1A2A38"/>
                </a:solidFill>
              </a:rPr>
              <a:t>~77 HH + ~63 LL significant cells (2023)</a:t>
            </a:r>
            <a:endParaRPr lang="en-US" sz="1300" dirty="0"/>
          </a:p>
        </p:txBody>
      </p:sp>
      <p:sp>
        <p:nvSpPr>
          <p:cNvPr id="14" name="Text 11"/>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5" name="Text 12"/>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Getis-Ord GI* — Hotspot Intensity</a:t>
            </a:r>
            <a:endParaRPr lang="en-US" sz="2800" dirty="0"/>
          </a:p>
        </p:txBody>
      </p:sp>
      <p:pic>
        <p:nvPicPr>
          <p:cNvPr id="4" name="Image 0" descr="/Users/danieleuras/Documents/GitHub/hhe-labsardinia/data/figures/gi_star_map.png">    </p:cNvPr>
          <p:cNvPicPr>
            <a:picLocks noChangeAspect="1"/>
          </p:cNvPicPr>
          <p:nvPr/>
        </p:nvPicPr>
        <p:blipFill>
          <a:blip r:embed="rId1"/>
          <a:stretch>
            <a:fillRect/>
          </a:stretch>
        </p:blipFill>
        <p:spPr>
          <a:xfrm>
            <a:off x="548640" y="1685859"/>
            <a:ext cx="7498080" cy="4309241"/>
          </a:xfrm>
          <a:prstGeom prst="rect">
            <a:avLst/>
          </a:prstGeom>
        </p:spPr>
      </p:pic>
      <p:sp>
        <p:nvSpPr>
          <p:cNvPr id="5" name="Text 2"/>
          <p:cNvSpPr/>
          <p:nvPr/>
        </p:nvSpPr>
        <p:spPr>
          <a:xfrm>
            <a:off x="8321040" y="1737360"/>
            <a:ext cx="3474720" cy="3931920"/>
          </a:xfrm>
          <a:prstGeom prst="rect">
            <a:avLst/>
          </a:prstGeom>
          <a:noFill/>
          <a:ln/>
        </p:spPr>
        <p:txBody>
          <a:bodyPr wrap="square" rtlCol="0" anchor="ctr"/>
          <a:lstStyle/>
          <a:p>
            <a:pPr marL="342900" indent="-342900">
              <a:lnSpc>
                <a:spcPct val="120000"/>
              </a:lnSpc>
              <a:spcAft>
                <a:spcPts val="1200"/>
              </a:spcAft>
              <a:buSzPct val="100000"/>
              <a:buChar char="•"/>
            </a:pPr>
            <a:r>
              <a:rPr lang="en-US" sz="1300" dirty="0">
                <a:solidFill>
                  <a:srgbClr val="1A2A38"/>
                </a:solidFill>
              </a:rPr>
              <a:t>Per-cell z-score of local concentration</a:t>
            </a:r>
            <a:endParaRPr lang="en-US" sz="1300" dirty="0"/>
          </a:p>
          <a:p>
            <a:pPr marL="342900" indent="-342900">
              <a:lnSpc>
                <a:spcPct val="120000"/>
              </a:lnSpc>
              <a:spcAft>
                <a:spcPts val="1200"/>
              </a:spcAft>
              <a:buSzPct val="100000"/>
              <a:buChar char="•"/>
            </a:pPr>
            <a:r>
              <a:rPr lang="en-US" sz="1300" dirty="0">
                <a:solidFill>
                  <a:srgbClr val="1A2A38"/>
                </a:solidFill>
              </a:rPr>
              <a:t>z &gt; 1.96 → significant hotspot (red)</a:t>
            </a:r>
            <a:endParaRPr lang="en-US" sz="1300" dirty="0"/>
          </a:p>
          <a:p>
            <a:pPr marL="342900" indent="-342900">
              <a:lnSpc>
                <a:spcPct val="120000"/>
              </a:lnSpc>
              <a:spcAft>
                <a:spcPts val="1200"/>
              </a:spcAft>
              <a:buSzPct val="100000"/>
              <a:buChar char="•"/>
            </a:pPr>
            <a:r>
              <a:rPr lang="en-US" sz="1300" dirty="0">
                <a:solidFill>
                  <a:srgbClr val="1A2A38"/>
                </a:solidFill>
              </a:rPr>
              <a:t>z &lt; −1.96 → significant coldspot (blue)</a:t>
            </a:r>
            <a:endParaRPr lang="en-US" sz="1300" dirty="0"/>
          </a:p>
          <a:p>
            <a:pPr marL="342900" indent="-342900">
              <a:lnSpc>
                <a:spcPct val="120000"/>
              </a:lnSpc>
              <a:spcAft>
                <a:spcPts val="1200"/>
              </a:spcAft>
              <a:buSzPct val="100000"/>
              <a:buChar char="•"/>
            </a:pPr>
            <a:r>
              <a:rPr lang="en-US" sz="1300" dirty="0">
                <a:solidFill>
                  <a:srgbClr val="1A2A38"/>
                </a:solidFill>
              </a:rPr>
              <a:t>~80 hotspot / ~65 coldspot cells per year</a:t>
            </a:r>
            <a:endParaRPr lang="en-US" sz="1300" dirty="0"/>
          </a:p>
          <a:p>
            <a:pPr marL="342900" indent="-342900">
              <a:lnSpc>
                <a:spcPct val="120000"/>
              </a:lnSpc>
              <a:spcAft>
                <a:spcPts val="1200"/>
              </a:spcAft>
              <a:buSzPct val="100000"/>
              <a:buChar char="•"/>
            </a:pPr>
            <a:r>
              <a:rPr lang="en-US" sz="1300" dirty="0">
                <a:solidFill>
                  <a:srgbClr val="1A2A38"/>
                </a:solidFill>
              </a:rPr>
              <a:t>Confirms &amp; grades the LISA HH corridor</a:t>
            </a:r>
            <a:endParaRPr lang="en-US" sz="1300" dirty="0"/>
          </a:p>
        </p:txBody>
      </p:sp>
      <p:sp>
        <p:nvSpPr>
          <p:cNvPr id="6" name="Text 3"/>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7" name="Text 4"/>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26</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Key Findings</a:t>
            </a:r>
            <a:endParaRPr lang="en-US" sz="2800" dirty="0"/>
          </a:p>
        </p:txBody>
      </p:sp>
      <p:sp>
        <p:nvSpPr>
          <p:cNvPr id="4" name="Shape 2"/>
          <p:cNvSpPr/>
          <p:nvPr/>
        </p:nvSpPr>
        <p:spPr>
          <a:xfrm>
            <a:off x="822960" y="1645920"/>
            <a:ext cx="5120640" cy="109728"/>
          </a:xfrm>
          <a:prstGeom prst="rect">
            <a:avLst/>
          </a:prstGeom>
          <a:solidFill>
            <a:srgbClr val="D7191C"/>
          </a:solidFill>
          <a:ln/>
        </p:spPr>
      </p:sp>
      <p:sp>
        <p:nvSpPr>
          <p:cNvPr id="5" name="Text 3"/>
          <p:cNvSpPr/>
          <p:nvPr/>
        </p:nvSpPr>
        <p:spPr>
          <a:xfrm>
            <a:off x="822960" y="1828800"/>
            <a:ext cx="5120640" cy="457200"/>
          </a:xfrm>
          <a:prstGeom prst="rect">
            <a:avLst/>
          </a:prstGeom>
          <a:noFill/>
          <a:ln/>
        </p:spPr>
        <p:txBody>
          <a:bodyPr wrap="square" rtlCol="0" anchor="ctr"/>
          <a:lstStyle/>
          <a:p>
            <a:pPr indent="0" marL="0">
              <a:buNone/>
            </a:pPr>
            <a:r>
              <a:rPr lang="en-US" sz="1800" b="1" dirty="0">
                <a:solidFill>
                  <a:srgbClr val="D7191C"/>
                </a:solidFill>
              </a:rPr>
              <a:t>HOTSPOTS</a:t>
            </a:r>
            <a:endParaRPr lang="en-US" sz="1800" dirty="0"/>
          </a:p>
        </p:txBody>
      </p:sp>
      <p:sp>
        <p:nvSpPr>
          <p:cNvPr id="6" name="Text 4"/>
          <p:cNvSpPr/>
          <p:nvPr/>
        </p:nvSpPr>
        <p:spPr>
          <a:xfrm>
            <a:off x="822960" y="2377440"/>
            <a:ext cx="5120640" cy="3474720"/>
          </a:xfrm>
          <a:prstGeom prst="rect">
            <a:avLst/>
          </a:prstGeom>
          <a:noFill/>
          <a:ln/>
        </p:spPr>
        <p:txBody>
          <a:bodyPr wrap="square" rtlCol="0" anchor="ctr"/>
          <a:lstStyle/>
          <a:p>
            <a:pPr marL="342900" indent="-342900">
              <a:lnSpc>
                <a:spcPct val="125000"/>
              </a:lnSpc>
              <a:spcAft>
                <a:spcPts val="1400"/>
              </a:spcAft>
              <a:buSzPct val="100000"/>
              <a:buChar char="•"/>
            </a:pPr>
            <a:r>
              <a:rPr lang="en-US" sz="1500" dirty="0">
                <a:solidFill>
                  <a:srgbClr val="1A2A38"/>
                </a:solidFill>
              </a:rPr>
              <a:t>West-coast corridor (Alghero–Oristano) = highest hazard</a:t>
            </a:r>
            <a:endParaRPr lang="en-US" sz="1500" dirty="0"/>
          </a:p>
          <a:p>
            <a:pPr marL="342900" indent="-342900">
              <a:lnSpc>
                <a:spcPct val="125000"/>
              </a:lnSpc>
              <a:spcAft>
                <a:spcPts val="1400"/>
              </a:spcAft>
              <a:buSzPct val="100000"/>
              <a:buChar char="•"/>
            </a:pPr>
            <a:r>
              <a:rPr lang="en-US" sz="1500" dirty="0">
                <a:solidFill>
                  <a:srgbClr val="1A2A38"/>
                </a:solidFill>
              </a:rPr>
              <a:t>Oristano Is Arenas: max beach litter (1,255 items/100 m)</a:t>
            </a:r>
            <a:endParaRPr lang="en-US" sz="1500" dirty="0"/>
          </a:p>
          <a:p>
            <a:pPr marL="342900" indent="-342900">
              <a:lnSpc>
                <a:spcPct val="125000"/>
              </a:lnSpc>
              <a:spcAft>
                <a:spcPts val="1400"/>
              </a:spcAft>
              <a:buSzPct val="100000"/>
              <a:buChar char="•"/>
            </a:pPr>
            <a:r>
              <a:rPr lang="en-US" sz="1500" dirty="0">
                <a:solidFill>
                  <a:srgbClr val="1A2A38"/>
                </a:solidFill>
              </a:rPr>
              <a:t>East coast (San Teodoro) = statistically-confirmed coldspot</a:t>
            </a:r>
            <a:endParaRPr lang="en-US" sz="1500" dirty="0"/>
          </a:p>
          <a:p>
            <a:pPr marL="342900" indent="-342900">
              <a:lnSpc>
                <a:spcPct val="125000"/>
              </a:lnSpc>
              <a:spcAft>
                <a:spcPts val="1400"/>
              </a:spcAft>
              <a:buSzPct val="100000"/>
              <a:buChar char="•"/>
            </a:pPr>
            <a:r>
              <a:rPr lang="en-US" sz="1500" dirty="0">
                <a:solidFill>
                  <a:srgbClr val="1A2A38"/>
                </a:solidFill>
              </a:rPr>
              <a:t>Clustering significant every year (Moran I ≈ 0.95, p &lt; 0.001)</a:t>
            </a:r>
            <a:endParaRPr lang="en-US" sz="1500" dirty="0"/>
          </a:p>
        </p:txBody>
      </p:sp>
      <p:sp>
        <p:nvSpPr>
          <p:cNvPr id="7" name="Shape 5"/>
          <p:cNvSpPr/>
          <p:nvPr/>
        </p:nvSpPr>
        <p:spPr>
          <a:xfrm>
            <a:off x="6400800" y="1645920"/>
            <a:ext cx="5120640" cy="109728"/>
          </a:xfrm>
          <a:prstGeom prst="rect">
            <a:avLst/>
          </a:prstGeom>
          <a:solidFill>
            <a:srgbClr val="1C7293"/>
          </a:solidFill>
          <a:ln/>
        </p:spPr>
      </p:sp>
      <p:sp>
        <p:nvSpPr>
          <p:cNvPr id="8" name="Text 6"/>
          <p:cNvSpPr/>
          <p:nvPr/>
        </p:nvSpPr>
        <p:spPr>
          <a:xfrm>
            <a:off x="6400800" y="1828800"/>
            <a:ext cx="5120640" cy="457200"/>
          </a:xfrm>
          <a:prstGeom prst="rect">
            <a:avLst/>
          </a:prstGeom>
          <a:noFill/>
          <a:ln/>
        </p:spPr>
        <p:txBody>
          <a:bodyPr wrap="square" rtlCol="0" anchor="ctr"/>
          <a:lstStyle/>
          <a:p>
            <a:pPr indent="0" marL="0">
              <a:buNone/>
            </a:pPr>
            <a:r>
              <a:rPr lang="en-US" sz="1800" b="1" dirty="0">
                <a:solidFill>
                  <a:srgbClr val="1C7293"/>
                </a:solidFill>
              </a:rPr>
              <a:t>PATTERNS</a:t>
            </a:r>
            <a:endParaRPr lang="en-US" sz="1800" dirty="0"/>
          </a:p>
        </p:txBody>
      </p:sp>
      <p:sp>
        <p:nvSpPr>
          <p:cNvPr id="9" name="Text 7"/>
          <p:cNvSpPr/>
          <p:nvPr/>
        </p:nvSpPr>
        <p:spPr>
          <a:xfrm>
            <a:off x="6400800" y="2377440"/>
            <a:ext cx="5120640" cy="3474720"/>
          </a:xfrm>
          <a:prstGeom prst="rect">
            <a:avLst/>
          </a:prstGeom>
          <a:noFill/>
          <a:ln/>
        </p:spPr>
        <p:txBody>
          <a:bodyPr wrap="square" rtlCol="0" anchor="ctr"/>
          <a:lstStyle/>
          <a:p>
            <a:pPr marL="342900" indent="-342900">
              <a:lnSpc>
                <a:spcPct val="125000"/>
              </a:lnSpc>
              <a:spcAft>
                <a:spcPts val="1400"/>
              </a:spcAft>
              <a:buSzPct val="100000"/>
              <a:buChar char="•"/>
            </a:pPr>
            <a:r>
              <a:rPr lang="en-US" sz="1500" dirty="0">
                <a:solidFill>
                  <a:srgbClr val="1A2A38"/>
                </a:solidFill>
              </a:rPr>
              <a:t>84% of beach litter is artificial polymer</a:t>
            </a:r>
            <a:endParaRPr lang="en-US" sz="1500" dirty="0"/>
          </a:p>
          <a:p>
            <a:pPr marL="342900" indent="-342900">
              <a:lnSpc>
                <a:spcPct val="125000"/>
              </a:lnSpc>
              <a:spcAft>
                <a:spcPts val="1400"/>
              </a:spcAft>
              <a:buSzPct val="100000"/>
              <a:buChar char="•"/>
            </a:pPr>
            <a:r>
              <a:rPr lang="en-US" sz="1500" dirty="0">
                <a:solidFill>
                  <a:srgbClr val="1A2A38"/>
                </a:solidFill>
              </a:rPr>
              <a:t>Floating litter elevated late spring–autumn — current-driven</a:t>
            </a:r>
            <a:endParaRPr lang="en-US" sz="1500" dirty="0"/>
          </a:p>
          <a:p>
            <a:pPr marL="342900" indent="-342900">
              <a:lnSpc>
                <a:spcPct val="125000"/>
              </a:lnSpc>
              <a:spcAft>
                <a:spcPts val="1400"/>
              </a:spcAft>
              <a:buSzPct val="100000"/>
              <a:buChar char="•"/>
            </a:pPr>
            <a:r>
              <a:rPr lang="en-US" sz="1500" dirty="0">
                <a:solidFill>
                  <a:srgbClr val="1A2A38"/>
                </a:solidFill>
              </a:rPr>
              <a:t>Bio impact peaks 2021 (turtle strandings)</a:t>
            </a:r>
            <a:endParaRPr lang="en-US" sz="1500" dirty="0"/>
          </a:p>
          <a:p>
            <a:pPr marL="342900" indent="-342900">
              <a:lnSpc>
                <a:spcPct val="125000"/>
              </a:lnSpc>
              <a:spcAft>
                <a:spcPts val="1400"/>
              </a:spcAft>
              <a:buSzPct val="100000"/>
              <a:buChar char="•"/>
            </a:pPr>
            <a:r>
              <a:rPr lang="en-US" sz="1500" dirty="0">
                <a:solidFill>
                  <a:srgbClr val="1A2A38"/>
                </a:solidFill>
              </a:rPr>
              <a:t>COVID: beach litter −68% with tourism → human + transport drivers</a:t>
            </a:r>
            <a:endParaRPr lang="en-US" sz="1500" dirty="0"/>
          </a:p>
        </p:txBody>
      </p:sp>
      <p:sp>
        <p:nvSpPr>
          <p:cNvPr id="10" name="Text 8"/>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1" name="Text 9"/>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27</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39C12"/>
          </a:solidFill>
          <a:ln/>
        </p:spPr>
      </p:sp>
      <p:sp>
        <p:nvSpPr>
          <p:cNvPr id="3" name="Text 1"/>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065A82"/>
                </a:solidFill>
              </a:rPr>
              <a:t>Limitations &amp; Next Steps</a:t>
            </a:r>
            <a:endParaRPr lang="en-US" sz="2800" dirty="0"/>
          </a:p>
        </p:txBody>
      </p:sp>
      <p:sp>
        <p:nvSpPr>
          <p:cNvPr id="4" name="Shape 2"/>
          <p:cNvSpPr/>
          <p:nvPr/>
        </p:nvSpPr>
        <p:spPr>
          <a:xfrm>
            <a:off x="822960" y="1645920"/>
            <a:ext cx="5120640" cy="109728"/>
          </a:xfrm>
          <a:prstGeom prst="rect">
            <a:avLst/>
          </a:prstGeom>
          <a:solidFill>
            <a:srgbClr val="F39C12"/>
          </a:solidFill>
          <a:ln/>
        </p:spPr>
      </p:sp>
      <p:sp>
        <p:nvSpPr>
          <p:cNvPr id="5" name="Text 3"/>
          <p:cNvSpPr/>
          <p:nvPr/>
        </p:nvSpPr>
        <p:spPr>
          <a:xfrm>
            <a:off x="822960" y="1828800"/>
            <a:ext cx="5120640" cy="457200"/>
          </a:xfrm>
          <a:prstGeom prst="rect">
            <a:avLst/>
          </a:prstGeom>
          <a:noFill/>
          <a:ln/>
        </p:spPr>
        <p:txBody>
          <a:bodyPr wrap="square" rtlCol="0" anchor="ctr"/>
          <a:lstStyle/>
          <a:p>
            <a:pPr indent="0" marL="0">
              <a:buNone/>
            </a:pPr>
            <a:r>
              <a:rPr lang="en-US" sz="1800" b="1" dirty="0">
                <a:solidFill>
                  <a:srgbClr val="F39C12"/>
                </a:solidFill>
              </a:rPr>
              <a:t>LIMITATIONS</a:t>
            </a:r>
            <a:endParaRPr lang="en-US" sz="1800" dirty="0"/>
          </a:p>
        </p:txBody>
      </p:sp>
      <p:sp>
        <p:nvSpPr>
          <p:cNvPr id="6" name="Text 4"/>
          <p:cNvSpPr/>
          <p:nvPr/>
        </p:nvSpPr>
        <p:spPr>
          <a:xfrm>
            <a:off x="822960" y="2377440"/>
            <a:ext cx="512064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1A2A38"/>
                </a:solidFill>
              </a:rPr>
              <a:t>6 beach stations → sparse coverage, IDW smooths heavily</a:t>
            </a:r>
            <a:endParaRPr lang="en-US" sz="1400" dirty="0"/>
          </a:p>
          <a:p>
            <a:pPr marL="342900" indent="-342900">
              <a:lnSpc>
                <a:spcPct val="120000"/>
              </a:lnSpc>
              <a:spcAft>
                <a:spcPts val="1200"/>
              </a:spcAft>
              <a:buSzPct val="100000"/>
              <a:buChar char="•"/>
            </a:pPr>
            <a:r>
              <a:rPr lang="en-US" sz="1400" dirty="0">
                <a:solidFill>
                  <a:srgbClr val="1A2A38"/>
                </a:solidFill>
              </a:rPr>
              <a:t>Seafloor compartment synthetic (no ISPRA Sardinia module yet)</a:t>
            </a:r>
            <a:endParaRPr lang="en-US" sz="1400" dirty="0"/>
          </a:p>
          <a:p>
            <a:pPr marL="342900" indent="-342900">
              <a:lnSpc>
                <a:spcPct val="120000"/>
              </a:lnSpc>
              <a:spcAft>
                <a:spcPts val="1200"/>
              </a:spcAft>
              <a:buSzPct val="100000"/>
              <a:buChar char="•"/>
            </a:pPr>
            <a:r>
              <a:rPr lang="en-US" sz="1400" dirty="0">
                <a:solidFill>
                  <a:srgbClr val="1A2A38"/>
                </a:solidFill>
              </a:rPr>
              <a:t>Scores are relative (min-max), not absolute concentrations</a:t>
            </a:r>
            <a:endParaRPr lang="en-US" sz="1400" dirty="0"/>
          </a:p>
          <a:p>
            <a:pPr marL="342900" indent="-342900">
              <a:lnSpc>
                <a:spcPct val="120000"/>
              </a:lnSpc>
              <a:spcAft>
                <a:spcPts val="1200"/>
              </a:spcAft>
              <a:buSzPct val="100000"/>
              <a:buChar char="•"/>
            </a:pPr>
            <a:r>
              <a:rPr lang="en-US" sz="1400" dirty="0">
                <a:solidFill>
                  <a:srgbClr val="1A2A38"/>
                </a:solidFill>
              </a:rPr>
              <a:t>IDW interpolates over land — mitigated by coastal mask</a:t>
            </a:r>
            <a:endParaRPr lang="en-US" sz="1400" dirty="0"/>
          </a:p>
          <a:p>
            <a:pPr marL="342900" indent="-342900">
              <a:lnSpc>
                <a:spcPct val="120000"/>
              </a:lnSpc>
              <a:spcAft>
                <a:spcPts val="1200"/>
              </a:spcAft>
              <a:buSzPct val="100000"/>
              <a:buChar char="•"/>
            </a:pPr>
            <a:r>
              <a:rPr lang="en-US" sz="1400" dirty="0">
                <a:solidFill>
                  <a:srgbClr val="1A2A38"/>
                </a:solidFill>
              </a:rPr>
              <a:t>Strong autocorrelation partly inherited from IDW smoothing</a:t>
            </a:r>
            <a:endParaRPr lang="en-US" sz="1400" dirty="0"/>
          </a:p>
        </p:txBody>
      </p:sp>
      <p:sp>
        <p:nvSpPr>
          <p:cNvPr id="7" name="Shape 5"/>
          <p:cNvSpPr/>
          <p:nvPr/>
        </p:nvSpPr>
        <p:spPr>
          <a:xfrm>
            <a:off x="6400800" y="1645920"/>
            <a:ext cx="5120640" cy="109728"/>
          </a:xfrm>
          <a:prstGeom prst="rect">
            <a:avLst/>
          </a:prstGeom>
          <a:solidFill>
            <a:srgbClr val="065A82"/>
          </a:solidFill>
          <a:ln/>
        </p:spPr>
      </p:sp>
      <p:sp>
        <p:nvSpPr>
          <p:cNvPr id="8" name="Text 6"/>
          <p:cNvSpPr/>
          <p:nvPr/>
        </p:nvSpPr>
        <p:spPr>
          <a:xfrm>
            <a:off x="6400800" y="1828800"/>
            <a:ext cx="5120640" cy="457200"/>
          </a:xfrm>
          <a:prstGeom prst="rect">
            <a:avLst/>
          </a:prstGeom>
          <a:noFill/>
          <a:ln/>
        </p:spPr>
        <p:txBody>
          <a:bodyPr wrap="square" rtlCol="0" anchor="ctr"/>
          <a:lstStyle/>
          <a:p>
            <a:pPr indent="0" marL="0">
              <a:buNone/>
            </a:pPr>
            <a:r>
              <a:rPr lang="en-US" sz="1800" b="1" dirty="0">
                <a:solidFill>
                  <a:srgbClr val="065A82"/>
                </a:solidFill>
              </a:rPr>
              <a:t>NEXT STEPS</a:t>
            </a:r>
            <a:endParaRPr lang="en-US" sz="1800" dirty="0"/>
          </a:p>
        </p:txBody>
      </p:sp>
      <p:sp>
        <p:nvSpPr>
          <p:cNvPr id="9" name="Text 7"/>
          <p:cNvSpPr/>
          <p:nvPr/>
        </p:nvSpPr>
        <p:spPr>
          <a:xfrm>
            <a:off x="6400800" y="2377440"/>
            <a:ext cx="5120640" cy="3657600"/>
          </a:xfrm>
          <a:prstGeom prst="rect">
            <a:avLst/>
          </a:prstGeom>
          <a:noFill/>
          <a:ln/>
        </p:spPr>
        <p:txBody>
          <a:bodyPr wrap="square" rtlCol="0" anchor="ctr"/>
          <a:lstStyle/>
          <a:p>
            <a:pPr marL="342900" indent="-342900">
              <a:lnSpc>
                <a:spcPct val="120000"/>
              </a:lnSpc>
              <a:spcAft>
                <a:spcPts val="1200"/>
              </a:spcAft>
              <a:buSzPct val="100000"/>
              <a:buChar char="•"/>
            </a:pPr>
            <a:r>
              <a:rPr lang="en-US" sz="1400" dirty="0">
                <a:solidFill>
                  <a:srgbClr val="1A2A38"/>
                </a:solidFill>
              </a:rPr>
              <a:t>Replace synthetic seafloor with real MEDITS trawl data</a:t>
            </a:r>
            <a:endParaRPr lang="en-US" sz="1400" dirty="0"/>
          </a:p>
          <a:p>
            <a:pPr marL="342900" indent="-342900">
              <a:lnSpc>
                <a:spcPct val="120000"/>
              </a:lnSpc>
              <a:spcAft>
                <a:spcPts val="1200"/>
              </a:spcAft>
              <a:buSzPct val="100000"/>
              <a:buChar char="•"/>
            </a:pPr>
            <a:r>
              <a:rPr lang="en-US" sz="1400" dirty="0">
                <a:solidFill>
                  <a:srgbClr val="1A2A38"/>
                </a:solidFill>
              </a:rPr>
              <a:t>Bi-variate Moran (beach vs. floating) coupling</a:t>
            </a:r>
            <a:endParaRPr lang="en-US" sz="1400" dirty="0"/>
          </a:p>
          <a:p>
            <a:pPr marL="342900" indent="-342900">
              <a:lnSpc>
                <a:spcPct val="120000"/>
              </a:lnSpc>
              <a:spcAft>
                <a:spcPts val="1200"/>
              </a:spcAft>
              <a:buSzPct val="100000"/>
              <a:buChar char="•"/>
            </a:pPr>
            <a:r>
              <a:rPr lang="en-US" sz="1400" dirty="0">
                <a:solidFill>
                  <a:srgbClr val="1A2A38"/>
                </a:solidFill>
              </a:rPr>
              <a:t>Spatial regression: SAR / SEM / GWR for drivers</a:t>
            </a:r>
            <a:endParaRPr lang="en-US" sz="1400" dirty="0"/>
          </a:p>
          <a:p>
            <a:pPr marL="342900" indent="-342900">
              <a:lnSpc>
                <a:spcPct val="120000"/>
              </a:lnSpc>
              <a:spcAft>
                <a:spcPts val="1200"/>
              </a:spcAft>
              <a:buSzPct val="100000"/>
              <a:buChar char="•"/>
            </a:pPr>
            <a:r>
              <a:rPr lang="en-US" sz="1400" dirty="0">
                <a:solidFill>
                  <a:srgbClr val="1A2A38"/>
                </a:solidFill>
              </a:rPr>
              <a:t>Validate vs. citizen-science beach clean-ups</a:t>
            </a:r>
            <a:endParaRPr lang="en-US" sz="1400" dirty="0"/>
          </a:p>
          <a:p>
            <a:pPr marL="342900" indent="-342900">
              <a:lnSpc>
                <a:spcPct val="120000"/>
              </a:lnSpc>
              <a:spcAft>
                <a:spcPts val="1200"/>
              </a:spcAft>
              <a:buSzPct val="100000"/>
              <a:buChar char="•"/>
            </a:pPr>
            <a:r>
              <a:rPr lang="en-US" sz="1400" dirty="0">
                <a:solidFill>
                  <a:srgbClr val="1A2A38"/>
                </a:solidFill>
              </a:rPr>
              <a:t>Policy brief per coastal comune</a:t>
            </a:r>
            <a:endParaRPr lang="en-US" sz="1400" dirty="0"/>
          </a:p>
        </p:txBody>
      </p:sp>
      <p:sp>
        <p:nvSpPr>
          <p:cNvPr id="10" name="Text 8"/>
          <p:cNvSpPr/>
          <p:nvPr/>
        </p:nvSpPr>
        <p:spPr>
          <a:xfrm>
            <a:off x="457200" y="6492240"/>
            <a:ext cx="7315200" cy="274320"/>
          </a:xfrm>
          <a:prstGeom prst="rect">
            <a:avLst/>
          </a:prstGeom>
          <a:noFill/>
          <a:ln/>
        </p:spPr>
        <p:txBody>
          <a:bodyPr wrap="square" rtlCol="0" anchor="ctr"/>
          <a:lstStyle/>
          <a:p>
            <a:pPr algn="l" indent="0" marL="0">
              <a:buNone/>
            </a:pPr>
            <a:r>
              <a:rPr lang="en-US" sz="800" dirty="0">
                <a:solidFill>
                  <a:srgbClr val="6B7B8C"/>
                </a:solidFill>
              </a:rPr>
              <a:t>Marine Litter Hazard · Sardinia · MSFD D10</a:t>
            </a:r>
            <a:endParaRPr lang="en-US" sz="800" dirty="0"/>
          </a:p>
        </p:txBody>
      </p:sp>
      <p:sp>
        <p:nvSpPr>
          <p:cNvPr id="11" name="Text 9"/>
          <p:cNvSpPr/>
          <p:nvPr/>
        </p:nvSpPr>
        <p:spPr>
          <a:xfrm>
            <a:off x="11274552" y="6492240"/>
            <a:ext cx="457200" cy="274320"/>
          </a:xfrm>
          <a:prstGeom prst="rect">
            <a:avLst/>
          </a:prstGeom>
          <a:noFill/>
          <a:ln/>
        </p:spPr>
        <p:txBody>
          <a:bodyPr wrap="square" rtlCol="0" anchor="ctr"/>
          <a:lstStyle/>
          <a:p>
            <a:pPr algn="r" indent="0" marL="0">
              <a:buNone/>
            </a:pPr>
            <a:r>
              <a:rPr lang="en-US" sz="800" dirty="0">
                <a:solidFill>
                  <a:srgbClr val="6B7B8C"/>
                </a:solidFill>
              </a:rPr>
              <a:t>28</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65A82"/>
        </a:solidFill>
      </p:bgPr>
    </p:bg>
    <p:spTree>
      <p:nvGrpSpPr>
        <p:cNvPr id="1" name=""/>
        <p:cNvGrpSpPr/>
        <p:nvPr/>
      </p:nvGrpSpPr>
      <p:grpSpPr>
        <a:xfrm>
          <a:off x="0" y="0"/>
          <a:ext cx="0" cy="0"/>
          <a:chOff x="0" y="0"/>
          <a:chExt cx="0" cy="0"/>
        </a:xfrm>
      </p:grpSpPr>
      <p:sp>
        <p:nvSpPr>
          <p:cNvPr id="2" name="Shape 0"/>
          <p:cNvSpPr/>
          <p:nvPr/>
        </p:nvSpPr>
        <p:spPr>
          <a:xfrm>
            <a:off x="0" y="0"/>
            <a:ext cx="12188952" cy="228600"/>
          </a:xfrm>
          <a:prstGeom prst="rect">
            <a:avLst/>
          </a:prstGeom>
          <a:solidFill>
            <a:srgbClr val="F39C12"/>
          </a:solidFill>
          <a:ln/>
        </p:spPr>
      </p:sp>
      <p:sp>
        <p:nvSpPr>
          <p:cNvPr id="3" name="Text 1"/>
          <p:cNvSpPr/>
          <p:nvPr/>
        </p:nvSpPr>
        <p:spPr>
          <a:xfrm>
            <a:off x="822960" y="2011680"/>
            <a:ext cx="10515600" cy="914400"/>
          </a:xfrm>
          <a:prstGeom prst="rect">
            <a:avLst/>
          </a:prstGeom>
          <a:noFill/>
          <a:ln/>
        </p:spPr>
        <p:txBody>
          <a:bodyPr wrap="square" rtlCol="0" anchor="ctr"/>
          <a:lstStyle/>
          <a:p>
            <a:pPr indent="0" marL="0">
              <a:buNone/>
            </a:pPr>
            <a:r>
              <a:rPr lang="en-US" sz="5000" b="1" dirty="0">
                <a:solidFill>
                  <a:srgbClr val="FFFFFF"/>
                </a:solidFill>
              </a:rPr>
              <a:t>Thank You</a:t>
            </a:r>
            <a:endParaRPr lang="en-US" sz="5000" dirty="0"/>
          </a:p>
        </p:txBody>
      </p:sp>
      <p:sp>
        <p:nvSpPr>
          <p:cNvPr id="4" name="Shape 2"/>
          <p:cNvSpPr/>
          <p:nvPr/>
        </p:nvSpPr>
        <p:spPr>
          <a:xfrm>
            <a:off x="914400" y="3063240"/>
            <a:ext cx="2011680" cy="0"/>
          </a:xfrm>
          <a:prstGeom prst="line">
            <a:avLst/>
          </a:prstGeom>
          <a:noFill/>
          <a:ln w="38100">
            <a:solidFill>
              <a:srgbClr val="F39C12"/>
            </a:solidFill>
            <a:prstDash val="solid"/>
          </a:ln>
        </p:spPr>
      </p:sp>
      <p:sp>
        <p:nvSpPr>
          <p:cNvPr id="5" name="Text 3"/>
          <p:cNvSpPr/>
          <p:nvPr/>
        </p:nvSpPr>
        <p:spPr>
          <a:xfrm>
            <a:off x="868680" y="3383280"/>
            <a:ext cx="10515600" cy="1828800"/>
          </a:xfrm>
          <a:prstGeom prst="rect">
            <a:avLst/>
          </a:prstGeom>
          <a:noFill/>
          <a:ln/>
        </p:spPr>
        <p:txBody>
          <a:bodyPr wrap="square" rtlCol="0" anchor="ctr"/>
          <a:lstStyle/>
          <a:p>
            <a:pPr indent="0" marL="0">
              <a:lnSpc>
                <a:spcPct val="150000"/>
              </a:lnSpc>
              <a:buNone/>
            </a:pPr>
            <a:r>
              <a:rPr lang="en-US" sz="1600" b="1" dirty="0">
                <a:solidFill>
                  <a:srgbClr val="F39C12"/>
                </a:solidFill>
              </a:rPr>
              <a:t>GitHub: </a:t>
            </a:r>
            <a:pPr indent="0" marL="0">
              <a:lnSpc>
                <a:spcPct val="150000"/>
              </a:lnSpc>
              <a:buNone/>
            </a:pPr>
            <a:r>
              <a:rPr lang="en-US" sz="1600" dirty="0">
                <a:solidFill>
                  <a:srgbClr val="FFFFFF"/>
                </a:solidFill>
              </a:rPr>
              <a:t>daniele22-u/hhe-labsardinia
</a:t>
            </a:r>
            <a:pPr indent="0" marL="0">
              <a:lnSpc>
                <a:spcPct val="150000"/>
              </a:lnSpc>
              <a:buNone/>
            </a:pPr>
            <a:r>
              <a:rPr lang="en-US" sz="1600" b="1" dirty="0">
                <a:solidFill>
                  <a:srgbClr val="F39C12"/>
                </a:solidFill>
              </a:rPr>
              <a:t>Data: </a:t>
            </a:r>
            <a:pPr indent="0" marL="0">
              <a:lnSpc>
                <a:spcPct val="150000"/>
              </a:lnSpc>
              <a:buNone/>
            </a:pPr>
            <a:r>
              <a:rPr lang="en-US" sz="1600" dirty="0">
                <a:solidFill>
                  <a:srgbClr val="FFFFFF"/>
                </a:solidFill>
              </a:rPr>
              <a:t>ISPRA — Sistema Nazionale per la Protezione dell’Ambiente
</a:t>
            </a:r>
            <a:pPr indent="0" marL="0">
              <a:lnSpc>
                <a:spcPct val="150000"/>
              </a:lnSpc>
              <a:buNone/>
            </a:pPr>
            <a:r>
              <a:rPr lang="en-US" sz="1600" b="1" dirty="0">
                <a:solidFill>
                  <a:srgbClr val="F39C12"/>
                </a:solidFill>
              </a:rPr>
              <a:t>Framework: </a:t>
            </a:r>
            <a:pPr indent="0" marL="0">
              <a:lnSpc>
                <a:spcPct val="150000"/>
              </a:lnSpc>
              <a:buNone/>
            </a:pPr>
            <a:r>
              <a:rPr lang="en-US" sz="1600" dirty="0">
                <a:solidFill>
                  <a:srgbClr val="FFFFFF"/>
                </a:solidFill>
              </a:rPr>
              <a:t>EU Marine Strategy Framework Directive · Descriptor 10
</a:t>
            </a:r>
            <a:pPr indent="0" marL="0">
              <a:lnSpc>
                <a:spcPct val="150000"/>
              </a:lnSpc>
              <a:buNone/>
            </a:pPr>
            <a:r>
              <a:rPr lang="en-US" sz="1600" b="1" dirty="0">
                <a:solidFill>
                  <a:srgbClr val="F39C12"/>
                </a:solidFill>
              </a:rPr>
              <a:t>Methods: </a:t>
            </a:r>
            <a:pPr indent="0" marL="0">
              <a:lnSpc>
                <a:spcPct val="150000"/>
              </a:lnSpc>
              <a:buNone/>
            </a:pPr>
            <a:r>
              <a:rPr lang="en-US" sz="1600" dirty="0">
                <a:solidFill>
                  <a:srgbClr val="FFFFFF"/>
                </a:solidFill>
              </a:rPr>
              <a:t>IDW · Composite Hazard Index · Moran’s I · LISA · Getis-Ord GI*</a:t>
            </a:r>
            <a:endParaRPr lang="en-US" sz="1600" dirty="0"/>
          </a:p>
        </p:txBody>
      </p:sp>
      <p:sp>
        <p:nvSpPr>
          <p:cNvPr id="6" name="Text 4"/>
          <p:cNvSpPr/>
          <p:nvPr/>
        </p:nvSpPr>
        <p:spPr>
          <a:xfrm>
            <a:off x="868680" y="5852160"/>
            <a:ext cx="10515600" cy="365760"/>
          </a:xfrm>
          <a:prstGeom prst="rect">
            <a:avLst/>
          </a:prstGeom>
          <a:noFill/>
          <a:ln/>
        </p:spPr>
        <p:txBody>
          <a:bodyPr wrap="square" rtlCol="0" anchor="ctr"/>
          <a:lstStyle/>
          <a:p>
            <a:pPr indent="0" marL="0">
              <a:buNone/>
            </a:pPr>
            <a:r>
              <a:rPr lang="en-US" sz="1300" dirty="0">
                <a:solidFill>
                  <a:srgbClr val="CADCFC"/>
                </a:solidFill>
              </a:rPr>
              <a:t>HHE Data Science Laboratory · Politecnico di Milano · 2026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2026-05-29T16:05:50Z</dcterms:created>
  <dcterms:modified xsi:type="dcterms:W3CDTF">2026-05-29T16:05:50Z</dcterms:modified>
</cp:coreProperties>
</file>