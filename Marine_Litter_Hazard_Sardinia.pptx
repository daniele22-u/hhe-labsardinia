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project builds a spatial hazard index for marine litter along the Sardinian coast using six years of ISPRA monitoring data (2018–2023). Eight data compartments were collected: beach litter, floating litter, microplastics, biological impact on sea turtles, sea currents and tourism pressure. The work aligns with MSFD Descriptor 10 (marine litter). Goal today: show how the data was integrated, what spatial patterns emerged, and how spatial statistics confirm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question is both spatial (where is hazard concentrated) and temporal (how does it change 2018–2023). Why it matters: the Mediterranean is a plastic hotspot and Sardinia combines a very long coastline with heavy seasonal tourism and sensitive habitats. The gap: ISPRA collects rich data but it had never been integrated across compartments or tested statistically at sub-regional scale. Our approach borrows the IPCC hazard framing, interpolates each compartment onto a common 12 km grid, builds a weighted composite, then validates the spatial pattern with Moran's I, LISA and Getis-Ord 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Data. We cover where the data comes from, the eight compartments, and the harmonisation work needed because ISPRA file schemas drifted between 2018 and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compartments, each tied to an ISPRA MSFD module or an open dataset. Beach litter (Modulo 4) is the backbone: items per 100 m transect at 6 sites. Floating litter (Modulo 2-bis) adds offshore signal from 21 stations. Microplastics come from Modulo 2 trawls. Biological impact uses turtle stranding records (entanglement + ingestion) from CNR-IAS Oristano. Sea currents (CMEMS reanalysis) and tourism (ISTAT) are the physical and anthropogenic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practical hurdle was schema drift: column names changed across years and material names switched between Italian and English. A pandas normalize() step maps every variant to a single unified field. We also fixed the protocol denominator (all transects to 100 m) and filtered out non-Sardinia records by bounding box. End product is one tidy dashboard_data.json that every downstream analysis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Exploratory analysis. Compartment by compartment: beach litter trends and composition, floating litter, microplastics, biological impact, and the anthropogenic pressure / COVID natural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Beach litter per station over time. The west-coast sites Oristano Is Arenas and Alghero Lido dominate, both far above the EU indicative threshold of 150 items/100 m. East-coast San Teodoro is the cleanest. The west-vs-east gradient is the single most persistent pattern in the whole project and reappears later in the spatial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Composition: the top categories are dominated by plastic fragments and single-use / fishing-related items, coded with the EU JointList scheme (G79, J79, etc.). The source-attribution chart assigns items to likely origin — shoreline and recreational activities lead, with a sizeable indeterminate share that is typical for beached 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 litter from the offshore visual transects. About 70% is artificial polymer (plastic). The monthly observation curve stays high from late spring through autumn, with peaks consistent with wind- and current-driven transport rather than purely local input. Beach litter is even more plastic-dominated — 84% artificial polymer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Microplastics from Modulo 2 trawl sampling, interpolated with IDW onto the same 0.12-degree grid and masked to coastal waters. Concentrations are higher off the west and south coasts. Coverage runs 2018–2022; the 2023 module was not yet released. This layer is kept as a standalone toggle rather than in the composite because sampling density is uneven.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Biological impact translates litter into harm to wildlife. We combine entanglement and ingestion events on stranded loggerhead turtles into a normalised Bio Score. The signal peaks sharply in 2021 (46 combined events, score 1.0) and stays high in 2022, then drops in 2023. Ingestion is dominated by sheet plastic and fragments. This compartment carries 20% of the composite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is the main anthropogenic pressure, proxied by annual tourist-nights. Intuitively more tourists should mean more litter, but the data shows a weak, even negative correlation (Spearman about −0.44): the dirtiest west-coast beaches are not the busiest tourist destinations. That mismatch tells us beach litter on this coast is driven substantially by currents and accumulated legacy litter, not only by on-site visitor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Spearman correlation matrix. Two relationships stand out: beach litter is moderately negatively correlated with tourists (−0.44) and current speed is strongly negatively correlated with floating litter (−0.66) — faster currents disperse floating material away from the transects. No single variable dominates positively, which is exactly why we use a weighted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Special focus. The 2020 lockdown created an unplanned natural experiment: tourism collapsed for one season while the physical ocean kept running. By splitting the timeline into pre-COVID (2018–19), COVID (2020) and post-COVID (2021–23) we can separate the human-driven part of the litter signal from the current-driven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Tourist-nights fell from a ~14.3 million baseline to 8.7 million in 2020 — a 39% drop — then recovered to 13.4 million by 2021–23. Crucially, mean current speed barely moved across the three periods (13.2, 12.4, 11.8 cm/s), so the natural transport engine was effectively held constant. That is what makes 2020 a clean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measured response. Beach litter dropped hard during 2020 — mean from 830 to 269 items/100 m, a 68% fall — closely tracking the tourism collapse. Currents were essentially flat, our held-constant control. Floating observations and bio events look higher post-COVID, but a large part of the floating jump reflects increased sampling effort in later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The experiment confirms beach litter has a genuine local-human component: it dropped about 68% when tourism collapsed, against a constant-current control. But it did not fall to zero and did not rebound to the pre-COVID mean, so legacy litter and current transport clearly persist. Bottom line — both human and natural drivers operate, which justifies the multi-compartment, current-aware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the composite hazard index itself: how it is built, what the maps show, and how we refine it from grid cells to coastal municipalities.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One: normalise every compartment to 0–1 with global min-max, so colours are comparable across years. Two: interpolate each station network onto a common 0.12-degree (~12 km) grid with IDW, 289 cells, masked to the coast. Three: combine with fixed weights — beach+floating 35%, plastic 25%, currents 20%, bio 20%. Four: classify into five hazard bands. The weights are a defensible default, not a fitted model — easy to adjust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composite map, shown as three panels: beach score, floating score, and the combined hazard index. The beach panel drives the strong west-coast signal; floating is more diffuse. In the composite (right), the high-hazard zone sits clearly along the west coast around Alghero and Oristano, with the east coast much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Year-by-year hazard maps, globally normalised so colours mean the same thing every year. The headline is stability: the west-coast corridor lights up in every single year. The 2021–2022 maps run a little hotter, lifted by the biological-impact peak. There is no clean upward or downward trend — inter-annual variability dominates over any six-year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grid is good for analysis but not for management. Here we aggregate the grid hazard into 126 coastal municipalities using Shapely point-in-polygon assignment, with a nearest-centroid fallback for cells just offshore. The result speaks the language of decision-makers: each comune gets a hazard value per year, so clean-up resources and policy can be prioritised by administrative unit rather than abstract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the statistical core. So far the west-coast pattern is visual. Now we test it: is the clustering real or could it arise by chance? Global Moran's I, LISA, and Getis-Ord GI* answer where and how strongly.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complementary tools, all from the LEC12 geospatial lecture. Global Moran's I gives one number per year: is hazard clustered or random? LISA breaks that down per cell into High-High, Low-Low and the two outlier types, so we see exactly where clustering happens. Getis-Ord GI* grades hotspot intensity as a z-score. All implemented from scratch in NumPy in analysis_10_spatial_models.py.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Moran's I is essentially 0.95 every year with p = 0.000 from the permutation test — about 30 standard deviations above the random expectation. The chance that this west-coast clustering is a fluke is effectively zero. One caveat: IDW interpolation itself smooths neighbouring cells, so part of this very high autocorrelation is inherited from the interpolation — the direction and significance are robust, the exact magnitude less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LISA localises the clustering. Red cells are High-High hotspots — high hazard surrounded by high hazard — and they form a continuous corridor down the west coast from Alghero to Oristano. Blue Low-Low coldspots cover the east coast. The striking result is zero HL or LH outliers: there are no isolated anomalies, the pattern is spatially coherent.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Getis-Ord GI* adds intensity. Where LISA classifies cells into types, GI* gives each cell a continuous z-score: above +1.96 is a significant hotspot (red), below −1.96 a significant coldspot (blue). Around 80 hotspot and 65 coldspot cells per year. It lets you rank severity — a hotspot at z = 4 is more intense than one at z = 2 — useful for prioritising the worst cells within the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Hotspots: a clear west-coast corridor from Alghero to Oristano, with Oristano Is Arenas the single worst beach, and a statistically-confirmed east-coast coldspot; the clustering is significant every year. Patterns: plastics dominate every compartment, floating litter is seasonal and current-driven, biological impact peaked in 2021, and the COVID experiment showed beach litter is both human- and transport-driven.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limitations. Only six beach stations means IDW smooths aggressively and the autocorrelation is partly an artefact of that smoothing. The seafloor compartment is currently synthetic. Scores are relative, not absolute concentrations. Next steps: promote microplastics into the index once 2023 is released, bring in real MEDITS trawl data for seafloor, add bi-variate Moran, move to spatial regression (SAR/SEM/GWR), validate against citizen-science clean-up data, and produce a per-comune policy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To recap: we integrated eight ISPRA compartments into a single spatial hazard index for the Sardinian coast, used a COVID natural experiment to separate human from natural drivers, and confirmed a stable, statistically significant west-coast hotspot corridor with Moran's I, LISA and GI*. Everything — data, scripts and an interactive dashboard — is on GitHub.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0"/>
            <a:ext cx="12188952" cy="59436"/>
          </a:xfrm>
          <a:prstGeom prst="rect">
            <a:avLst/>
          </a:prstGeom>
          <a:solidFill>
            <a:srgbClr val="4DD9AC"/>
          </a:solidFill>
          <a:ln/>
        </p:spPr>
      </p:sp>
      <p:sp>
        <p:nvSpPr>
          <p:cNvPr id="4" name="Shape 2"/>
          <p:cNvSpPr/>
          <p:nvPr/>
        </p:nvSpPr>
        <p:spPr>
          <a:xfrm>
            <a:off x="5485028" y="0"/>
            <a:ext cx="6703924" cy="59436"/>
          </a:xfrm>
          <a:prstGeom prst="rect">
            <a:avLst/>
          </a:prstGeom>
          <a:solidFill>
            <a:srgbClr val="7ECEE3"/>
          </a:solidFill>
          <a:ln/>
        </p:spPr>
      </p:sp>
      <p:sp>
        <p:nvSpPr>
          <p:cNvPr id="5" name="Shape 3"/>
          <p:cNvSpPr/>
          <p:nvPr/>
        </p:nvSpPr>
        <p:spPr>
          <a:xfrm>
            <a:off x="0" y="4023360"/>
            <a:ext cx="12188952" cy="45720"/>
          </a:xfrm>
          <a:prstGeom prst="rect">
            <a:avLst/>
          </a:prstGeom>
          <a:solidFill>
            <a:srgbClr val="7ECEE3">
              <a:alpha val="24000"/>
            </a:srgbClr>
          </a:solidFill>
          <a:ln/>
        </p:spPr>
      </p:sp>
      <p:sp>
        <p:nvSpPr>
          <p:cNvPr id="6" name="Shape 4"/>
          <p:cNvSpPr/>
          <p:nvPr/>
        </p:nvSpPr>
        <p:spPr>
          <a:xfrm>
            <a:off x="0" y="4480560"/>
            <a:ext cx="12188952" cy="45720"/>
          </a:xfrm>
          <a:prstGeom prst="rect">
            <a:avLst/>
          </a:prstGeom>
          <a:solidFill>
            <a:srgbClr val="7ECEE3">
              <a:alpha val="20000"/>
            </a:srgbClr>
          </a:solidFill>
          <a:ln/>
        </p:spPr>
      </p:sp>
      <p:sp>
        <p:nvSpPr>
          <p:cNvPr id="7" name="Shape 5"/>
          <p:cNvSpPr/>
          <p:nvPr/>
        </p:nvSpPr>
        <p:spPr>
          <a:xfrm>
            <a:off x="0" y="4937760"/>
            <a:ext cx="12188952" cy="45720"/>
          </a:xfrm>
          <a:prstGeom prst="rect">
            <a:avLst/>
          </a:prstGeom>
          <a:solidFill>
            <a:srgbClr val="7ECEE3">
              <a:alpha val="16000"/>
            </a:srgbClr>
          </a:solidFill>
          <a:ln/>
        </p:spPr>
      </p:sp>
      <p:sp>
        <p:nvSpPr>
          <p:cNvPr id="8" name="Text 6"/>
          <p:cNvSpPr/>
          <p:nvPr/>
        </p:nvSpPr>
        <p:spPr>
          <a:xfrm>
            <a:off x="822960" y="1005840"/>
            <a:ext cx="10515600" cy="347472"/>
          </a:xfrm>
          <a:prstGeom prst="rect">
            <a:avLst/>
          </a:prstGeom>
          <a:noFill/>
          <a:ln/>
        </p:spPr>
        <p:txBody>
          <a:bodyPr wrap="square" rtlCol="0" anchor="ctr"/>
          <a:lstStyle/>
          <a:p>
            <a:pPr indent="0" marL="0">
              <a:buNone/>
            </a:pPr>
            <a:r>
              <a:rPr lang="en-US" sz="1300" spc="150" kern="0" dirty="0">
                <a:solidFill>
                  <a:srgbClr val="4DD9AC"/>
                </a:solidFill>
              </a:rPr>
              <a:t>HHE Data Science Laboratory · Politecnico di Milano</a:t>
            </a:r>
            <a:endParaRPr lang="en-US" sz="1300" dirty="0"/>
          </a:p>
        </p:txBody>
      </p:sp>
      <p:sp>
        <p:nvSpPr>
          <p:cNvPr id="9" name="Text 7"/>
          <p:cNvSpPr/>
          <p:nvPr/>
        </p:nvSpPr>
        <p:spPr>
          <a:xfrm>
            <a:off x="777240" y="1508760"/>
            <a:ext cx="10607040" cy="1051560"/>
          </a:xfrm>
          <a:prstGeom prst="rect">
            <a:avLst/>
          </a:prstGeom>
          <a:noFill/>
          <a:ln/>
        </p:spPr>
        <p:txBody>
          <a:bodyPr wrap="square" rtlCol="0" anchor="ctr"/>
          <a:lstStyle/>
          <a:p>
            <a:pPr indent="0" marL="0">
              <a:buNone/>
            </a:pPr>
            <a:r>
              <a:rPr lang="en-US" sz="6400" b="1" dirty="0">
                <a:solidFill>
                  <a:srgbClr val="EEF6FA"/>
                </a:solidFill>
              </a:rPr>
              <a:t>Marine Litter</a:t>
            </a:r>
            <a:endParaRPr lang="en-US" sz="6400" dirty="0"/>
          </a:p>
        </p:txBody>
      </p:sp>
      <p:sp>
        <p:nvSpPr>
          <p:cNvPr id="10" name="Text 8"/>
          <p:cNvSpPr/>
          <p:nvPr/>
        </p:nvSpPr>
        <p:spPr>
          <a:xfrm>
            <a:off x="777240" y="2514600"/>
            <a:ext cx="10607040" cy="868680"/>
          </a:xfrm>
          <a:prstGeom prst="rect">
            <a:avLst/>
          </a:prstGeom>
          <a:noFill/>
          <a:ln/>
        </p:spPr>
        <p:txBody>
          <a:bodyPr wrap="square" rtlCol="0" anchor="ctr"/>
          <a:lstStyle/>
          <a:p>
            <a:pPr indent="0" marL="0">
              <a:buNone/>
            </a:pPr>
            <a:r>
              <a:rPr lang="en-US" sz="4800" b="1" dirty="0">
                <a:solidFill>
                  <a:srgbClr val="7ECEE3"/>
                </a:solidFill>
              </a:rPr>
              <a:t>Hazard Assessment</a:t>
            </a:r>
            <a:endParaRPr lang="en-US" sz="4800" dirty="0"/>
          </a:p>
        </p:txBody>
      </p:sp>
      <p:sp>
        <p:nvSpPr>
          <p:cNvPr id="11" name="Shape 9"/>
          <p:cNvSpPr/>
          <p:nvPr/>
        </p:nvSpPr>
        <p:spPr>
          <a:xfrm>
            <a:off x="822960" y="3520440"/>
            <a:ext cx="2560320" cy="54864"/>
          </a:xfrm>
          <a:prstGeom prst="rect">
            <a:avLst/>
          </a:prstGeom>
          <a:solidFill>
            <a:srgbClr val="4DD9AC"/>
          </a:solidFill>
          <a:ln/>
        </p:spPr>
      </p:sp>
      <p:sp>
        <p:nvSpPr>
          <p:cNvPr id="12" name="Shape 10"/>
          <p:cNvSpPr/>
          <p:nvPr/>
        </p:nvSpPr>
        <p:spPr>
          <a:xfrm>
            <a:off x="3383280" y="3520440"/>
            <a:ext cx="1280160" cy="54864"/>
          </a:xfrm>
          <a:prstGeom prst="rect">
            <a:avLst/>
          </a:prstGeom>
          <a:solidFill>
            <a:srgbClr val="E8654A"/>
          </a:solidFill>
          <a:ln/>
        </p:spPr>
      </p:sp>
      <p:sp>
        <p:nvSpPr>
          <p:cNvPr id="13" name="Text 11"/>
          <p:cNvSpPr/>
          <p:nvPr/>
        </p:nvSpPr>
        <p:spPr>
          <a:xfrm>
            <a:off x="822960" y="3749040"/>
            <a:ext cx="10515600" cy="457200"/>
          </a:xfrm>
          <a:prstGeom prst="rect">
            <a:avLst/>
          </a:prstGeom>
          <a:noFill/>
          <a:ln/>
        </p:spPr>
        <p:txBody>
          <a:bodyPr wrap="square" rtlCol="0" anchor="ctr"/>
          <a:lstStyle/>
          <a:p>
            <a:pPr indent="0" marL="0">
              <a:buNone/>
            </a:pPr>
            <a:r>
              <a:rPr lang="en-US" sz="1600" dirty="0">
                <a:solidFill>
                  <a:srgbClr val="8BAFC8"/>
                </a:solidFill>
              </a:rPr>
              <a:t>Sardinian Sea · ISPRA Monitoring Data 2018–2023 · MSFD Descriptor 10</a:t>
            </a:r>
            <a:endParaRPr lang="en-US" sz="1600" dirty="0"/>
          </a:p>
        </p:txBody>
      </p:sp>
      <p:sp>
        <p:nvSpPr>
          <p:cNvPr id="14" name="Shape 12"/>
          <p:cNvSpPr/>
          <p:nvPr/>
        </p:nvSpPr>
        <p:spPr>
          <a:xfrm>
            <a:off x="0" y="6382512"/>
            <a:ext cx="12188952" cy="914"/>
          </a:xfrm>
          <a:prstGeom prst="rect">
            <a:avLst/>
          </a:prstGeom>
          <a:solidFill>
            <a:srgbClr val="1E4060"/>
          </a:solidFill>
          <a:ln/>
        </p:spPr>
      </p:sp>
      <p:sp>
        <p:nvSpPr>
          <p:cNvPr id="15" name="Text 13"/>
          <p:cNvSpPr/>
          <p:nvPr/>
        </p:nvSpPr>
        <p:spPr>
          <a:xfrm>
            <a:off x="822960" y="6172200"/>
            <a:ext cx="10515600" cy="347472"/>
          </a:xfrm>
          <a:prstGeom prst="rect">
            <a:avLst/>
          </a:prstGeom>
          <a:noFill/>
          <a:ln/>
        </p:spPr>
        <p:txBody>
          <a:bodyPr wrap="square" rtlCol="0" anchor="ctr"/>
          <a:lstStyle/>
          <a:p>
            <a:pPr indent="0" marL="0">
              <a:buNone/>
            </a:pPr>
            <a:r>
              <a:rPr lang="en-US" sz="1000" dirty="0">
                <a:solidFill>
                  <a:srgbClr val="8BAFC8"/>
                </a:solidFill>
              </a:rPr>
              <a:t>ISPRA — Sistema Nazionale Protezione Ambiente · EU Marine Strategy Framework Directive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Research Question</a:t>
            </a:r>
            <a:endParaRPr lang="en-US" sz="3000" dirty="0"/>
          </a:p>
        </p:txBody>
      </p:sp>
      <p:sp>
        <p:nvSpPr>
          <p:cNvPr id="10" name="Shape 8"/>
          <p:cNvSpPr/>
          <p:nvPr/>
        </p:nvSpPr>
        <p:spPr>
          <a:xfrm>
            <a:off x="512064" y="1143000"/>
            <a:ext cx="1280160" cy="50292"/>
          </a:xfrm>
          <a:prstGeom prst="rect">
            <a:avLst/>
          </a:prstGeom>
          <a:solidFill>
            <a:srgbClr val="4DD9AC"/>
          </a:solidFill>
          <a:ln/>
        </p:spPr>
      </p:sp>
      <p:sp>
        <p:nvSpPr>
          <p:cNvPr id="11" name="Shape 9"/>
          <p:cNvSpPr/>
          <p:nvPr/>
        </p:nvSpPr>
        <p:spPr>
          <a:xfrm>
            <a:off x="804672" y="1417320"/>
            <a:ext cx="10561320" cy="1463040"/>
          </a:xfrm>
          <a:prstGeom prst="roundRect">
            <a:avLst>
              <a:gd name="adj" fmla="val 4375"/>
            </a:avLst>
          </a:prstGeom>
          <a:solidFill>
            <a:srgbClr val="0F2C47">
              <a:alpha val="85000"/>
            </a:srgbClr>
          </a:solidFill>
          <a:ln w="19050">
            <a:solidFill>
              <a:srgbClr val="4DD9AC"/>
            </a:solidFill>
            <a:prstDash val="solid"/>
          </a:ln>
        </p:spPr>
      </p:sp>
      <p:sp>
        <p:nvSpPr>
          <p:cNvPr id="12" name="Text 10"/>
          <p:cNvSpPr/>
          <p:nvPr/>
        </p:nvSpPr>
        <p:spPr>
          <a:xfrm>
            <a:off x="1097280" y="1508760"/>
            <a:ext cx="9966960" cy="1261872"/>
          </a:xfrm>
          <a:prstGeom prst="rect">
            <a:avLst/>
          </a:prstGeom>
          <a:noFill/>
          <a:ln/>
        </p:spPr>
        <p:txBody>
          <a:bodyPr wrap="square" rtlCol="0" anchor="ctr"/>
          <a:lstStyle/>
          <a:p>
            <a:pPr indent="0" marL="0">
              <a:buNone/>
            </a:pPr>
            <a:r>
              <a:rPr lang="en-US" sz="1850" i="1" dirty="0">
                <a:solidFill>
                  <a:srgbClr val="EEF6FA"/>
                </a:solidFill>
              </a:rPr>
              <a:t>How is marine-litter hazard distributed along the Sardinian coast, and what temporal and statistical patterns emerge from ISPRA monitoring data (2018–2023)?</a:t>
            </a:r>
            <a:endParaRPr lang="en-US" sz="1850" dirty="0"/>
          </a:p>
        </p:txBody>
      </p:sp>
      <p:sp>
        <p:nvSpPr>
          <p:cNvPr id="13" name="Shape 11"/>
          <p:cNvSpPr/>
          <p:nvPr/>
        </p:nvSpPr>
        <p:spPr>
          <a:xfrm>
            <a:off x="804672" y="3108960"/>
            <a:ext cx="3493008" cy="3017520"/>
          </a:xfrm>
          <a:prstGeom prst="roundRect">
            <a:avLst>
              <a:gd name="adj" fmla="val 2121"/>
            </a:avLst>
          </a:prstGeom>
          <a:solidFill>
            <a:srgbClr val="0F2C47">
              <a:alpha val="85000"/>
            </a:srgbClr>
          </a:solidFill>
          <a:ln w="12700">
            <a:solidFill>
              <a:srgbClr val="1E4060"/>
            </a:solidFill>
            <a:prstDash val="solid"/>
          </a:ln>
        </p:spPr>
      </p:sp>
      <p:sp>
        <p:nvSpPr>
          <p:cNvPr id="14" name="Shape 12"/>
          <p:cNvSpPr/>
          <p:nvPr/>
        </p:nvSpPr>
        <p:spPr>
          <a:xfrm>
            <a:off x="804672" y="3108960"/>
            <a:ext cx="3493008" cy="68580"/>
          </a:xfrm>
          <a:prstGeom prst="rect">
            <a:avLst/>
          </a:prstGeom>
          <a:solidFill>
            <a:srgbClr val="4DD9AC"/>
          </a:solidFill>
          <a:ln/>
        </p:spPr>
      </p:sp>
      <p:sp>
        <p:nvSpPr>
          <p:cNvPr id="15" name="Text 13"/>
          <p:cNvSpPr/>
          <p:nvPr/>
        </p:nvSpPr>
        <p:spPr>
          <a:xfrm>
            <a:off x="1005840" y="3273552"/>
            <a:ext cx="3154680" cy="384048"/>
          </a:xfrm>
          <a:prstGeom prst="rect">
            <a:avLst/>
          </a:prstGeom>
          <a:noFill/>
          <a:ln/>
        </p:spPr>
        <p:txBody>
          <a:bodyPr wrap="square" rtlCol="0" anchor="ctr"/>
          <a:lstStyle/>
          <a:p>
            <a:pPr indent="0" marL="0">
              <a:buNone/>
            </a:pPr>
            <a:r>
              <a:rPr lang="en-US" sz="1300" b="1" dirty="0">
                <a:solidFill>
                  <a:srgbClr val="4DD9AC"/>
                </a:solidFill>
              </a:rPr>
              <a:t>WHY IT MATTERS</a:t>
            </a:r>
            <a:endParaRPr lang="en-US" sz="1300" dirty="0"/>
          </a:p>
        </p:txBody>
      </p:sp>
      <p:sp>
        <p:nvSpPr>
          <p:cNvPr id="16" name="Text 14"/>
          <p:cNvSpPr/>
          <p:nvPr/>
        </p:nvSpPr>
        <p:spPr>
          <a:xfrm>
            <a:off x="1005840" y="3703320"/>
            <a:ext cx="3154680" cy="2286000"/>
          </a:xfrm>
          <a:prstGeom prst="rect">
            <a:avLst/>
          </a:prstGeom>
          <a:noFill/>
          <a:ln/>
        </p:spPr>
        <p:txBody>
          <a:bodyPr wrap="square" rtlCol="0" anchor="ctr"/>
          <a:lstStyle/>
          <a:p>
            <a:pPr marL="342900" indent="-342900">
              <a:lnSpc>
                <a:spcPct val="112000"/>
              </a:lnSpc>
              <a:spcAft>
                <a:spcPts val="800"/>
              </a:spcAft>
              <a:buSzPct val="100000"/>
              <a:buChar char="►"/>
            </a:pPr>
            <a:r>
              <a:rPr lang="en-US" sz="1250" dirty="0">
                <a:solidFill>
                  <a:srgbClr val="EEF6FA"/>
                </a:solidFill>
              </a:rPr>
              <a:t>Mediterranean: 7% of global marine plastic, &lt;1% of ocean surface</a:t>
            </a:r>
            <a:endParaRPr lang="en-US" sz="1250" dirty="0"/>
          </a:p>
          <a:p>
            <a:pPr marL="342900" indent="-342900">
              <a:lnSpc>
                <a:spcPct val="112000"/>
              </a:lnSpc>
              <a:spcAft>
                <a:spcPts val="800"/>
              </a:spcAft>
              <a:buSzPct val="100000"/>
              <a:buChar char="►"/>
            </a:pPr>
            <a:r>
              <a:rPr lang="en-US" sz="1250" dirty="0">
                <a:solidFill>
                  <a:srgbClr val="EEF6FA"/>
                </a:solidFill>
              </a:rPr>
              <a:t>Sardinia: 1,849 km coastline · 13–16 M tourist-nights/year</a:t>
            </a:r>
            <a:endParaRPr lang="en-US" sz="1250" dirty="0"/>
          </a:p>
          <a:p>
            <a:pPr marL="342900" indent="-342900">
              <a:lnSpc>
                <a:spcPct val="112000"/>
              </a:lnSpc>
              <a:spcAft>
                <a:spcPts val="800"/>
              </a:spcAft>
              <a:buSzPct val="100000"/>
              <a:buChar char="►"/>
            </a:pPr>
            <a:r>
              <a:rPr lang="en-US" sz="1250" dirty="0">
                <a:solidFill>
                  <a:srgbClr val="EEF6FA"/>
                </a:solidFill>
              </a:rPr>
              <a:t>Fragile habitats: Posidonia meadows, coralligenous reefs, Caretta caretta</a:t>
            </a:r>
            <a:endParaRPr lang="en-US" sz="1250" dirty="0"/>
          </a:p>
        </p:txBody>
      </p:sp>
      <p:sp>
        <p:nvSpPr>
          <p:cNvPr id="17" name="Shape 15"/>
          <p:cNvSpPr/>
          <p:nvPr/>
        </p:nvSpPr>
        <p:spPr>
          <a:xfrm>
            <a:off x="4507992" y="3108960"/>
            <a:ext cx="3493008" cy="3017520"/>
          </a:xfrm>
          <a:prstGeom prst="roundRect">
            <a:avLst>
              <a:gd name="adj" fmla="val 2121"/>
            </a:avLst>
          </a:prstGeom>
          <a:solidFill>
            <a:srgbClr val="0F2C47">
              <a:alpha val="85000"/>
            </a:srgbClr>
          </a:solidFill>
          <a:ln w="12700">
            <a:solidFill>
              <a:srgbClr val="1E4060"/>
            </a:solidFill>
            <a:prstDash val="solid"/>
          </a:ln>
        </p:spPr>
      </p:sp>
      <p:sp>
        <p:nvSpPr>
          <p:cNvPr id="18" name="Shape 16"/>
          <p:cNvSpPr/>
          <p:nvPr/>
        </p:nvSpPr>
        <p:spPr>
          <a:xfrm>
            <a:off x="4507992" y="3108960"/>
            <a:ext cx="3493008" cy="68580"/>
          </a:xfrm>
          <a:prstGeom prst="rect">
            <a:avLst/>
          </a:prstGeom>
          <a:solidFill>
            <a:srgbClr val="E8654A"/>
          </a:solidFill>
          <a:ln/>
        </p:spPr>
      </p:sp>
      <p:sp>
        <p:nvSpPr>
          <p:cNvPr id="19" name="Text 17"/>
          <p:cNvSpPr/>
          <p:nvPr/>
        </p:nvSpPr>
        <p:spPr>
          <a:xfrm>
            <a:off x="4709160" y="3273552"/>
            <a:ext cx="3154680" cy="384048"/>
          </a:xfrm>
          <a:prstGeom prst="rect">
            <a:avLst/>
          </a:prstGeom>
          <a:noFill/>
          <a:ln/>
        </p:spPr>
        <p:txBody>
          <a:bodyPr wrap="square" rtlCol="0" anchor="ctr"/>
          <a:lstStyle/>
          <a:p>
            <a:pPr indent="0" marL="0">
              <a:buNone/>
            </a:pPr>
            <a:r>
              <a:rPr lang="en-US" sz="1300" b="1" dirty="0">
                <a:solidFill>
                  <a:srgbClr val="E8654A"/>
                </a:solidFill>
              </a:rPr>
              <a:t>KNOWLEDGE GAP</a:t>
            </a:r>
            <a:endParaRPr lang="en-US" sz="1300" dirty="0"/>
          </a:p>
        </p:txBody>
      </p:sp>
      <p:sp>
        <p:nvSpPr>
          <p:cNvPr id="20" name="Text 18"/>
          <p:cNvSpPr/>
          <p:nvPr/>
        </p:nvSpPr>
        <p:spPr>
          <a:xfrm>
            <a:off x="4709160" y="3703320"/>
            <a:ext cx="3154680" cy="2286000"/>
          </a:xfrm>
          <a:prstGeom prst="rect">
            <a:avLst/>
          </a:prstGeom>
          <a:noFill/>
          <a:ln/>
        </p:spPr>
        <p:txBody>
          <a:bodyPr wrap="square" rtlCol="0" anchor="ctr"/>
          <a:lstStyle/>
          <a:p>
            <a:pPr marL="342900" indent="-342900">
              <a:lnSpc>
                <a:spcPct val="112000"/>
              </a:lnSpc>
              <a:spcAft>
                <a:spcPts val="800"/>
              </a:spcAft>
              <a:buSzPct val="100000"/>
              <a:buChar char="►"/>
            </a:pPr>
            <a:r>
              <a:rPr lang="en-US" sz="1250" dirty="0">
                <a:solidFill>
                  <a:srgbClr val="EEF6FA"/>
                </a:solidFill>
              </a:rPr>
              <a:t>No unified spatial hazard map for the Sardinian coast</a:t>
            </a:r>
            <a:endParaRPr lang="en-US" sz="1250" dirty="0"/>
          </a:p>
          <a:p>
            <a:pPr marL="342900" indent="-342900">
              <a:lnSpc>
                <a:spcPct val="112000"/>
              </a:lnSpc>
              <a:spcAft>
                <a:spcPts val="800"/>
              </a:spcAft>
              <a:buSzPct val="100000"/>
              <a:buChar char="►"/>
            </a:pPr>
            <a:r>
              <a:rPr lang="en-US" sz="1250" dirty="0">
                <a:solidFill>
                  <a:srgbClr val="EEF6FA"/>
                </a:solidFill>
              </a:rPr>
              <a:t>ISPRA data collected but never integrated across compartments</a:t>
            </a:r>
            <a:endParaRPr lang="en-US" sz="1250" dirty="0"/>
          </a:p>
          <a:p>
            <a:pPr marL="342900" indent="-342900">
              <a:lnSpc>
                <a:spcPct val="112000"/>
              </a:lnSpc>
              <a:spcAft>
                <a:spcPts val="800"/>
              </a:spcAft>
              <a:buSzPct val="100000"/>
              <a:buChar char="►"/>
            </a:pPr>
            <a:r>
              <a:rPr lang="en-US" sz="1250" dirty="0">
                <a:solidFill>
                  <a:srgbClr val="EEF6FA"/>
                </a:solidFill>
              </a:rPr>
              <a:t>No statistical test of spatial clustering at sub-regional scale</a:t>
            </a:r>
            <a:endParaRPr lang="en-US" sz="1250" dirty="0"/>
          </a:p>
        </p:txBody>
      </p:sp>
      <p:sp>
        <p:nvSpPr>
          <p:cNvPr id="21" name="Shape 19"/>
          <p:cNvSpPr/>
          <p:nvPr/>
        </p:nvSpPr>
        <p:spPr>
          <a:xfrm>
            <a:off x="8211312" y="3108960"/>
            <a:ext cx="3493008" cy="3017520"/>
          </a:xfrm>
          <a:prstGeom prst="roundRect">
            <a:avLst>
              <a:gd name="adj" fmla="val 2121"/>
            </a:avLst>
          </a:prstGeom>
          <a:solidFill>
            <a:srgbClr val="0F2C47">
              <a:alpha val="85000"/>
            </a:srgbClr>
          </a:solidFill>
          <a:ln w="12700">
            <a:solidFill>
              <a:srgbClr val="1E4060"/>
            </a:solidFill>
            <a:prstDash val="solid"/>
          </a:ln>
        </p:spPr>
      </p:sp>
      <p:sp>
        <p:nvSpPr>
          <p:cNvPr id="22" name="Shape 20"/>
          <p:cNvSpPr/>
          <p:nvPr/>
        </p:nvSpPr>
        <p:spPr>
          <a:xfrm>
            <a:off x="8211312" y="3108960"/>
            <a:ext cx="3493008" cy="68580"/>
          </a:xfrm>
          <a:prstGeom prst="rect">
            <a:avLst/>
          </a:prstGeom>
          <a:solidFill>
            <a:srgbClr val="7ECEE3"/>
          </a:solidFill>
          <a:ln/>
        </p:spPr>
      </p:sp>
      <p:sp>
        <p:nvSpPr>
          <p:cNvPr id="23" name="Text 21"/>
          <p:cNvSpPr/>
          <p:nvPr/>
        </p:nvSpPr>
        <p:spPr>
          <a:xfrm>
            <a:off x="8412480" y="3273552"/>
            <a:ext cx="3154680" cy="384048"/>
          </a:xfrm>
          <a:prstGeom prst="rect">
            <a:avLst/>
          </a:prstGeom>
          <a:noFill/>
          <a:ln/>
        </p:spPr>
        <p:txBody>
          <a:bodyPr wrap="square" rtlCol="0" anchor="ctr"/>
          <a:lstStyle/>
          <a:p>
            <a:pPr indent="0" marL="0">
              <a:buNone/>
            </a:pPr>
            <a:r>
              <a:rPr lang="en-US" sz="1300" b="1" dirty="0">
                <a:solidFill>
                  <a:srgbClr val="7ECEE3"/>
                </a:solidFill>
              </a:rPr>
              <a:t>OUR APPROACH</a:t>
            </a:r>
            <a:endParaRPr lang="en-US" sz="1300" dirty="0"/>
          </a:p>
        </p:txBody>
      </p:sp>
      <p:sp>
        <p:nvSpPr>
          <p:cNvPr id="24" name="Text 22"/>
          <p:cNvSpPr/>
          <p:nvPr/>
        </p:nvSpPr>
        <p:spPr>
          <a:xfrm>
            <a:off x="8412480" y="3703320"/>
            <a:ext cx="3154680" cy="2286000"/>
          </a:xfrm>
          <a:prstGeom prst="rect">
            <a:avLst/>
          </a:prstGeom>
          <a:noFill/>
          <a:ln/>
        </p:spPr>
        <p:txBody>
          <a:bodyPr wrap="square" rtlCol="0" anchor="ctr"/>
          <a:lstStyle/>
          <a:p>
            <a:pPr marL="342900" indent="-342900">
              <a:lnSpc>
                <a:spcPct val="112000"/>
              </a:lnSpc>
              <a:spcAft>
                <a:spcPts val="800"/>
              </a:spcAft>
              <a:buSzPct val="100000"/>
              <a:buChar char="►"/>
            </a:pPr>
            <a:r>
              <a:rPr lang="en-US" sz="1250" dirty="0">
                <a:solidFill>
                  <a:srgbClr val="EEF6FA"/>
                </a:solidFill>
              </a:rPr>
              <a:t>IPCC hazard framework at 12 km grid resolution</a:t>
            </a:r>
            <a:endParaRPr lang="en-US" sz="1250" dirty="0"/>
          </a:p>
          <a:p>
            <a:pPr marL="342900" indent="-342900">
              <a:lnSpc>
                <a:spcPct val="112000"/>
              </a:lnSpc>
              <a:spcAft>
                <a:spcPts val="800"/>
              </a:spcAft>
              <a:buSzPct val="100000"/>
              <a:buChar char="►"/>
            </a:pPr>
            <a:r>
              <a:rPr lang="en-US" sz="1250" dirty="0">
                <a:solidFill>
                  <a:srgbClr val="EEF6FA"/>
                </a:solidFill>
              </a:rPr>
              <a:t>IDW interpolation + multi-compartment composite index</a:t>
            </a:r>
            <a:endParaRPr lang="en-US" sz="1250" dirty="0"/>
          </a:p>
          <a:p>
            <a:pPr marL="342900" indent="-342900">
              <a:lnSpc>
                <a:spcPct val="112000"/>
              </a:lnSpc>
              <a:spcAft>
                <a:spcPts val="800"/>
              </a:spcAft>
              <a:buSzPct val="100000"/>
              <a:buChar char="►"/>
            </a:pPr>
            <a:r>
              <a:rPr lang="en-US" sz="1250" dirty="0">
                <a:solidFill>
                  <a:srgbClr val="EEF6FA"/>
                </a:solidFill>
              </a:rPr>
              <a:t>Moran's I · LISA · Getis-Ord GI* spatial statistics</a:t>
            </a:r>
            <a:endParaRPr lang="en-US" sz="1250" dirty="0"/>
          </a:p>
        </p:txBody>
      </p:sp>
      <p:sp>
        <p:nvSpPr>
          <p:cNvPr id="25" name="Text 23"/>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26" name="Text 24"/>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1645920"/>
            <a:ext cx="12188952" cy="36576"/>
          </a:xfrm>
          <a:prstGeom prst="rect">
            <a:avLst/>
          </a:prstGeom>
          <a:solidFill>
            <a:srgbClr val="7ECEE3">
              <a:alpha val="30000"/>
            </a:srgbClr>
          </a:solidFill>
          <a:ln/>
        </p:spPr>
      </p:sp>
      <p:sp>
        <p:nvSpPr>
          <p:cNvPr id="8" name="Shape 6"/>
          <p:cNvSpPr/>
          <p:nvPr/>
        </p:nvSpPr>
        <p:spPr>
          <a:xfrm>
            <a:off x="0" y="2194560"/>
            <a:ext cx="12188952" cy="36576"/>
          </a:xfrm>
          <a:prstGeom prst="rect">
            <a:avLst/>
          </a:prstGeom>
          <a:solidFill>
            <a:srgbClr val="7ECEE3">
              <a:alpha val="24000"/>
            </a:srgbClr>
          </a:solidFill>
          <a:ln/>
        </p:spPr>
      </p:sp>
      <p:sp>
        <p:nvSpPr>
          <p:cNvPr id="9" name="Shape 7"/>
          <p:cNvSpPr/>
          <p:nvPr/>
        </p:nvSpPr>
        <p:spPr>
          <a:xfrm>
            <a:off x="0" y="2743200"/>
            <a:ext cx="12188952" cy="36576"/>
          </a:xfrm>
          <a:prstGeom prst="rect">
            <a:avLst/>
          </a:prstGeom>
          <a:solidFill>
            <a:srgbClr val="7ECEE3">
              <a:alpha val="18000"/>
            </a:srgbClr>
          </a:solidFill>
          <a:ln/>
        </p:spPr>
      </p:sp>
      <p:sp>
        <p:nvSpPr>
          <p:cNvPr id="10" name="Shape 8"/>
          <p:cNvSpPr/>
          <p:nvPr/>
        </p:nvSpPr>
        <p:spPr>
          <a:xfrm>
            <a:off x="0" y="3291840"/>
            <a:ext cx="12188952" cy="36576"/>
          </a:xfrm>
          <a:prstGeom prst="rect">
            <a:avLst/>
          </a:prstGeom>
          <a:solidFill>
            <a:srgbClr val="7ECEE3">
              <a:alpha val="12000"/>
            </a:srgbClr>
          </a:solidFill>
          <a:ln/>
        </p:spPr>
      </p:sp>
      <p:sp>
        <p:nvSpPr>
          <p:cNvPr id="11" name="Text 9"/>
          <p:cNvSpPr/>
          <p:nvPr/>
        </p:nvSpPr>
        <p:spPr>
          <a:xfrm>
            <a:off x="6858000" y="182880"/>
            <a:ext cx="5029200" cy="6217920"/>
          </a:xfrm>
          <a:prstGeom prst="rect">
            <a:avLst/>
          </a:prstGeom>
          <a:noFill/>
          <a:ln/>
        </p:spPr>
        <p:txBody>
          <a:bodyPr wrap="square" rtlCol="0" anchor="ctr"/>
          <a:lstStyle/>
          <a:p>
            <a:pPr algn="r" indent="0" marL="0">
              <a:buNone/>
            </a:pPr>
            <a:r>
              <a:rPr lang="en-US" sz="34000" b="1" dirty="0">
                <a:solidFill>
                  <a:srgbClr val="1A4F72">
                    <a:alpha val="22000"/>
                  </a:srgbClr>
                </a:solidFill>
              </a:rPr>
              <a:t>01</a:t>
            </a:r>
            <a:endParaRPr lang="en-US" sz="34000" dirty="0"/>
          </a:p>
        </p:txBody>
      </p:sp>
      <p:sp>
        <p:nvSpPr>
          <p:cNvPr id="12" name="Text 10"/>
          <p:cNvSpPr/>
          <p:nvPr/>
        </p:nvSpPr>
        <p:spPr>
          <a:xfrm>
            <a:off x="822960" y="2194560"/>
            <a:ext cx="7315200" cy="411480"/>
          </a:xfrm>
          <a:prstGeom prst="rect">
            <a:avLst/>
          </a:prstGeom>
          <a:noFill/>
          <a:ln/>
        </p:spPr>
        <p:txBody>
          <a:bodyPr wrap="square" rtlCol="0" anchor="ctr"/>
          <a:lstStyle/>
          <a:p>
            <a:pPr indent="0" marL="0">
              <a:buNone/>
            </a:pPr>
            <a:r>
              <a:rPr lang="en-US" sz="1300" b="1" spc="400" kern="0" dirty="0">
                <a:solidFill>
                  <a:srgbClr val="4DD9AC"/>
                </a:solidFill>
              </a:rPr>
              <a:t>SECTION 01</a:t>
            </a:r>
            <a:endParaRPr lang="en-US" sz="1300" dirty="0"/>
          </a:p>
        </p:txBody>
      </p:sp>
      <p:sp>
        <p:nvSpPr>
          <p:cNvPr id="13" name="Text 11"/>
          <p:cNvSpPr/>
          <p:nvPr/>
        </p:nvSpPr>
        <p:spPr>
          <a:xfrm>
            <a:off x="777240" y="2651760"/>
            <a:ext cx="9144000" cy="1005840"/>
          </a:xfrm>
          <a:prstGeom prst="rect">
            <a:avLst/>
          </a:prstGeom>
          <a:noFill/>
          <a:ln/>
        </p:spPr>
        <p:txBody>
          <a:bodyPr wrap="square" rtlCol="0" anchor="ctr"/>
          <a:lstStyle/>
          <a:p>
            <a:pPr indent="0" marL="0">
              <a:buNone/>
            </a:pPr>
            <a:r>
              <a:rPr lang="en-US" sz="4600" b="1" dirty="0">
                <a:solidFill>
                  <a:srgbClr val="EEF6FA"/>
                </a:solidFill>
              </a:rPr>
              <a:t>Data</a:t>
            </a:r>
            <a:endParaRPr lang="en-US" sz="4600" dirty="0"/>
          </a:p>
        </p:txBody>
      </p:sp>
      <p:sp>
        <p:nvSpPr>
          <p:cNvPr id="14" name="Shape 12"/>
          <p:cNvSpPr/>
          <p:nvPr/>
        </p:nvSpPr>
        <p:spPr>
          <a:xfrm>
            <a:off x="841248" y="3749040"/>
            <a:ext cx="2743200" cy="64008"/>
          </a:xfrm>
          <a:prstGeom prst="rect">
            <a:avLst/>
          </a:prstGeom>
          <a:solidFill>
            <a:srgbClr val="4DD9AC"/>
          </a:solidFill>
          <a:ln/>
        </p:spPr>
      </p:sp>
      <p:sp>
        <p:nvSpPr>
          <p:cNvPr id="15" name="Shape 13"/>
          <p:cNvSpPr/>
          <p:nvPr/>
        </p:nvSpPr>
        <p:spPr>
          <a:xfrm>
            <a:off x="3584448" y="3749040"/>
            <a:ext cx="1371600" cy="64008"/>
          </a:xfrm>
          <a:prstGeom prst="rect">
            <a:avLst/>
          </a:prstGeom>
          <a:solidFill>
            <a:srgbClr val="7ECEE3">
              <a:alpha val="70000"/>
            </a:srgbClr>
          </a:solidFill>
          <a:ln/>
        </p:spPr>
      </p:sp>
      <p:sp>
        <p:nvSpPr>
          <p:cNvPr id="16" name="Text 14"/>
          <p:cNvSpPr/>
          <p:nvPr/>
        </p:nvSpPr>
        <p:spPr>
          <a:xfrm>
            <a:off x="804672" y="3931920"/>
            <a:ext cx="10058400" cy="548640"/>
          </a:xfrm>
          <a:prstGeom prst="rect">
            <a:avLst/>
          </a:prstGeom>
          <a:noFill/>
          <a:ln/>
        </p:spPr>
        <p:txBody>
          <a:bodyPr wrap="square" rtlCol="0" anchor="ctr"/>
          <a:lstStyle/>
          <a:p>
            <a:pPr indent="0" marL="0">
              <a:buNone/>
            </a:pPr>
            <a:r>
              <a:rPr lang="en-US" sz="1600" dirty="0">
                <a:solidFill>
                  <a:srgbClr val="8BAFC8"/>
                </a:solidFill>
              </a:rPr>
              <a:t>sources · compartments · harmonisation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8 DATA COMPARTMENTS</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ISPRA MSFD Monitoring Data</a:t>
            </a:r>
            <a:endParaRPr lang="en-US" sz="3000" dirty="0"/>
          </a:p>
        </p:txBody>
      </p:sp>
      <p:sp>
        <p:nvSpPr>
          <p:cNvPr id="11" name="Shape 9"/>
          <p:cNvSpPr/>
          <p:nvPr/>
        </p:nvSpPr>
        <p:spPr>
          <a:xfrm>
            <a:off x="512064" y="1353312"/>
            <a:ext cx="1280160" cy="50292"/>
          </a:xfrm>
          <a:prstGeom prst="rect">
            <a:avLst/>
          </a:prstGeom>
          <a:solidFill>
            <a:srgbClr val="4DD9AC"/>
          </a:solidFill>
          <a:ln/>
        </p:spPr>
      </p:sp>
      <p:sp>
        <p:nvSpPr>
          <p:cNvPr id="12" name="Shape 10"/>
          <p:cNvSpPr/>
          <p:nvPr/>
        </p:nvSpPr>
        <p:spPr>
          <a:xfrm>
            <a:off x="548640" y="1554480"/>
            <a:ext cx="3611880" cy="2057400"/>
          </a:xfrm>
          <a:prstGeom prst="roundRect">
            <a:avLst>
              <a:gd name="adj" fmla="val 3111"/>
            </a:avLst>
          </a:prstGeom>
          <a:solidFill>
            <a:srgbClr val="0F2C47">
              <a:alpha val="85000"/>
            </a:srgbClr>
          </a:solidFill>
          <a:ln w="12700">
            <a:solidFill>
              <a:srgbClr val="1E4060"/>
            </a:solidFill>
            <a:prstDash val="solid"/>
          </a:ln>
        </p:spPr>
      </p:sp>
      <p:sp>
        <p:nvSpPr>
          <p:cNvPr id="13" name="Shape 11"/>
          <p:cNvSpPr/>
          <p:nvPr/>
        </p:nvSpPr>
        <p:spPr>
          <a:xfrm>
            <a:off x="548640" y="1554480"/>
            <a:ext cx="3611880" cy="64008"/>
          </a:xfrm>
          <a:prstGeom prst="rect">
            <a:avLst/>
          </a:prstGeom>
          <a:solidFill>
            <a:srgbClr val="4DD9AC"/>
          </a:solidFill>
          <a:ln/>
        </p:spPr>
      </p:sp>
      <p:sp>
        <p:nvSpPr>
          <p:cNvPr id="14" name="Text 12"/>
          <p:cNvSpPr/>
          <p:nvPr/>
        </p:nvSpPr>
        <p:spPr>
          <a:xfrm>
            <a:off x="731520" y="1737360"/>
            <a:ext cx="731520" cy="548640"/>
          </a:xfrm>
          <a:prstGeom prst="rect">
            <a:avLst/>
          </a:prstGeom>
          <a:noFill/>
          <a:ln/>
        </p:spPr>
        <p:txBody>
          <a:bodyPr wrap="square" rtlCol="0" anchor="ctr"/>
          <a:lstStyle/>
          <a:p>
            <a:pPr algn="ctr" indent="0" marL="0">
              <a:buNone/>
            </a:pPr>
            <a:r>
              <a:rPr lang="en-US" sz="2800" b="1" dirty="0">
                <a:solidFill>
                  <a:srgbClr val="4DD9AC"/>
                </a:solidFill>
              </a:rPr>
              <a:t>01</a:t>
            </a:r>
            <a:endParaRPr lang="en-US" sz="2800" dirty="0"/>
          </a:p>
        </p:txBody>
      </p:sp>
      <p:sp>
        <p:nvSpPr>
          <p:cNvPr id="15" name="Text 13"/>
          <p:cNvSpPr/>
          <p:nvPr/>
        </p:nvSpPr>
        <p:spPr>
          <a:xfrm>
            <a:off x="1508760" y="1755648"/>
            <a:ext cx="2468880" cy="365760"/>
          </a:xfrm>
          <a:prstGeom prst="rect">
            <a:avLst/>
          </a:prstGeom>
          <a:noFill/>
          <a:ln/>
        </p:spPr>
        <p:txBody>
          <a:bodyPr wrap="square" rtlCol="0" anchor="ctr"/>
          <a:lstStyle/>
          <a:p>
            <a:pPr indent="0" marL="0">
              <a:buNone/>
            </a:pPr>
            <a:r>
              <a:rPr lang="en-US" sz="1600" b="1" dirty="0">
                <a:solidFill>
                  <a:srgbClr val="EEF6FA"/>
                </a:solidFill>
              </a:rPr>
              <a:t>Beach Litter</a:t>
            </a:r>
            <a:endParaRPr lang="en-US" sz="1600" dirty="0"/>
          </a:p>
        </p:txBody>
      </p:sp>
      <p:sp>
        <p:nvSpPr>
          <p:cNvPr id="16" name="Text 14"/>
          <p:cNvSpPr/>
          <p:nvPr/>
        </p:nvSpPr>
        <p:spPr>
          <a:xfrm>
            <a:off x="1508760" y="2121408"/>
            <a:ext cx="2468880" cy="274320"/>
          </a:xfrm>
          <a:prstGeom prst="rect">
            <a:avLst/>
          </a:prstGeom>
          <a:noFill/>
          <a:ln/>
        </p:spPr>
        <p:txBody>
          <a:bodyPr wrap="square" rtlCol="0" anchor="ctr"/>
          <a:lstStyle/>
          <a:p>
            <a:pPr indent="0" marL="0">
              <a:buNone/>
            </a:pPr>
            <a:r>
              <a:rPr lang="en-US" sz="1000" b="1" dirty="0">
                <a:solidFill>
                  <a:srgbClr val="4DD9AC"/>
                </a:solidFill>
              </a:rPr>
              <a:t>Modulo 4</a:t>
            </a:r>
            <a:endParaRPr lang="en-US" sz="1000" dirty="0"/>
          </a:p>
        </p:txBody>
      </p:sp>
      <p:sp>
        <p:nvSpPr>
          <p:cNvPr id="17" name="Text 15"/>
          <p:cNvSpPr/>
          <p:nvPr/>
        </p:nvSpPr>
        <p:spPr>
          <a:xfrm>
            <a:off x="777240" y="2542032"/>
            <a:ext cx="3200400" cy="914400"/>
          </a:xfrm>
          <a:prstGeom prst="rect">
            <a:avLst/>
          </a:prstGeom>
          <a:noFill/>
          <a:ln/>
        </p:spPr>
        <p:txBody>
          <a:bodyPr wrap="square" rtlCol="0" anchor="t"/>
          <a:lstStyle/>
          <a:p>
            <a:pPr indent="0" marL="0">
              <a:buNone/>
            </a:pPr>
            <a:r>
              <a:rPr lang="en-US" sz="1150" dirty="0">
                <a:solidFill>
                  <a:srgbClr val="8BAFC8"/>
                </a:solidFill>
              </a:rPr>
              <a:t>6 sites · 36 surveys · items/100 m · EU JointList</a:t>
            </a:r>
            <a:endParaRPr lang="en-US" sz="1150" dirty="0"/>
          </a:p>
        </p:txBody>
      </p:sp>
      <p:sp>
        <p:nvSpPr>
          <p:cNvPr id="18" name="Shape 16"/>
          <p:cNvSpPr/>
          <p:nvPr/>
        </p:nvSpPr>
        <p:spPr>
          <a:xfrm>
            <a:off x="4389120" y="1554480"/>
            <a:ext cx="3611880" cy="2057400"/>
          </a:xfrm>
          <a:prstGeom prst="roundRect">
            <a:avLst>
              <a:gd name="adj" fmla="val 3111"/>
            </a:avLst>
          </a:prstGeom>
          <a:solidFill>
            <a:srgbClr val="0F2C47">
              <a:alpha val="85000"/>
            </a:srgbClr>
          </a:solidFill>
          <a:ln w="12700">
            <a:solidFill>
              <a:srgbClr val="1E4060"/>
            </a:solidFill>
            <a:prstDash val="solid"/>
          </a:ln>
        </p:spPr>
      </p:sp>
      <p:sp>
        <p:nvSpPr>
          <p:cNvPr id="19" name="Shape 17"/>
          <p:cNvSpPr/>
          <p:nvPr/>
        </p:nvSpPr>
        <p:spPr>
          <a:xfrm>
            <a:off x="4389120" y="1554480"/>
            <a:ext cx="3611880" cy="64008"/>
          </a:xfrm>
          <a:prstGeom prst="rect">
            <a:avLst/>
          </a:prstGeom>
          <a:solidFill>
            <a:srgbClr val="7ECEE3"/>
          </a:solidFill>
          <a:ln/>
        </p:spPr>
      </p:sp>
      <p:sp>
        <p:nvSpPr>
          <p:cNvPr id="20" name="Text 18"/>
          <p:cNvSpPr/>
          <p:nvPr/>
        </p:nvSpPr>
        <p:spPr>
          <a:xfrm>
            <a:off x="4572000" y="1737360"/>
            <a:ext cx="731520" cy="548640"/>
          </a:xfrm>
          <a:prstGeom prst="rect">
            <a:avLst/>
          </a:prstGeom>
          <a:noFill/>
          <a:ln/>
        </p:spPr>
        <p:txBody>
          <a:bodyPr wrap="square" rtlCol="0" anchor="ctr"/>
          <a:lstStyle/>
          <a:p>
            <a:pPr algn="ctr" indent="0" marL="0">
              <a:buNone/>
            </a:pPr>
            <a:r>
              <a:rPr lang="en-US" sz="2800" b="1" dirty="0">
                <a:solidFill>
                  <a:srgbClr val="7ECEE3"/>
                </a:solidFill>
              </a:rPr>
              <a:t>02</a:t>
            </a:r>
            <a:endParaRPr lang="en-US" sz="2800" dirty="0"/>
          </a:p>
        </p:txBody>
      </p:sp>
      <p:sp>
        <p:nvSpPr>
          <p:cNvPr id="21" name="Text 19"/>
          <p:cNvSpPr/>
          <p:nvPr/>
        </p:nvSpPr>
        <p:spPr>
          <a:xfrm>
            <a:off x="5349240" y="1755648"/>
            <a:ext cx="2468880" cy="365760"/>
          </a:xfrm>
          <a:prstGeom prst="rect">
            <a:avLst/>
          </a:prstGeom>
          <a:noFill/>
          <a:ln/>
        </p:spPr>
        <p:txBody>
          <a:bodyPr wrap="square" rtlCol="0" anchor="ctr"/>
          <a:lstStyle/>
          <a:p>
            <a:pPr indent="0" marL="0">
              <a:buNone/>
            </a:pPr>
            <a:r>
              <a:rPr lang="en-US" sz="1600" b="1" dirty="0">
                <a:solidFill>
                  <a:srgbClr val="EEF6FA"/>
                </a:solidFill>
              </a:rPr>
              <a:t>Floating Litter</a:t>
            </a:r>
            <a:endParaRPr lang="en-US" sz="1600" dirty="0"/>
          </a:p>
        </p:txBody>
      </p:sp>
      <p:sp>
        <p:nvSpPr>
          <p:cNvPr id="22" name="Text 20"/>
          <p:cNvSpPr/>
          <p:nvPr/>
        </p:nvSpPr>
        <p:spPr>
          <a:xfrm>
            <a:off x="5349240" y="2121408"/>
            <a:ext cx="2468880" cy="274320"/>
          </a:xfrm>
          <a:prstGeom prst="rect">
            <a:avLst/>
          </a:prstGeom>
          <a:noFill/>
          <a:ln/>
        </p:spPr>
        <p:txBody>
          <a:bodyPr wrap="square" rtlCol="0" anchor="ctr"/>
          <a:lstStyle/>
          <a:p>
            <a:pPr indent="0" marL="0">
              <a:buNone/>
            </a:pPr>
            <a:r>
              <a:rPr lang="en-US" sz="1000" b="1" dirty="0">
                <a:solidFill>
                  <a:srgbClr val="7ECEE3"/>
                </a:solidFill>
              </a:rPr>
              <a:t>Modulo 2-bis</a:t>
            </a:r>
            <a:endParaRPr lang="en-US" sz="1000" dirty="0"/>
          </a:p>
        </p:txBody>
      </p:sp>
      <p:sp>
        <p:nvSpPr>
          <p:cNvPr id="23" name="Text 21"/>
          <p:cNvSpPr/>
          <p:nvPr/>
        </p:nvSpPr>
        <p:spPr>
          <a:xfrm>
            <a:off x="4617720" y="2542032"/>
            <a:ext cx="3200400" cy="914400"/>
          </a:xfrm>
          <a:prstGeom prst="rect">
            <a:avLst/>
          </a:prstGeom>
          <a:noFill/>
          <a:ln/>
        </p:spPr>
        <p:txBody>
          <a:bodyPr wrap="square" rtlCol="0" anchor="t"/>
          <a:lstStyle/>
          <a:p>
            <a:pPr indent="0" marL="0">
              <a:buNone/>
            </a:pPr>
            <a:r>
              <a:rPr lang="en-US" sz="1150" dirty="0">
                <a:solidFill>
                  <a:srgbClr val="8BAFC8"/>
                </a:solidFill>
              </a:rPr>
              <a:t>21 stations · ship-based visual transect · material composition</a:t>
            </a:r>
            <a:endParaRPr lang="en-US" sz="1150" dirty="0"/>
          </a:p>
        </p:txBody>
      </p:sp>
      <p:sp>
        <p:nvSpPr>
          <p:cNvPr id="24" name="Shape 22"/>
          <p:cNvSpPr/>
          <p:nvPr/>
        </p:nvSpPr>
        <p:spPr>
          <a:xfrm>
            <a:off x="8229600" y="1554480"/>
            <a:ext cx="3611880" cy="2057400"/>
          </a:xfrm>
          <a:prstGeom prst="roundRect">
            <a:avLst>
              <a:gd name="adj" fmla="val 3111"/>
            </a:avLst>
          </a:prstGeom>
          <a:solidFill>
            <a:srgbClr val="0F2C47">
              <a:alpha val="85000"/>
            </a:srgbClr>
          </a:solidFill>
          <a:ln w="12700">
            <a:solidFill>
              <a:srgbClr val="1E4060"/>
            </a:solidFill>
            <a:prstDash val="solid"/>
          </a:ln>
        </p:spPr>
      </p:sp>
      <p:sp>
        <p:nvSpPr>
          <p:cNvPr id="25" name="Shape 23"/>
          <p:cNvSpPr/>
          <p:nvPr/>
        </p:nvSpPr>
        <p:spPr>
          <a:xfrm>
            <a:off x="8229600" y="1554480"/>
            <a:ext cx="3611880" cy="64008"/>
          </a:xfrm>
          <a:prstGeom prst="rect">
            <a:avLst/>
          </a:prstGeom>
          <a:solidFill>
            <a:srgbClr val="4DD9AC"/>
          </a:solidFill>
          <a:ln/>
        </p:spPr>
      </p:sp>
      <p:sp>
        <p:nvSpPr>
          <p:cNvPr id="26" name="Text 24"/>
          <p:cNvSpPr/>
          <p:nvPr/>
        </p:nvSpPr>
        <p:spPr>
          <a:xfrm>
            <a:off x="8412480" y="1737360"/>
            <a:ext cx="731520" cy="548640"/>
          </a:xfrm>
          <a:prstGeom prst="rect">
            <a:avLst/>
          </a:prstGeom>
          <a:noFill/>
          <a:ln/>
        </p:spPr>
        <p:txBody>
          <a:bodyPr wrap="square" rtlCol="0" anchor="ctr"/>
          <a:lstStyle/>
          <a:p>
            <a:pPr algn="ctr" indent="0" marL="0">
              <a:buNone/>
            </a:pPr>
            <a:r>
              <a:rPr lang="en-US" sz="2800" b="1" dirty="0">
                <a:solidFill>
                  <a:srgbClr val="4DD9AC"/>
                </a:solidFill>
              </a:rPr>
              <a:t>03</a:t>
            </a:r>
            <a:endParaRPr lang="en-US" sz="2800" dirty="0"/>
          </a:p>
        </p:txBody>
      </p:sp>
      <p:sp>
        <p:nvSpPr>
          <p:cNvPr id="27" name="Text 25"/>
          <p:cNvSpPr/>
          <p:nvPr/>
        </p:nvSpPr>
        <p:spPr>
          <a:xfrm>
            <a:off x="9189720" y="1755648"/>
            <a:ext cx="2468880" cy="365760"/>
          </a:xfrm>
          <a:prstGeom prst="rect">
            <a:avLst/>
          </a:prstGeom>
          <a:noFill/>
          <a:ln/>
        </p:spPr>
        <p:txBody>
          <a:bodyPr wrap="square" rtlCol="0" anchor="ctr"/>
          <a:lstStyle/>
          <a:p>
            <a:pPr indent="0" marL="0">
              <a:buNone/>
            </a:pPr>
            <a:r>
              <a:rPr lang="en-US" sz="1600" b="1" dirty="0">
                <a:solidFill>
                  <a:srgbClr val="EEF6FA"/>
                </a:solidFill>
              </a:rPr>
              <a:t>Microplastics</a:t>
            </a:r>
            <a:endParaRPr lang="en-US" sz="1600" dirty="0"/>
          </a:p>
        </p:txBody>
      </p:sp>
      <p:sp>
        <p:nvSpPr>
          <p:cNvPr id="28" name="Text 26"/>
          <p:cNvSpPr/>
          <p:nvPr/>
        </p:nvSpPr>
        <p:spPr>
          <a:xfrm>
            <a:off x="9189720" y="2121408"/>
            <a:ext cx="2468880" cy="274320"/>
          </a:xfrm>
          <a:prstGeom prst="rect">
            <a:avLst/>
          </a:prstGeom>
          <a:noFill/>
          <a:ln/>
        </p:spPr>
        <p:txBody>
          <a:bodyPr wrap="square" rtlCol="0" anchor="ctr"/>
          <a:lstStyle/>
          <a:p>
            <a:pPr indent="0" marL="0">
              <a:buNone/>
            </a:pPr>
            <a:r>
              <a:rPr lang="en-US" sz="1000" b="1" dirty="0">
                <a:solidFill>
                  <a:srgbClr val="4DD9AC"/>
                </a:solidFill>
              </a:rPr>
              <a:t>Modulo 2</a:t>
            </a:r>
            <a:endParaRPr lang="en-US" sz="1000" dirty="0"/>
          </a:p>
        </p:txBody>
      </p:sp>
      <p:sp>
        <p:nvSpPr>
          <p:cNvPr id="29" name="Text 27"/>
          <p:cNvSpPr/>
          <p:nvPr/>
        </p:nvSpPr>
        <p:spPr>
          <a:xfrm>
            <a:off x="8458200" y="2542032"/>
            <a:ext cx="3200400" cy="914400"/>
          </a:xfrm>
          <a:prstGeom prst="rect">
            <a:avLst/>
          </a:prstGeom>
          <a:noFill/>
          <a:ln/>
        </p:spPr>
        <p:txBody>
          <a:bodyPr wrap="square" rtlCol="0" anchor="t"/>
          <a:lstStyle/>
          <a:p>
            <a:pPr indent="0" marL="0">
              <a:buNone/>
            </a:pPr>
            <a:r>
              <a:rPr lang="en-US" sz="1150" dirty="0">
                <a:solidFill>
                  <a:srgbClr val="8BAFC8"/>
                </a:solidFill>
              </a:rPr>
              <a:t>336 trawl cells/yr (2018–22) · IDW concentration grid</a:t>
            </a:r>
            <a:endParaRPr lang="en-US" sz="1150" dirty="0"/>
          </a:p>
        </p:txBody>
      </p:sp>
      <p:sp>
        <p:nvSpPr>
          <p:cNvPr id="30" name="Shape 28"/>
          <p:cNvSpPr/>
          <p:nvPr/>
        </p:nvSpPr>
        <p:spPr>
          <a:xfrm>
            <a:off x="548640" y="3840480"/>
            <a:ext cx="3611880" cy="2057400"/>
          </a:xfrm>
          <a:prstGeom prst="roundRect">
            <a:avLst>
              <a:gd name="adj" fmla="val 3111"/>
            </a:avLst>
          </a:prstGeom>
          <a:solidFill>
            <a:srgbClr val="0F2C47">
              <a:alpha val="85000"/>
            </a:srgbClr>
          </a:solidFill>
          <a:ln w="12700">
            <a:solidFill>
              <a:srgbClr val="1E4060"/>
            </a:solidFill>
            <a:prstDash val="solid"/>
          </a:ln>
        </p:spPr>
      </p:sp>
      <p:sp>
        <p:nvSpPr>
          <p:cNvPr id="31" name="Shape 29"/>
          <p:cNvSpPr/>
          <p:nvPr/>
        </p:nvSpPr>
        <p:spPr>
          <a:xfrm>
            <a:off x="548640" y="3840480"/>
            <a:ext cx="3611880" cy="64008"/>
          </a:xfrm>
          <a:prstGeom prst="rect">
            <a:avLst/>
          </a:prstGeom>
          <a:solidFill>
            <a:srgbClr val="E8654A"/>
          </a:solidFill>
          <a:ln/>
        </p:spPr>
      </p:sp>
      <p:sp>
        <p:nvSpPr>
          <p:cNvPr id="32" name="Text 30"/>
          <p:cNvSpPr/>
          <p:nvPr/>
        </p:nvSpPr>
        <p:spPr>
          <a:xfrm>
            <a:off x="731520" y="4023360"/>
            <a:ext cx="731520" cy="548640"/>
          </a:xfrm>
          <a:prstGeom prst="rect">
            <a:avLst/>
          </a:prstGeom>
          <a:noFill/>
          <a:ln/>
        </p:spPr>
        <p:txBody>
          <a:bodyPr wrap="square" rtlCol="0" anchor="ctr"/>
          <a:lstStyle/>
          <a:p>
            <a:pPr algn="ctr" indent="0" marL="0">
              <a:buNone/>
            </a:pPr>
            <a:r>
              <a:rPr lang="en-US" sz="2800" b="1" dirty="0">
                <a:solidFill>
                  <a:srgbClr val="E8654A"/>
                </a:solidFill>
              </a:rPr>
              <a:t>04</a:t>
            </a:r>
            <a:endParaRPr lang="en-US" sz="2800" dirty="0"/>
          </a:p>
        </p:txBody>
      </p:sp>
      <p:sp>
        <p:nvSpPr>
          <p:cNvPr id="33" name="Text 31"/>
          <p:cNvSpPr/>
          <p:nvPr/>
        </p:nvSpPr>
        <p:spPr>
          <a:xfrm>
            <a:off x="1508760" y="4041648"/>
            <a:ext cx="2468880" cy="365760"/>
          </a:xfrm>
          <a:prstGeom prst="rect">
            <a:avLst/>
          </a:prstGeom>
          <a:noFill/>
          <a:ln/>
        </p:spPr>
        <p:txBody>
          <a:bodyPr wrap="square" rtlCol="0" anchor="ctr"/>
          <a:lstStyle/>
          <a:p>
            <a:pPr indent="0" marL="0">
              <a:buNone/>
            </a:pPr>
            <a:r>
              <a:rPr lang="en-US" sz="1600" b="1" dirty="0">
                <a:solidFill>
                  <a:srgbClr val="EEF6FA"/>
                </a:solidFill>
              </a:rPr>
              <a:t>Bio Impact</a:t>
            </a:r>
            <a:endParaRPr lang="en-US" sz="1600" dirty="0"/>
          </a:p>
        </p:txBody>
      </p:sp>
      <p:sp>
        <p:nvSpPr>
          <p:cNvPr id="34" name="Text 32"/>
          <p:cNvSpPr/>
          <p:nvPr/>
        </p:nvSpPr>
        <p:spPr>
          <a:xfrm>
            <a:off x="1508760" y="4407408"/>
            <a:ext cx="2468880" cy="274320"/>
          </a:xfrm>
          <a:prstGeom prst="rect">
            <a:avLst/>
          </a:prstGeom>
          <a:noFill/>
          <a:ln/>
        </p:spPr>
        <p:txBody>
          <a:bodyPr wrap="square" rtlCol="0" anchor="ctr"/>
          <a:lstStyle/>
          <a:p>
            <a:pPr indent="0" marL="0">
              <a:buNone/>
            </a:pPr>
            <a:r>
              <a:rPr lang="en-US" sz="1000" b="1" dirty="0">
                <a:solidFill>
                  <a:srgbClr val="E8654A"/>
                </a:solidFill>
              </a:rPr>
              <a:t>D10 strandings</a:t>
            </a:r>
            <a:endParaRPr lang="en-US" sz="1000" dirty="0"/>
          </a:p>
        </p:txBody>
      </p:sp>
      <p:sp>
        <p:nvSpPr>
          <p:cNvPr id="35" name="Text 33"/>
          <p:cNvSpPr/>
          <p:nvPr/>
        </p:nvSpPr>
        <p:spPr>
          <a:xfrm>
            <a:off x="777240" y="4828032"/>
            <a:ext cx="3200400" cy="914400"/>
          </a:xfrm>
          <a:prstGeom prst="rect">
            <a:avLst/>
          </a:prstGeom>
          <a:noFill/>
          <a:ln/>
        </p:spPr>
        <p:txBody>
          <a:bodyPr wrap="square" rtlCol="0" anchor="t"/>
          <a:lstStyle/>
          <a:p>
            <a:pPr indent="0" marL="0">
              <a:buNone/>
            </a:pPr>
            <a:r>
              <a:rPr lang="en-US" sz="1150" dirty="0">
                <a:solidFill>
                  <a:srgbClr val="8BAFC8"/>
                </a:solidFill>
              </a:rPr>
              <a:t>Entanglement + ingestion · Caretta caretta · CNR-IAS Oristano</a:t>
            </a:r>
            <a:endParaRPr lang="en-US" sz="1150" dirty="0"/>
          </a:p>
        </p:txBody>
      </p:sp>
      <p:sp>
        <p:nvSpPr>
          <p:cNvPr id="36" name="Shape 34"/>
          <p:cNvSpPr/>
          <p:nvPr/>
        </p:nvSpPr>
        <p:spPr>
          <a:xfrm>
            <a:off x="4389120" y="3840480"/>
            <a:ext cx="3611880" cy="2057400"/>
          </a:xfrm>
          <a:prstGeom prst="roundRect">
            <a:avLst>
              <a:gd name="adj" fmla="val 3111"/>
            </a:avLst>
          </a:prstGeom>
          <a:solidFill>
            <a:srgbClr val="0F2C47">
              <a:alpha val="85000"/>
            </a:srgbClr>
          </a:solidFill>
          <a:ln w="12700">
            <a:solidFill>
              <a:srgbClr val="1E4060"/>
            </a:solidFill>
            <a:prstDash val="solid"/>
          </a:ln>
        </p:spPr>
      </p:sp>
      <p:sp>
        <p:nvSpPr>
          <p:cNvPr id="37" name="Shape 35"/>
          <p:cNvSpPr/>
          <p:nvPr/>
        </p:nvSpPr>
        <p:spPr>
          <a:xfrm>
            <a:off x="4389120" y="3840480"/>
            <a:ext cx="3611880" cy="64008"/>
          </a:xfrm>
          <a:prstGeom prst="rect">
            <a:avLst/>
          </a:prstGeom>
          <a:solidFill>
            <a:srgbClr val="7ECEE3"/>
          </a:solidFill>
          <a:ln/>
        </p:spPr>
      </p:sp>
      <p:sp>
        <p:nvSpPr>
          <p:cNvPr id="38" name="Text 36"/>
          <p:cNvSpPr/>
          <p:nvPr/>
        </p:nvSpPr>
        <p:spPr>
          <a:xfrm>
            <a:off x="4572000" y="4023360"/>
            <a:ext cx="731520" cy="548640"/>
          </a:xfrm>
          <a:prstGeom prst="rect">
            <a:avLst/>
          </a:prstGeom>
          <a:noFill/>
          <a:ln/>
        </p:spPr>
        <p:txBody>
          <a:bodyPr wrap="square" rtlCol="0" anchor="ctr"/>
          <a:lstStyle/>
          <a:p>
            <a:pPr algn="ctr" indent="0" marL="0">
              <a:buNone/>
            </a:pPr>
            <a:r>
              <a:rPr lang="en-US" sz="2800" b="1" dirty="0">
                <a:solidFill>
                  <a:srgbClr val="7ECEE3"/>
                </a:solidFill>
              </a:rPr>
              <a:t>05</a:t>
            </a:r>
            <a:endParaRPr lang="en-US" sz="2800" dirty="0"/>
          </a:p>
        </p:txBody>
      </p:sp>
      <p:sp>
        <p:nvSpPr>
          <p:cNvPr id="39" name="Text 37"/>
          <p:cNvSpPr/>
          <p:nvPr/>
        </p:nvSpPr>
        <p:spPr>
          <a:xfrm>
            <a:off x="5349240" y="4041648"/>
            <a:ext cx="2468880" cy="365760"/>
          </a:xfrm>
          <a:prstGeom prst="rect">
            <a:avLst/>
          </a:prstGeom>
          <a:noFill/>
          <a:ln/>
        </p:spPr>
        <p:txBody>
          <a:bodyPr wrap="square" rtlCol="0" anchor="ctr"/>
          <a:lstStyle/>
          <a:p>
            <a:pPr indent="0" marL="0">
              <a:buNone/>
            </a:pPr>
            <a:r>
              <a:rPr lang="en-US" sz="1600" b="1" dirty="0">
                <a:solidFill>
                  <a:srgbClr val="EEF6FA"/>
                </a:solidFill>
              </a:rPr>
              <a:t>Sea Currents</a:t>
            </a:r>
            <a:endParaRPr lang="en-US" sz="1600" dirty="0"/>
          </a:p>
        </p:txBody>
      </p:sp>
      <p:sp>
        <p:nvSpPr>
          <p:cNvPr id="40" name="Text 38"/>
          <p:cNvSpPr/>
          <p:nvPr/>
        </p:nvSpPr>
        <p:spPr>
          <a:xfrm>
            <a:off x="5349240" y="4407408"/>
            <a:ext cx="2468880" cy="274320"/>
          </a:xfrm>
          <a:prstGeom prst="rect">
            <a:avLst/>
          </a:prstGeom>
          <a:noFill/>
          <a:ln/>
        </p:spPr>
        <p:txBody>
          <a:bodyPr wrap="square" rtlCol="0" anchor="ctr"/>
          <a:lstStyle/>
          <a:p>
            <a:pPr indent="0" marL="0">
              <a:buNone/>
            </a:pPr>
            <a:r>
              <a:rPr lang="en-US" sz="1000" b="1" dirty="0">
                <a:solidFill>
                  <a:srgbClr val="7ECEE3"/>
                </a:solidFill>
              </a:rPr>
              <a:t>CMEMS reanalysis</a:t>
            </a:r>
            <a:endParaRPr lang="en-US" sz="1000" dirty="0"/>
          </a:p>
        </p:txBody>
      </p:sp>
      <p:sp>
        <p:nvSpPr>
          <p:cNvPr id="41" name="Text 39"/>
          <p:cNvSpPr/>
          <p:nvPr/>
        </p:nvSpPr>
        <p:spPr>
          <a:xfrm>
            <a:off x="4617720" y="4828032"/>
            <a:ext cx="3200400" cy="914400"/>
          </a:xfrm>
          <a:prstGeom prst="rect">
            <a:avLst/>
          </a:prstGeom>
          <a:noFill/>
          <a:ln/>
        </p:spPr>
        <p:txBody>
          <a:bodyPr wrap="square" rtlCol="0" anchor="t"/>
          <a:lstStyle/>
          <a:p>
            <a:pPr indent="0" marL="0">
              <a:buNone/>
            </a:pPr>
            <a:r>
              <a:rPr lang="en-US" sz="1150" dirty="0">
                <a:solidFill>
                  <a:srgbClr val="8BAFC8"/>
                </a:solidFill>
              </a:rPr>
              <a:t>Monthly u/v fields · transport driver · 72 records</a:t>
            </a:r>
            <a:endParaRPr lang="en-US" sz="1150" dirty="0"/>
          </a:p>
        </p:txBody>
      </p:sp>
      <p:sp>
        <p:nvSpPr>
          <p:cNvPr id="42" name="Shape 40"/>
          <p:cNvSpPr/>
          <p:nvPr/>
        </p:nvSpPr>
        <p:spPr>
          <a:xfrm>
            <a:off x="8229600" y="3840480"/>
            <a:ext cx="3611880" cy="2057400"/>
          </a:xfrm>
          <a:prstGeom prst="roundRect">
            <a:avLst>
              <a:gd name="adj" fmla="val 3111"/>
            </a:avLst>
          </a:prstGeom>
          <a:solidFill>
            <a:srgbClr val="0F2C47">
              <a:alpha val="85000"/>
            </a:srgbClr>
          </a:solidFill>
          <a:ln w="12700">
            <a:solidFill>
              <a:srgbClr val="1E4060"/>
            </a:solidFill>
            <a:prstDash val="solid"/>
          </a:ln>
        </p:spPr>
      </p:sp>
      <p:sp>
        <p:nvSpPr>
          <p:cNvPr id="43" name="Shape 41"/>
          <p:cNvSpPr/>
          <p:nvPr/>
        </p:nvSpPr>
        <p:spPr>
          <a:xfrm>
            <a:off x="8229600" y="3840480"/>
            <a:ext cx="3611880" cy="64008"/>
          </a:xfrm>
          <a:prstGeom prst="rect">
            <a:avLst/>
          </a:prstGeom>
          <a:solidFill>
            <a:srgbClr val="F2E6C8"/>
          </a:solidFill>
          <a:ln/>
        </p:spPr>
      </p:sp>
      <p:sp>
        <p:nvSpPr>
          <p:cNvPr id="44" name="Text 42"/>
          <p:cNvSpPr/>
          <p:nvPr/>
        </p:nvSpPr>
        <p:spPr>
          <a:xfrm>
            <a:off x="8412480" y="4023360"/>
            <a:ext cx="731520" cy="548640"/>
          </a:xfrm>
          <a:prstGeom prst="rect">
            <a:avLst/>
          </a:prstGeom>
          <a:noFill/>
          <a:ln/>
        </p:spPr>
        <p:txBody>
          <a:bodyPr wrap="square" rtlCol="0" anchor="ctr"/>
          <a:lstStyle/>
          <a:p>
            <a:pPr algn="ctr" indent="0" marL="0">
              <a:buNone/>
            </a:pPr>
            <a:r>
              <a:rPr lang="en-US" sz="2800" b="1" dirty="0">
                <a:solidFill>
                  <a:srgbClr val="F2E6C8"/>
                </a:solidFill>
              </a:rPr>
              <a:t>06</a:t>
            </a:r>
            <a:endParaRPr lang="en-US" sz="2800" dirty="0"/>
          </a:p>
        </p:txBody>
      </p:sp>
      <p:sp>
        <p:nvSpPr>
          <p:cNvPr id="45" name="Text 43"/>
          <p:cNvSpPr/>
          <p:nvPr/>
        </p:nvSpPr>
        <p:spPr>
          <a:xfrm>
            <a:off x="9189720" y="4041648"/>
            <a:ext cx="2468880" cy="365760"/>
          </a:xfrm>
          <a:prstGeom prst="rect">
            <a:avLst/>
          </a:prstGeom>
          <a:noFill/>
          <a:ln/>
        </p:spPr>
        <p:txBody>
          <a:bodyPr wrap="square" rtlCol="0" anchor="ctr"/>
          <a:lstStyle/>
          <a:p>
            <a:pPr indent="0" marL="0">
              <a:buNone/>
            </a:pPr>
            <a:r>
              <a:rPr lang="en-US" sz="1600" b="1" dirty="0">
                <a:solidFill>
                  <a:srgbClr val="EEF6FA"/>
                </a:solidFill>
              </a:rPr>
              <a:t>Tourism</a:t>
            </a:r>
            <a:endParaRPr lang="en-US" sz="1600" dirty="0"/>
          </a:p>
        </p:txBody>
      </p:sp>
      <p:sp>
        <p:nvSpPr>
          <p:cNvPr id="46" name="Text 44"/>
          <p:cNvSpPr/>
          <p:nvPr/>
        </p:nvSpPr>
        <p:spPr>
          <a:xfrm>
            <a:off x="9189720" y="4407408"/>
            <a:ext cx="2468880" cy="274320"/>
          </a:xfrm>
          <a:prstGeom prst="rect">
            <a:avLst/>
          </a:prstGeom>
          <a:noFill/>
          <a:ln/>
        </p:spPr>
        <p:txBody>
          <a:bodyPr wrap="square" rtlCol="0" anchor="ctr"/>
          <a:lstStyle/>
          <a:p>
            <a:pPr indent="0" marL="0">
              <a:buNone/>
            </a:pPr>
            <a:r>
              <a:rPr lang="en-US" sz="1000" b="1" dirty="0">
                <a:solidFill>
                  <a:srgbClr val="F2E6C8"/>
                </a:solidFill>
              </a:rPr>
              <a:t>ISTAT</a:t>
            </a:r>
            <a:endParaRPr lang="en-US" sz="1000" dirty="0"/>
          </a:p>
        </p:txBody>
      </p:sp>
      <p:sp>
        <p:nvSpPr>
          <p:cNvPr id="47" name="Text 45"/>
          <p:cNvSpPr/>
          <p:nvPr/>
        </p:nvSpPr>
        <p:spPr>
          <a:xfrm>
            <a:off x="8458200" y="4828032"/>
            <a:ext cx="3200400" cy="914400"/>
          </a:xfrm>
          <a:prstGeom prst="rect">
            <a:avLst/>
          </a:prstGeom>
          <a:noFill/>
          <a:ln/>
        </p:spPr>
        <p:txBody>
          <a:bodyPr wrap="square" rtlCol="0" anchor="t"/>
          <a:lstStyle/>
          <a:p>
            <a:pPr indent="0" marL="0">
              <a:buNone/>
            </a:pPr>
            <a:r>
              <a:rPr lang="en-US" sz="1150" dirty="0">
                <a:solidFill>
                  <a:srgbClr val="8BAFC8"/>
                </a:solidFill>
              </a:rPr>
              <a:t>Annual tourist-nights · anthropogenic pressure proxy</a:t>
            </a:r>
            <a:endParaRPr lang="en-US" sz="1150" dirty="0"/>
          </a:p>
        </p:txBody>
      </p:sp>
      <p:sp>
        <p:nvSpPr>
          <p:cNvPr id="48" name="Text 46"/>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49" name="Text 47"/>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03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SCHEMA DRIFT 2018 → 2023</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Data Harmonisation</a:t>
            </a:r>
            <a:endParaRPr lang="en-US" sz="3000" dirty="0"/>
          </a:p>
        </p:txBody>
      </p:sp>
      <p:sp>
        <p:nvSpPr>
          <p:cNvPr id="11" name="Shape 9"/>
          <p:cNvSpPr/>
          <p:nvPr/>
        </p:nvSpPr>
        <p:spPr>
          <a:xfrm>
            <a:off x="512064" y="1353312"/>
            <a:ext cx="1280160" cy="50292"/>
          </a:xfrm>
          <a:prstGeom prst="rect">
            <a:avLst/>
          </a:prstGeom>
          <a:solidFill>
            <a:srgbClr val="4DD9AC"/>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04672" y="1572768"/>
          <a:ext cx="10561320" cy="914400"/>
        </p:xfrm>
        <a:graphic>
          <a:graphicData uri="http://schemas.openxmlformats.org/drawingml/2006/table">
            <a:tbl>
              <a:tblPr/>
              <a:tblGrid>
                <a:gridCol w="2377440"/>
                <a:gridCol w="2926080"/>
                <a:gridCol w="3108960"/>
                <a:gridCol w="2148840"/>
              </a:tblGrid>
              <a:tr h="457200">
                <a:tc>
                  <a:txBody>
                    <a:bodyPr/>
                    <a:lstStyle/>
                    <a:p>
                      <a:pPr algn="l" indent="0" marL="0">
                        <a:buNone/>
                      </a:pPr>
                      <a:r>
                        <a:rPr lang="en-US" sz="1250" b="1" dirty="0">
                          <a:solidFill>
                            <a:srgbClr val="4DD9AC"/>
                          </a:solidFill>
                        </a:rPr>
                        <a:t>Issue</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l" indent="0" marL="0">
                        <a:buNone/>
                      </a:pPr>
                      <a:r>
                        <a:rPr lang="en-US" sz="1250" b="1" dirty="0">
                          <a:solidFill>
                            <a:srgbClr val="4DD9AC"/>
                          </a:solidFill>
                        </a:rPr>
                        <a:t>Early format</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l" indent="0" marL="0">
                        <a:buNone/>
                      </a:pPr>
                      <a:r>
                        <a:rPr lang="en-US" sz="1250" b="1" dirty="0">
                          <a:solidFill>
                            <a:srgbClr val="4DD9AC"/>
                          </a:solidFill>
                        </a:rPr>
                        <a:t>Late format</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l" indent="0" marL="0">
                        <a:buNone/>
                      </a:pPr>
                      <a:r>
                        <a:rPr lang="en-US" sz="1250" b="1" dirty="0">
                          <a:solidFill>
                            <a:srgbClr val="4DD9AC"/>
                          </a:solidFill>
                        </a:rPr>
                        <a:t>Unified field</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r>
              <a:tr h="457200">
                <a:tc>
                  <a:txBody>
                    <a:bodyPr/>
                    <a:lstStyle/>
                    <a:p>
                      <a:pPr algn="l" indent="0" marL="0">
                        <a:buNone/>
                      </a:pPr>
                      <a:r>
                        <a:rPr lang="en-US" sz="1250" dirty="0">
                          <a:solidFill>
                            <a:srgbClr val="EEF6FA"/>
                          </a:solidFill>
                        </a:rPr>
                        <a:t>Survey ID</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SampleID</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CodiceCampionamento</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 survey_id</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457200">
                <a:tc>
                  <a:txBody>
                    <a:bodyPr/>
                    <a:lstStyle/>
                    <a:p>
                      <a:pPr algn="l" indent="0" marL="0">
                        <a:buNone/>
                      </a:pPr>
                      <a:r>
                        <a:rPr lang="en-US" sz="1250" dirty="0">
                          <a:solidFill>
                            <a:srgbClr val="EEF6FA"/>
                          </a:solidFill>
                        </a:rPr>
                        <a:t>Item count</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NumeroItems</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NumeroOggetti</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 n_items</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457200">
                <a:tc>
                  <a:txBody>
                    <a:bodyPr/>
                    <a:lstStyle/>
                    <a:p>
                      <a:pPr algn="l" indent="0" marL="0">
                        <a:buNone/>
                      </a:pPr>
                      <a:r>
                        <a:rPr lang="en-US" sz="1250" dirty="0">
                          <a:solidFill>
                            <a:srgbClr val="EEF6FA"/>
                          </a:solidFill>
                        </a:rPr>
                        <a:t>Transect length</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Lunghezza</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LunghezzaTransetto</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 transect_m</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457200">
                <a:tc>
                  <a:txBody>
                    <a:bodyPr/>
                    <a:lstStyle/>
                    <a:p>
                      <a:pPr algn="l" indent="0" marL="0">
                        <a:buNone/>
                      </a:pPr>
                      <a:r>
                        <a:rPr lang="en-US" sz="1250" dirty="0">
                          <a:solidFill>
                            <a:srgbClr val="EEF6FA"/>
                          </a:solidFill>
                        </a:rPr>
                        <a:t>Material names</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Polimeri artificiali</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Artificial polymer</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 normalized EN</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457200">
                <a:tc>
                  <a:txBody>
                    <a:bodyPr/>
                    <a:lstStyle/>
                    <a:p>
                      <a:pPr algn="l" indent="0" marL="0">
                        <a:buNone/>
                      </a:pPr>
                      <a:r>
                        <a:rPr lang="en-US" sz="1250" dirty="0">
                          <a:solidFill>
                            <a:srgbClr val="EEF6FA"/>
                          </a:solidFill>
                        </a:rPr>
                        <a:t>Coordinates</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missing per row</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station table</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l" indent="0" marL="0">
                        <a:buNone/>
                      </a:pPr>
                      <a:r>
                        <a:rPr lang="en-US" sz="1250" dirty="0">
                          <a:solidFill>
                            <a:srgbClr val="EEF6FA"/>
                          </a:solidFill>
                        </a:rPr>
                        <a:t>→ filled per beach_id</a:t>
                      </a:r>
                      <a:endParaRPr lang="en-US" sz="12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bl>
          </a:graphicData>
        </a:graphic>
      </p:graphicFrame>
      <p:sp>
        <p:nvSpPr>
          <p:cNvPr id="13" name="Text 10"/>
          <p:cNvSpPr/>
          <p:nvPr/>
        </p:nvSpPr>
        <p:spPr>
          <a:xfrm>
            <a:off x="804672" y="4617720"/>
            <a:ext cx="10561320" cy="347472"/>
          </a:xfrm>
          <a:prstGeom prst="rect">
            <a:avLst/>
          </a:prstGeom>
          <a:noFill/>
          <a:ln/>
        </p:spPr>
        <p:txBody>
          <a:bodyPr wrap="square" rtlCol="0" anchor="ctr"/>
          <a:lstStyle/>
          <a:p>
            <a:pPr indent="0" marL="0">
              <a:buNone/>
            </a:pPr>
            <a:r>
              <a:rPr lang="en-US" sz="1300" b="1" dirty="0">
                <a:solidFill>
                  <a:srgbClr val="4DD9AC"/>
                </a:solidFill>
              </a:rPr>
              <a:t>▸  </a:t>
            </a:r>
            <a:pPr indent="0" marL="0">
              <a:buNone/>
            </a:pPr>
            <a:r>
              <a:rPr lang="en-US" sz="1300" dirty="0">
                <a:solidFill>
                  <a:srgbClr val="EEF6FA"/>
                </a:solidFill>
              </a:rPr>
              <a:t>All beach files normalised to transect_m = 100 m (fixed MSFD protocol)</a:t>
            </a:r>
            <a:endParaRPr lang="en-US" sz="1300" dirty="0"/>
          </a:p>
        </p:txBody>
      </p:sp>
      <p:sp>
        <p:nvSpPr>
          <p:cNvPr id="14" name="Text 11"/>
          <p:cNvSpPr/>
          <p:nvPr/>
        </p:nvSpPr>
        <p:spPr>
          <a:xfrm>
            <a:off x="804672" y="5001768"/>
            <a:ext cx="10561320" cy="347472"/>
          </a:xfrm>
          <a:prstGeom prst="rect">
            <a:avLst/>
          </a:prstGeom>
          <a:noFill/>
          <a:ln/>
        </p:spPr>
        <p:txBody>
          <a:bodyPr wrap="square" rtlCol="0" anchor="ctr"/>
          <a:lstStyle/>
          <a:p>
            <a:pPr indent="0" marL="0">
              <a:buNone/>
            </a:pPr>
            <a:r>
              <a:rPr lang="en-US" sz="1300" b="1" dirty="0">
                <a:solidFill>
                  <a:srgbClr val="7ECEE3"/>
                </a:solidFill>
              </a:rPr>
              <a:t>▸  </a:t>
            </a:r>
            <a:pPr indent="0" marL="0">
              <a:buNone/>
            </a:pPr>
            <a:r>
              <a:rPr lang="en-US" sz="1300" dirty="0">
                <a:solidFill>
                  <a:srgbClr val="EEF6FA"/>
                </a:solidFill>
              </a:rPr>
              <a:t>Non-Sardinia records filtered by lat/lon bbox (38.5–41.6 N, 7.8–10.2 E) across all modules</a:t>
            </a:r>
            <a:endParaRPr lang="en-US" sz="1300" dirty="0"/>
          </a:p>
        </p:txBody>
      </p:sp>
      <p:sp>
        <p:nvSpPr>
          <p:cNvPr id="15" name="Shape 12"/>
          <p:cNvSpPr/>
          <p:nvPr/>
        </p:nvSpPr>
        <p:spPr>
          <a:xfrm>
            <a:off x="804672" y="5559552"/>
            <a:ext cx="10561320" cy="502920"/>
          </a:xfrm>
          <a:prstGeom prst="roundRect">
            <a:avLst>
              <a:gd name="adj" fmla="val 12727"/>
            </a:avLst>
          </a:prstGeom>
          <a:solidFill>
            <a:srgbClr val="0F2C47">
              <a:alpha val="85000"/>
            </a:srgbClr>
          </a:solidFill>
          <a:ln w="19050">
            <a:solidFill>
              <a:srgbClr val="4DD9AC"/>
            </a:solidFill>
            <a:prstDash val="solid"/>
          </a:ln>
        </p:spPr>
      </p:sp>
      <p:sp>
        <p:nvSpPr>
          <p:cNvPr id="16" name="Text 13"/>
          <p:cNvSpPr/>
          <p:nvPr/>
        </p:nvSpPr>
        <p:spPr>
          <a:xfrm>
            <a:off x="1005840" y="5577840"/>
            <a:ext cx="10241280" cy="475488"/>
          </a:xfrm>
          <a:prstGeom prst="rect">
            <a:avLst/>
          </a:prstGeom>
          <a:noFill/>
          <a:ln/>
        </p:spPr>
        <p:txBody>
          <a:bodyPr wrap="square" rtlCol="0" anchor="ctr"/>
          <a:lstStyle/>
          <a:p>
            <a:pPr indent="0" marL="0">
              <a:buNone/>
            </a:pPr>
            <a:r>
              <a:rPr lang="en-US" sz="1250" i="1" dirty="0">
                <a:solidFill>
                  <a:srgbClr val="4DD9AC"/>
                </a:solidFill>
              </a:rPr>
              <a:t>raw XLSX  →  pandas normalize()  →  unified CSV  →  dashboard_data.json</a:t>
            </a:r>
            <a:endParaRPr lang="en-US" sz="1250" dirty="0"/>
          </a:p>
        </p:txBody>
      </p:sp>
      <p:sp>
        <p:nvSpPr>
          <p:cNvPr id="17" name="Text 14"/>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8" name="Text 15"/>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04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1645920"/>
            <a:ext cx="12188952" cy="36576"/>
          </a:xfrm>
          <a:prstGeom prst="rect">
            <a:avLst/>
          </a:prstGeom>
          <a:solidFill>
            <a:srgbClr val="7ECEE3">
              <a:alpha val="30000"/>
            </a:srgbClr>
          </a:solidFill>
          <a:ln/>
        </p:spPr>
      </p:sp>
      <p:sp>
        <p:nvSpPr>
          <p:cNvPr id="8" name="Shape 6"/>
          <p:cNvSpPr/>
          <p:nvPr/>
        </p:nvSpPr>
        <p:spPr>
          <a:xfrm>
            <a:off x="0" y="2194560"/>
            <a:ext cx="12188952" cy="36576"/>
          </a:xfrm>
          <a:prstGeom prst="rect">
            <a:avLst/>
          </a:prstGeom>
          <a:solidFill>
            <a:srgbClr val="7ECEE3">
              <a:alpha val="24000"/>
            </a:srgbClr>
          </a:solidFill>
          <a:ln/>
        </p:spPr>
      </p:sp>
      <p:sp>
        <p:nvSpPr>
          <p:cNvPr id="9" name="Shape 7"/>
          <p:cNvSpPr/>
          <p:nvPr/>
        </p:nvSpPr>
        <p:spPr>
          <a:xfrm>
            <a:off x="0" y="2743200"/>
            <a:ext cx="12188952" cy="36576"/>
          </a:xfrm>
          <a:prstGeom prst="rect">
            <a:avLst/>
          </a:prstGeom>
          <a:solidFill>
            <a:srgbClr val="7ECEE3">
              <a:alpha val="18000"/>
            </a:srgbClr>
          </a:solidFill>
          <a:ln/>
        </p:spPr>
      </p:sp>
      <p:sp>
        <p:nvSpPr>
          <p:cNvPr id="10" name="Shape 8"/>
          <p:cNvSpPr/>
          <p:nvPr/>
        </p:nvSpPr>
        <p:spPr>
          <a:xfrm>
            <a:off x="0" y="3291840"/>
            <a:ext cx="12188952" cy="36576"/>
          </a:xfrm>
          <a:prstGeom prst="rect">
            <a:avLst/>
          </a:prstGeom>
          <a:solidFill>
            <a:srgbClr val="7ECEE3">
              <a:alpha val="12000"/>
            </a:srgbClr>
          </a:solidFill>
          <a:ln/>
        </p:spPr>
      </p:sp>
      <p:sp>
        <p:nvSpPr>
          <p:cNvPr id="11" name="Text 9"/>
          <p:cNvSpPr/>
          <p:nvPr/>
        </p:nvSpPr>
        <p:spPr>
          <a:xfrm>
            <a:off x="6858000" y="182880"/>
            <a:ext cx="5029200" cy="6217920"/>
          </a:xfrm>
          <a:prstGeom prst="rect">
            <a:avLst/>
          </a:prstGeom>
          <a:noFill/>
          <a:ln/>
        </p:spPr>
        <p:txBody>
          <a:bodyPr wrap="square" rtlCol="0" anchor="ctr"/>
          <a:lstStyle/>
          <a:p>
            <a:pPr algn="r" indent="0" marL="0">
              <a:buNone/>
            </a:pPr>
            <a:r>
              <a:rPr lang="en-US" sz="34000" b="1" dirty="0">
                <a:solidFill>
                  <a:srgbClr val="1A4F72">
                    <a:alpha val="22000"/>
                  </a:srgbClr>
                </a:solidFill>
              </a:rPr>
              <a:t>02</a:t>
            </a:r>
            <a:endParaRPr lang="en-US" sz="34000" dirty="0"/>
          </a:p>
        </p:txBody>
      </p:sp>
      <p:sp>
        <p:nvSpPr>
          <p:cNvPr id="12" name="Text 10"/>
          <p:cNvSpPr/>
          <p:nvPr/>
        </p:nvSpPr>
        <p:spPr>
          <a:xfrm>
            <a:off x="822960" y="2194560"/>
            <a:ext cx="7315200" cy="411480"/>
          </a:xfrm>
          <a:prstGeom prst="rect">
            <a:avLst/>
          </a:prstGeom>
          <a:noFill/>
          <a:ln/>
        </p:spPr>
        <p:txBody>
          <a:bodyPr wrap="square" rtlCol="0" anchor="ctr"/>
          <a:lstStyle/>
          <a:p>
            <a:pPr indent="0" marL="0">
              <a:buNone/>
            </a:pPr>
            <a:r>
              <a:rPr lang="en-US" sz="1300" b="1" spc="400" kern="0" dirty="0">
                <a:solidFill>
                  <a:srgbClr val="4DD9AC"/>
                </a:solidFill>
              </a:rPr>
              <a:t>SECTION 02</a:t>
            </a:r>
            <a:endParaRPr lang="en-US" sz="1300" dirty="0"/>
          </a:p>
        </p:txBody>
      </p:sp>
      <p:sp>
        <p:nvSpPr>
          <p:cNvPr id="13" name="Text 11"/>
          <p:cNvSpPr/>
          <p:nvPr/>
        </p:nvSpPr>
        <p:spPr>
          <a:xfrm>
            <a:off x="777240" y="2651760"/>
            <a:ext cx="9144000" cy="1005840"/>
          </a:xfrm>
          <a:prstGeom prst="rect">
            <a:avLst/>
          </a:prstGeom>
          <a:noFill/>
          <a:ln/>
        </p:spPr>
        <p:txBody>
          <a:bodyPr wrap="square" rtlCol="0" anchor="ctr"/>
          <a:lstStyle/>
          <a:p>
            <a:pPr indent="0" marL="0">
              <a:buNone/>
            </a:pPr>
            <a:r>
              <a:rPr lang="en-US" sz="4600" b="1" dirty="0">
                <a:solidFill>
                  <a:srgbClr val="EEF6FA"/>
                </a:solidFill>
              </a:rPr>
              <a:t>Exploratory Analysis</a:t>
            </a:r>
            <a:endParaRPr lang="en-US" sz="4600" dirty="0"/>
          </a:p>
        </p:txBody>
      </p:sp>
      <p:sp>
        <p:nvSpPr>
          <p:cNvPr id="14" name="Shape 12"/>
          <p:cNvSpPr/>
          <p:nvPr/>
        </p:nvSpPr>
        <p:spPr>
          <a:xfrm>
            <a:off x="841248" y="3749040"/>
            <a:ext cx="2743200" cy="64008"/>
          </a:xfrm>
          <a:prstGeom prst="rect">
            <a:avLst/>
          </a:prstGeom>
          <a:solidFill>
            <a:srgbClr val="4DD9AC"/>
          </a:solidFill>
          <a:ln/>
        </p:spPr>
      </p:sp>
      <p:sp>
        <p:nvSpPr>
          <p:cNvPr id="15" name="Shape 13"/>
          <p:cNvSpPr/>
          <p:nvPr/>
        </p:nvSpPr>
        <p:spPr>
          <a:xfrm>
            <a:off x="3584448" y="3749040"/>
            <a:ext cx="1371600" cy="64008"/>
          </a:xfrm>
          <a:prstGeom prst="rect">
            <a:avLst/>
          </a:prstGeom>
          <a:solidFill>
            <a:srgbClr val="7ECEE3">
              <a:alpha val="70000"/>
            </a:srgbClr>
          </a:solidFill>
          <a:ln/>
        </p:spPr>
      </p:sp>
      <p:sp>
        <p:nvSpPr>
          <p:cNvPr id="16" name="Text 14"/>
          <p:cNvSpPr/>
          <p:nvPr/>
        </p:nvSpPr>
        <p:spPr>
          <a:xfrm>
            <a:off x="804672" y="3931920"/>
            <a:ext cx="10058400" cy="548640"/>
          </a:xfrm>
          <a:prstGeom prst="rect">
            <a:avLst/>
          </a:prstGeom>
          <a:noFill/>
          <a:ln/>
        </p:spPr>
        <p:txBody>
          <a:bodyPr wrap="square" rtlCol="0" anchor="ctr"/>
          <a:lstStyle/>
          <a:p>
            <a:pPr indent="0" marL="0">
              <a:buNone/>
            </a:pPr>
            <a:r>
              <a:rPr lang="en-US" sz="1600" dirty="0">
                <a:solidFill>
                  <a:srgbClr val="8BAFC8"/>
                </a:solidFill>
              </a:rPr>
              <a:t>beach · floating · micro · bio · pressures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2018–2023</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Beach Litter — Trend per Station</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beach_trend_per_station.png">    </p:cNvPr>
          <p:cNvPicPr>
            <a:picLocks noChangeAspect="1"/>
          </p:cNvPicPr>
          <p:nvPr/>
        </p:nvPicPr>
        <p:blipFill>
          <a:blip r:embed="rId1"/>
          <a:stretch>
            <a:fillRect/>
          </a:stretch>
        </p:blipFill>
        <p:spPr>
          <a:xfrm>
            <a:off x="502920" y="1987446"/>
            <a:ext cx="6949440" cy="3797508"/>
          </a:xfrm>
          <a:prstGeom prst="rect">
            <a:avLst/>
          </a:prstGeom>
        </p:spPr>
      </p:pic>
      <p:sp>
        <p:nvSpPr>
          <p:cNvPr id="13" name="Text 10"/>
          <p:cNvSpPr/>
          <p:nvPr/>
        </p:nvSpPr>
        <p:spPr>
          <a:xfrm>
            <a:off x="7818120" y="1481328"/>
            <a:ext cx="3931920" cy="384048"/>
          </a:xfrm>
          <a:prstGeom prst="rect">
            <a:avLst/>
          </a:prstGeom>
          <a:noFill/>
          <a:ln/>
        </p:spPr>
        <p:txBody>
          <a:bodyPr wrap="square" rtlCol="0" anchor="ctr"/>
          <a:lstStyle/>
          <a:p>
            <a:pPr indent="0" marL="0">
              <a:buNone/>
            </a:pPr>
            <a:r>
              <a:rPr lang="en-US" sz="1400" b="1" dirty="0">
                <a:solidFill>
                  <a:srgbClr val="4DD9AC"/>
                </a:solidFill>
              </a:rPr>
              <a:t>Key Findings</a:t>
            </a:r>
            <a:endParaRPr lang="en-US" sz="1400" dirty="0"/>
          </a:p>
        </p:txBody>
      </p:sp>
      <p:sp>
        <p:nvSpPr>
          <p:cNvPr id="14" name="Text 11"/>
          <p:cNvSpPr/>
          <p:nvPr/>
        </p:nvSpPr>
        <p:spPr>
          <a:xfrm>
            <a:off x="7818120" y="1965960"/>
            <a:ext cx="4023360" cy="4114800"/>
          </a:xfrm>
          <a:prstGeom prst="rect">
            <a:avLst/>
          </a:prstGeom>
          <a:noFill/>
          <a:ln/>
        </p:spPr>
        <p:txBody>
          <a:bodyPr wrap="square" rtlCol="0" anchor="ctr"/>
          <a:lstStyle/>
          <a:p>
            <a:pPr marL="342900" indent="-342900">
              <a:lnSpc>
                <a:spcPct val="115000"/>
              </a:lnSpc>
              <a:spcAft>
                <a:spcPts val="1000"/>
              </a:spcAft>
              <a:buSzPct val="100000"/>
              <a:buChar char="►"/>
            </a:pPr>
            <a:r>
              <a:rPr lang="en-US" sz="1300" dirty="0">
                <a:solidFill>
                  <a:srgbClr val="EEF6FA"/>
                </a:solidFill>
              </a:rPr>
              <a:t>Oristano Is Arenas: highest density (avg 1,255 items/100 m)</a:t>
            </a:r>
            <a:endParaRPr lang="en-US" sz="1300" dirty="0"/>
          </a:p>
          <a:p>
            <a:pPr marL="342900" indent="-342900">
              <a:lnSpc>
                <a:spcPct val="115000"/>
              </a:lnSpc>
              <a:spcAft>
                <a:spcPts val="1000"/>
              </a:spcAft>
              <a:buSzPct val="100000"/>
              <a:buChar char="►"/>
            </a:pPr>
            <a:r>
              <a:rPr lang="en-US" sz="1300" dirty="0">
                <a:solidFill>
                  <a:srgbClr val="EEF6FA"/>
                </a:solidFill>
              </a:rPr>
              <a:t>Alghero Lido: second (avg 734)</a:t>
            </a:r>
            <a:endParaRPr lang="en-US" sz="1300" dirty="0"/>
          </a:p>
          <a:p>
            <a:pPr marL="342900" indent="-342900">
              <a:lnSpc>
                <a:spcPct val="115000"/>
              </a:lnSpc>
              <a:spcAft>
                <a:spcPts val="1000"/>
              </a:spcAft>
              <a:buSzPct val="100000"/>
              <a:buChar char="►"/>
            </a:pPr>
            <a:r>
              <a:rPr lang="en-US" sz="1300" dirty="0">
                <a:solidFill>
                  <a:srgbClr val="EEF6FA"/>
                </a:solidFill>
              </a:rPr>
              <a:t>San Teodoro La Cinta: lowest (avg 85)</a:t>
            </a:r>
            <a:endParaRPr lang="en-US" sz="1300" dirty="0"/>
          </a:p>
          <a:p>
            <a:pPr marL="342900" indent="-342900">
              <a:lnSpc>
                <a:spcPct val="115000"/>
              </a:lnSpc>
              <a:spcAft>
                <a:spcPts val="1000"/>
              </a:spcAft>
              <a:buSzPct val="100000"/>
              <a:buChar char="►"/>
            </a:pPr>
            <a:r>
              <a:rPr lang="en-US" sz="1300" dirty="0">
                <a:solidFill>
                  <a:srgbClr val="EEF6FA"/>
                </a:solidFill>
              </a:rPr>
              <a:t>EU indicative threshold: 150 items/100 m</a:t>
            </a:r>
            <a:endParaRPr lang="en-US" sz="1300" dirty="0"/>
          </a:p>
          <a:p>
            <a:pPr marL="342900" indent="-342900">
              <a:lnSpc>
                <a:spcPct val="115000"/>
              </a:lnSpc>
              <a:spcAft>
                <a:spcPts val="1000"/>
              </a:spcAft>
              <a:buSzPct val="100000"/>
              <a:buChar char="►"/>
            </a:pPr>
            <a:r>
              <a:rPr lang="en-US" sz="1300" dirty="0">
                <a:solidFill>
                  <a:srgbClr val="EEF6FA"/>
                </a:solidFill>
              </a:rPr>
              <a:t>West coast consistently &gt; east coast</a:t>
            </a:r>
            <a:endParaRPr lang="en-US" sz="1300" dirty="0"/>
          </a:p>
          <a:p>
            <a:pPr marL="342900" indent="-342900">
              <a:lnSpc>
                <a:spcPct val="115000"/>
              </a:lnSpc>
              <a:spcAft>
                <a:spcPts val="1000"/>
              </a:spcAft>
              <a:buSzPct val="100000"/>
              <a:buChar char="►"/>
            </a:pPr>
            <a:r>
              <a:rPr lang="en-US" sz="1300" dirty="0">
                <a:solidFill>
                  <a:srgbClr val="EEF6FA"/>
                </a:solidFill>
              </a:rPr>
              <a:t>Strong inter-annual variability — survey timing &amp; storms</a:t>
            </a:r>
            <a:endParaRPr lang="en-US" sz="1300" dirty="0"/>
          </a:p>
        </p:txBody>
      </p:sp>
      <p:sp>
        <p:nvSpPr>
          <p:cNvPr id="15" name="Text 12"/>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6" name="Text 13"/>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06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CATEGORY + SECTOR ATTRIBUTION</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Beach Litter — Composition &amp; Source</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beach_top_categories.png">    </p:cNvPr>
          <p:cNvPicPr>
            <a:picLocks noChangeAspect="1"/>
          </p:cNvPicPr>
          <p:nvPr/>
        </p:nvPicPr>
        <p:blipFill>
          <a:blip r:embed="rId1"/>
          <a:stretch>
            <a:fillRect/>
          </a:stretch>
        </p:blipFill>
        <p:spPr>
          <a:xfrm>
            <a:off x="882396" y="1481328"/>
            <a:ext cx="4727448" cy="2148840"/>
          </a:xfrm>
          <a:prstGeom prst="rect">
            <a:avLst/>
          </a:prstGeom>
        </p:spPr>
      </p:pic>
      <p:pic>
        <p:nvPicPr>
          <p:cNvPr id="13" name="Image 1" descr="/Users/danieleuras/Documents/GitHub/hhe-labsardinia/data/figures/beach_source_attribution.png">    </p:cNvPr>
          <p:cNvPicPr>
            <a:picLocks noChangeAspect="1"/>
          </p:cNvPicPr>
          <p:nvPr/>
        </p:nvPicPr>
        <p:blipFill>
          <a:blip r:embed="rId2"/>
          <a:stretch>
            <a:fillRect/>
          </a:stretch>
        </p:blipFill>
        <p:spPr>
          <a:xfrm>
            <a:off x="1097280" y="3749040"/>
            <a:ext cx="4297680" cy="2148840"/>
          </a:xfrm>
          <a:prstGeom prst="rect">
            <a:avLst/>
          </a:prstGeom>
        </p:spPr>
      </p:pic>
      <p:pic>
        <p:nvPicPr>
          <p:cNvPr id="14" name="Image 2" descr="/Users/danieleuras/Documents/GitHub/hhe-labsardinia/data/figures/beach_category_by_year.png">    </p:cNvPr>
          <p:cNvPicPr>
            <a:picLocks noChangeAspect="1"/>
          </p:cNvPicPr>
          <p:nvPr/>
        </p:nvPicPr>
        <p:blipFill>
          <a:blip r:embed="rId3"/>
          <a:stretch>
            <a:fillRect/>
          </a:stretch>
        </p:blipFill>
        <p:spPr>
          <a:xfrm>
            <a:off x="6263640" y="2089912"/>
            <a:ext cx="5577840" cy="3098800"/>
          </a:xfrm>
          <a:prstGeom prst="rect">
            <a:avLst/>
          </a:prstGeom>
        </p:spPr>
      </p:pic>
      <p:sp>
        <p:nvSpPr>
          <p:cNvPr id="15" name="Text 10"/>
          <p:cNvSpPr/>
          <p:nvPr/>
        </p:nvSpPr>
        <p:spPr>
          <a:xfrm>
            <a:off x="502920" y="5989320"/>
            <a:ext cx="5486400" cy="411480"/>
          </a:xfrm>
          <a:prstGeom prst="rect">
            <a:avLst/>
          </a:prstGeom>
          <a:noFill/>
          <a:ln/>
        </p:spPr>
        <p:txBody>
          <a:bodyPr wrap="square" rtlCol="0" anchor="ctr"/>
          <a:lstStyle/>
          <a:p>
            <a:pPr indent="0" marL="0">
              <a:buNone/>
            </a:pPr>
            <a:r>
              <a:rPr lang="en-US" sz="1050" i="1" dirty="0">
                <a:solidFill>
                  <a:srgbClr val="8BAFC8"/>
                </a:solidFill>
              </a:rPr>
              <a:t>Single-use plastics &amp; fishing-related items dominate; shoreline/recreational sources lead the attribution split.</a:t>
            </a:r>
            <a:endParaRPr lang="en-US" sz="1050" dirty="0"/>
          </a:p>
        </p:txBody>
      </p:sp>
      <p:sp>
        <p:nvSpPr>
          <p:cNvPr id="16" name="Text 11"/>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7" name="Text 12"/>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07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Floating Litter — Material &amp; Seasonality</a:t>
            </a:r>
            <a:endParaRPr lang="en-US" sz="3000" dirty="0"/>
          </a:p>
        </p:txBody>
      </p:sp>
      <p:sp>
        <p:nvSpPr>
          <p:cNvPr id="10" name="Shape 8"/>
          <p:cNvSpPr/>
          <p:nvPr/>
        </p:nvSpPr>
        <p:spPr>
          <a:xfrm>
            <a:off x="512064" y="1143000"/>
            <a:ext cx="1280160" cy="50292"/>
          </a:xfrm>
          <a:prstGeom prst="rect">
            <a:avLst/>
          </a:prstGeom>
          <a:solidFill>
            <a:srgbClr val="4DD9AC"/>
          </a:solidFill>
          <a:ln/>
        </p:spPr>
      </p:sp>
      <p:pic>
        <p:nvPicPr>
          <p:cNvPr id="11" name="Image 0" descr="/Users/danieleuras/Documents/GitHub/hhe-labsardinia/data/figures/floating_material_pie.png">    </p:cNvPr>
          <p:cNvPicPr>
            <a:picLocks noChangeAspect="1"/>
          </p:cNvPicPr>
          <p:nvPr/>
        </p:nvPicPr>
        <p:blipFill>
          <a:blip r:embed="rId1"/>
          <a:stretch>
            <a:fillRect/>
          </a:stretch>
        </p:blipFill>
        <p:spPr>
          <a:xfrm>
            <a:off x="599846" y="1389888"/>
            <a:ext cx="4378147" cy="3840480"/>
          </a:xfrm>
          <a:prstGeom prst="rect">
            <a:avLst/>
          </a:prstGeom>
        </p:spPr>
      </p:pic>
      <p:pic>
        <p:nvPicPr>
          <p:cNvPr id="12" name="Image 1" descr="/Users/danieleuras/Documents/GitHub/hhe-labsardinia/data/figures/floating_seasonality.png">    </p:cNvPr>
          <p:cNvPicPr>
            <a:picLocks noChangeAspect="1"/>
          </p:cNvPicPr>
          <p:nvPr/>
        </p:nvPicPr>
        <p:blipFill>
          <a:blip r:embed="rId2"/>
          <a:stretch>
            <a:fillRect/>
          </a:stretch>
        </p:blipFill>
        <p:spPr>
          <a:xfrm>
            <a:off x="5948172" y="1536192"/>
            <a:ext cx="5257800" cy="2103120"/>
          </a:xfrm>
          <a:prstGeom prst="rect">
            <a:avLst/>
          </a:prstGeom>
        </p:spPr>
      </p:pic>
      <p:sp>
        <p:nvSpPr>
          <p:cNvPr id="13" name="Shape 9"/>
          <p:cNvSpPr/>
          <p:nvPr/>
        </p:nvSpPr>
        <p:spPr>
          <a:xfrm>
            <a:off x="5376672" y="3913632"/>
            <a:ext cx="6446520" cy="1810512"/>
          </a:xfrm>
          <a:prstGeom prst="roundRect">
            <a:avLst>
              <a:gd name="adj" fmla="val 3535"/>
            </a:avLst>
          </a:prstGeom>
          <a:solidFill>
            <a:srgbClr val="0F2C47">
              <a:alpha val="85000"/>
            </a:srgbClr>
          </a:solidFill>
          <a:ln w="19050">
            <a:solidFill>
              <a:srgbClr val="4DD9AC"/>
            </a:solidFill>
            <a:prstDash val="solid"/>
          </a:ln>
        </p:spPr>
      </p:sp>
      <p:sp>
        <p:nvSpPr>
          <p:cNvPr id="14" name="Text 10"/>
          <p:cNvSpPr/>
          <p:nvPr/>
        </p:nvSpPr>
        <p:spPr>
          <a:xfrm>
            <a:off x="5650992" y="4096512"/>
            <a:ext cx="5943600" cy="457200"/>
          </a:xfrm>
          <a:prstGeom prst="rect">
            <a:avLst/>
          </a:prstGeom>
          <a:noFill/>
          <a:ln/>
        </p:spPr>
        <p:txBody>
          <a:bodyPr wrap="square" rtlCol="0" anchor="ctr"/>
          <a:lstStyle/>
          <a:p>
            <a:pPr indent="0" marL="0">
              <a:buNone/>
            </a:pPr>
            <a:r>
              <a:rPr lang="en-US" sz="2400" b="1" dirty="0">
                <a:solidFill>
                  <a:srgbClr val="4DD9AC"/>
                </a:solidFill>
              </a:rPr>
              <a:t>70%  </a:t>
            </a:r>
            <a:pPr indent="0" marL="0">
              <a:buNone/>
            </a:pPr>
            <a:r>
              <a:rPr lang="en-US" sz="1400" dirty="0">
                <a:solidFill>
                  <a:srgbClr val="EEF6FA"/>
                </a:solidFill>
              </a:rPr>
              <a:t>of floating litter is artificial polymer (2021–2023)</a:t>
            </a:r>
            <a:endParaRPr lang="en-US" sz="2400" dirty="0"/>
          </a:p>
        </p:txBody>
      </p:sp>
      <p:sp>
        <p:nvSpPr>
          <p:cNvPr id="15" name="Text 11"/>
          <p:cNvSpPr/>
          <p:nvPr/>
        </p:nvSpPr>
        <p:spPr>
          <a:xfrm>
            <a:off x="5650992" y="4608576"/>
            <a:ext cx="5943600" cy="1005840"/>
          </a:xfrm>
          <a:prstGeom prst="rect">
            <a:avLst/>
          </a:prstGeom>
          <a:noFill/>
          <a:ln/>
        </p:spPr>
        <p:txBody>
          <a:bodyPr wrap="square" rtlCol="0" anchor="t"/>
          <a:lstStyle/>
          <a:p>
            <a:pPr indent="0" marL="0">
              <a:buNone/>
            </a:pPr>
            <a:r>
              <a:rPr lang="en-US" sz="1300" dirty="0">
                <a:solidFill>
                  <a:srgbClr val="8BAFC8"/>
                </a:solidFill>
              </a:rPr>
              <a:t>Observations stay elevated from late spring through autumn, driven by seasonal wind &amp; current transport. Beach litter is even more plastic-dominated — 84% artificial polymer in 2023.</a:t>
            </a:r>
            <a:endParaRPr lang="en-US" sz="1300" dirty="0"/>
          </a:p>
        </p:txBody>
      </p:sp>
      <p:sp>
        <p:nvSpPr>
          <p:cNvPr id="16" name="Text 12"/>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7" name="Text 13"/>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08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MODULO 2 · 2018–2022</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Microplastics — IDW Concentration Grid</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microplastics_map.png">    </p:cNvPr>
          <p:cNvPicPr>
            <a:picLocks noChangeAspect="1"/>
          </p:cNvPicPr>
          <p:nvPr/>
        </p:nvPicPr>
        <p:blipFill>
          <a:blip r:embed="rId1"/>
          <a:stretch>
            <a:fillRect/>
          </a:stretch>
        </p:blipFill>
        <p:spPr>
          <a:xfrm>
            <a:off x="502920" y="1775806"/>
            <a:ext cx="7589520" cy="4312227"/>
          </a:xfrm>
          <a:prstGeom prst="rect">
            <a:avLst/>
          </a:prstGeom>
        </p:spPr>
      </p:pic>
      <p:sp>
        <p:nvSpPr>
          <p:cNvPr id="13" name="Text 10"/>
          <p:cNvSpPr/>
          <p:nvPr/>
        </p:nvSpPr>
        <p:spPr>
          <a:xfrm>
            <a:off x="8412480" y="1691640"/>
            <a:ext cx="3383280" cy="411480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EEF6FA"/>
                </a:solidFill>
              </a:rPr>
              <a:t>Modulo 2 trawl samples interpolated to 336 cells/year</a:t>
            </a:r>
            <a:endParaRPr lang="en-US" sz="1300" dirty="0"/>
          </a:p>
          <a:p>
            <a:pPr marL="342900" indent="-342900">
              <a:lnSpc>
                <a:spcPct val="120000"/>
              </a:lnSpc>
              <a:spcAft>
                <a:spcPts val="1200"/>
              </a:spcAft>
              <a:buSzPct val="100000"/>
              <a:buChar char="►"/>
            </a:pPr>
            <a:r>
              <a:rPr lang="en-US" sz="1300" dirty="0">
                <a:solidFill>
                  <a:srgbClr val="EEF6FA"/>
                </a:solidFill>
              </a:rPr>
              <a:t>IDW on regular 0.12° grid, coastal-masked</a:t>
            </a:r>
            <a:endParaRPr lang="en-US" sz="1300" dirty="0"/>
          </a:p>
          <a:p>
            <a:pPr marL="342900" indent="-342900">
              <a:lnSpc>
                <a:spcPct val="120000"/>
              </a:lnSpc>
              <a:spcAft>
                <a:spcPts val="1200"/>
              </a:spcAft>
              <a:buSzPct val="100000"/>
              <a:buChar char="►"/>
            </a:pPr>
            <a:r>
              <a:rPr lang="en-US" sz="1300" dirty="0">
                <a:solidFill>
                  <a:srgbClr val="EEF6FA"/>
                </a:solidFill>
              </a:rPr>
              <a:t>Higher concentrations off west &amp; south coasts</a:t>
            </a:r>
            <a:endParaRPr lang="en-US" sz="1300" dirty="0"/>
          </a:p>
          <a:p>
            <a:pPr marL="342900" indent="-342900">
              <a:lnSpc>
                <a:spcPct val="120000"/>
              </a:lnSpc>
              <a:spcAft>
                <a:spcPts val="1200"/>
              </a:spcAft>
              <a:buSzPct val="100000"/>
              <a:buChar char="►"/>
            </a:pPr>
            <a:r>
              <a:rPr lang="en-US" sz="1300" dirty="0">
                <a:solidFill>
                  <a:srgbClr val="EEF6FA"/>
                </a:solidFill>
              </a:rPr>
              <a:t>Coverage 2018–2022 (2023 not yet released)</a:t>
            </a:r>
            <a:endParaRPr lang="en-US" sz="1300" dirty="0"/>
          </a:p>
        </p:txBody>
      </p:sp>
      <p:sp>
        <p:nvSpPr>
          <p:cNvPr id="14" name="Text 11"/>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5" name="Text 12"/>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09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ENTANGLEMENT + INGESTION · CARETTA CARETTA</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Biological Impact — Sea Turtles</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entanglement_map.png">    </p:cNvPr>
          <p:cNvPicPr>
            <a:picLocks noChangeAspect="1"/>
          </p:cNvPicPr>
          <p:nvPr/>
        </p:nvPicPr>
        <p:blipFill>
          <a:blip r:embed="rId1"/>
          <a:stretch>
            <a:fillRect/>
          </a:stretch>
        </p:blipFill>
        <p:spPr>
          <a:xfrm>
            <a:off x="502920" y="1915668"/>
            <a:ext cx="3108960" cy="3886200"/>
          </a:xfrm>
          <a:prstGeom prst="rect">
            <a:avLst/>
          </a:prstGeom>
        </p:spPr>
      </p:pic>
      <p:pic>
        <p:nvPicPr>
          <p:cNvPr id="13" name="Image 1" descr="/Users/danieleuras/Documents/GitHub/hhe-labsardinia/data/figures/ingestion_map.png">    </p:cNvPr>
          <p:cNvPicPr>
            <a:picLocks noChangeAspect="1"/>
          </p:cNvPicPr>
          <p:nvPr/>
        </p:nvPicPr>
        <p:blipFill>
          <a:blip r:embed="rId2"/>
          <a:stretch>
            <a:fillRect/>
          </a:stretch>
        </p:blipFill>
        <p:spPr>
          <a:xfrm>
            <a:off x="3639312" y="1915668"/>
            <a:ext cx="3108960" cy="3886200"/>
          </a:xfrm>
          <a:prstGeom prst="rect">
            <a:avLst/>
          </a:prstGeom>
        </p:spPr>
      </p:pic>
      <p:sp>
        <p:nvSpPr>
          <p:cNvPr id="14" name="Shape 10"/>
          <p:cNvSpPr/>
          <p:nvPr/>
        </p:nvSpPr>
        <p:spPr>
          <a:xfrm>
            <a:off x="7040880" y="1554480"/>
            <a:ext cx="4709160" cy="1874520"/>
          </a:xfrm>
          <a:prstGeom prst="roundRect">
            <a:avLst>
              <a:gd name="adj" fmla="val 3415"/>
            </a:avLst>
          </a:prstGeom>
          <a:solidFill>
            <a:srgbClr val="0F2C47">
              <a:alpha val="85000"/>
            </a:srgbClr>
          </a:solidFill>
          <a:ln w="19050">
            <a:solidFill>
              <a:srgbClr val="E8654A"/>
            </a:solidFill>
            <a:prstDash val="solid"/>
          </a:ln>
        </p:spPr>
      </p:sp>
      <p:sp>
        <p:nvSpPr>
          <p:cNvPr id="15" name="Text 11"/>
          <p:cNvSpPr/>
          <p:nvPr/>
        </p:nvSpPr>
        <p:spPr>
          <a:xfrm>
            <a:off x="7315200" y="1691640"/>
            <a:ext cx="4251960" cy="384048"/>
          </a:xfrm>
          <a:prstGeom prst="rect">
            <a:avLst/>
          </a:prstGeom>
          <a:noFill/>
          <a:ln/>
        </p:spPr>
        <p:txBody>
          <a:bodyPr wrap="square" rtlCol="0" anchor="ctr"/>
          <a:lstStyle/>
          <a:p>
            <a:pPr indent="0" marL="0">
              <a:buNone/>
            </a:pPr>
            <a:r>
              <a:rPr lang="en-US" sz="1600" b="1" dirty="0">
                <a:solidFill>
                  <a:srgbClr val="E8654A"/>
                </a:solidFill>
              </a:rPr>
              <a:t>Bio Score = (ENT + ING) / N_max</a:t>
            </a:r>
            <a:endParaRPr lang="en-US" sz="1600" dirty="0"/>
          </a:p>
        </p:txBody>
      </p:sp>
      <p:sp>
        <p:nvSpPr>
          <p:cNvPr id="16" name="Text 12"/>
          <p:cNvSpPr/>
          <p:nvPr/>
        </p:nvSpPr>
        <p:spPr>
          <a:xfrm>
            <a:off x="7315200" y="2121408"/>
            <a:ext cx="4251960" cy="1188720"/>
          </a:xfrm>
          <a:prstGeom prst="rect">
            <a:avLst/>
          </a:prstGeom>
          <a:noFill/>
          <a:ln/>
        </p:spPr>
        <p:txBody>
          <a:bodyPr wrap="square" rtlCol="0" anchor="t"/>
          <a:lstStyle/>
          <a:p>
            <a:pPr indent="0" marL="0">
              <a:buNone/>
            </a:pPr>
            <a:r>
              <a:rPr lang="en-US" sz="1250" dirty="0">
                <a:solidFill>
                  <a:srgbClr val="EEF6FA"/>
                </a:solidFill>
              </a:rPr>
              <a:t>Combines entanglement and plastic-ingestion events on stranded loggerhead turtles (~99% Caretta caretta), normalised across years.</a:t>
            </a:r>
            <a:endParaRPr lang="en-US" sz="1250" dirty="0"/>
          </a:p>
        </p:txBody>
      </p:sp>
      <p:sp>
        <p:nvSpPr>
          <p:cNvPr id="17" name="Text 13"/>
          <p:cNvSpPr/>
          <p:nvPr/>
        </p:nvSpPr>
        <p:spPr>
          <a:xfrm>
            <a:off x="7040880" y="3639312"/>
            <a:ext cx="4709160" cy="365760"/>
          </a:xfrm>
          <a:prstGeom prst="rect">
            <a:avLst/>
          </a:prstGeom>
          <a:noFill/>
          <a:ln/>
        </p:spPr>
        <p:txBody>
          <a:bodyPr wrap="square" rtlCol="0" anchor="ctr"/>
          <a:lstStyle/>
          <a:p>
            <a:pPr indent="0" marL="0">
              <a:buNone/>
            </a:pPr>
            <a:r>
              <a:rPr lang="en-US" sz="1300" b="1" dirty="0">
                <a:solidFill>
                  <a:srgbClr val="4DD9AC"/>
                </a:solidFill>
              </a:rPr>
              <a:t>Peak 2021</a:t>
            </a:r>
            <a:endParaRPr lang="en-US" sz="1300" dirty="0"/>
          </a:p>
        </p:txBody>
      </p:sp>
      <p:sp>
        <p:nvSpPr>
          <p:cNvPr id="18" name="Text 14"/>
          <p:cNvSpPr/>
          <p:nvPr/>
        </p:nvSpPr>
        <p:spPr>
          <a:xfrm>
            <a:off x="7178040" y="4069080"/>
            <a:ext cx="4480560" cy="2029968"/>
          </a:xfrm>
          <a:prstGeom prst="rect">
            <a:avLst/>
          </a:prstGeom>
          <a:noFill/>
          <a:ln/>
        </p:spPr>
        <p:txBody>
          <a:bodyPr wrap="square" rtlCol="0" anchor="ctr"/>
          <a:lstStyle/>
          <a:p>
            <a:pPr marL="342900" indent="-342900">
              <a:lnSpc>
                <a:spcPct val="115000"/>
              </a:lnSpc>
              <a:spcAft>
                <a:spcPts val="800"/>
              </a:spcAft>
              <a:buSzPct val="100000"/>
              <a:buChar char="►"/>
            </a:pPr>
            <a:r>
              <a:rPr lang="en-US" sz="1250" dirty="0">
                <a:solidFill>
                  <a:srgbClr val="EEF6FA"/>
                </a:solidFill>
              </a:rPr>
              <a:t>2021: 46 combined events → score 1.00 (peak)</a:t>
            </a:r>
            <a:endParaRPr lang="en-US" sz="1250" dirty="0"/>
          </a:p>
          <a:p>
            <a:pPr marL="342900" indent="-342900">
              <a:lnSpc>
                <a:spcPct val="115000"/>
              </a:lnSpc>
              <a:spcAft>
                <a:spcPts val="800"/>
              </a:spcAft>
              <a:buSzPct val="100000"/>
              <a:buChar char="►"/>
            </a:pPr>
            <a:r>
              <a:rPr lang="en-US" sz="1250" dirty="0">
                <a:solidFill>
                  <a:srgbClr val="EEF6FA"/>
                </a:solidFill>
              </a:rPr>
              <a:t>2022: 38 events → 0.72</a:t>
            </a:r>
            <a:endParaRPr lang="en-US" sz="1250" dirty="0"/>
          </a:p>
          <a:p>
            <a:pPr marL="342900" indent="-342900">
              <a:lnSpc>
                <a:spcPct val="115000"/>
              </a:lnSpc>
              <a:spcAft>
                <a:spcPts val="800"/>
              </a:spcAft>
              <a:buSzPct val="100000"/>
              <a:buChar char="►"/>
            </a:pPr>
            <a:r>
              <a:rPr lang="en-US" sz="1250" dirty="0">
                <a:solidFill>
                  <a:srgbClr val="EEF6FA"/>
                </a:solidFill>
              </a:rPr>
              <a:t>2018 &amp; 2023: lowest impact (≤18 events)</a:t>
            </a:r>
            <a:endParaRPr lang="en-US" sz="1250" dirty="0"/>
          </a:p>
          <a:p>
            <a:pPr marL="342900" indent="-342900">
              <a:lnSpc>
                <a:spcPct val="115000"/>
              </a:lnSpc>
              <a:spcAft>
                <a:spcPts val="800"/>
              </a:spcAft>
              <a:buSzPct val="100000"/>
              <a:buChar char="►"/>
            </a:pPr>
            <a:r>
              <a:rPr lang="en-US" sz="1250" dirty="0">
                <a:solidFill>
                  <a:srgbClr val="EEF6FA"/>
                </a:solidFill>
              </a:rPr>
              <a:t>Ingestion dominated by sheet plastic (SHE) &amp; fragments (FRA)</a:t>
            </a:r>
            <a:endParaRPr lang="en-US" sz="1250" dirty="0"/>
          </a:p>
        </p:txBody>
      </p:sp>
      <p:sp>
        <p:nvSpPr>
          <p:cNvPr id="19" name="Text 15"/>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20" name="Text 16"/>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PRESSURE VS. LITTER SIGNAL</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Anthropogenic Pressure — Tourism</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tourism_correlation.png">    </p:cNvPr>
          <p:cNvPicPr>
            <a:picLocks noChangeAspect="1"/>
          </p:cNvPicPr>
          <p:nvPr/>
        </p:nvPicPr>
        <p:blipFill>
          <a:blip r:embed="rId1"/>
          <a:stretch>
            <a:fillRect/>
          </a:stretch>
        </p:blipFill>
        <p:spPr>
          <a:xfrm>
            <a:off x="1109624" y="1572768"/>
            <a:ext cx="9850831" cy="3456432"/>
          </a:xfrm>
          <a:prstGeom prst="rect">
            <a:avLst/>
          </a:prstGeom>
        </p:spPr>
      </p:pic>
      <p:sp>
        <p:nvSpPr>
          <p:cNvPr id="13" name="Shape 10"/>
          <p:cNvSpPr/>
          <p:nvPr/>
        </p:nvSpPr>
        <p:spPr>
          <a:xfrm>
            <a:off x="804672" y="4956048"/>
            <a:ext cx="10561320" cy="1207008"/>
          </a:xfrm>
          <a:prstGeom prst="roundRect">
            <a:avLst>
              <a:gd name="adj" fmla="val 5303"/>
            </a:avLst>
          </a:prstGeom>
          <a:solidFill>
            <a:srgbClr val="0F2C47">
              <a:alpha val="85000"/>
            </a:srgbClr>
          </a:solidFill>
          <a:ln w="19050">
            <a:solidFill>
              <a:srgbClr val="4DD9AC"/>
            </a:solidFill>
            <a:prstDash val="solid"/>
          </a:ln>
        </p:spPr>
      </p:sp>
      <p:sp>
        <p:nvSpPr>
          <p:cNvPr id="14" name="Text 11"/>
          <p:cNvSpPr/>
          <p:nvPr/>
        </p:nvSpPr>
        <p:spPr>
          <a:xfrm>
            <a:off x="1051560" y="5084064"/>
            <a:ext cx="9966960" cy="987552"/>
          </a:xfrm>
          <a:prstGeom prst="rect">
            <a:avLst/>
          </a:prstGeom>
          <a:noFill/>
          <a:ln/>
        </p:spPr>
        <p:txBody>
          <a:bodyPr wrap="square" rtlCol="0" anchor="ctr"/>
          <a:lstStyle/>
          <a:p>
            <a:pPr indent="0" marL="0">
              <a:lnSpc>
                <a:spcPct val="110000"/>
              </a:lnSpc>
              <a:buNone/>
            </a:pPr>
            <a:r>
              <a:rPr lang="en-US" sz="1300" b="1" dirty="0">
                <a:solidFill>
                  <a:srgbClr val="4DD9AC"/>
                </a:solidFill>
              </a:rPr>
              <a:t>Tourism is a pressure proxy, not a clean predictor.  </a:t>
            </a:r>
            <a:pPr indent="0" marL="0">
              <a:lnSpc>
                <a:spcPct val="110000"/>
              </a:lnSpc>
              <a:buNone/>
            </a:pPr>
            <a:r>
              <a:rPr lang="en-US" sz="1300" dirty="0">
                <a:solidFill>
                  <a:srgbClr val="EEF6FA"/>
                </a:solidFill>
              </a:rPr>
              <a:t>Annual tourist-nights and beach litter are weakly / negatively correlated (Spearman r ≈ −0.44) — high-litter west-coast sites are not the busiest tourist beaches. This points to transport and legacy litter, not just local input.</a:t>
            </a:r>
            <a:endParaRPr lang="en-US" sz="1300" dirty="0"/>
          </a:p>
        </p:txBody>
      </p:sp>
      <p:sp>
        <p:nvSpPr>
          <p:cNvPr id="15" name="Text 12"/>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6" name="Text 13"/>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Cross-Compartment Correlations</a:t>
            </a:r>
            <a:endParaRPr lang="en-US" sz="3000" dirty="0"/>
          </a:p>
        </p:txBody>
      </p:sp>
      <p:sp>
        <p:nvSpPr>
          <p:cNvPr id="10" name="Shape 8"/>
          <p:cNvSpPr/>
          <p:nvPr/>
        </p:nvSpPr>
        <p:spPr>
          <a:xfrm>
            <a:off x="512064" y="1143000"/>
            <a:ext cx="1280160" cy="50292"/>
          </a:xfrm>
          <a:prstGeom prst="rect">
            <a:avLst/>
          </a:prstGeom>
          <a:solidFill>
            <a:srgbClr val="4DD9AC"/>
          </a:solidFill>
          <a:ln/>
        </p:spPr>
      </p:sp>
      <p:pic>
        <p:nvPicPr>
          <p:cNvPr id="11" name="Image 0" descr="/Users/danieleuras/Documents/GitHub/hhe-labsardinia/data/figures/correlation_matrix.png">    </p:cNvPr>
          <p:cNvPicPr>
            <a:picLocks noChangeAspect="1"/>
          </p:cNvPicPr>
          <p:nvPr/>
        </p:nvPicPr>
        <p:blipFill>
          <a:blip r:embed="rId1"/>
          <a:stretch>
            <a:fillRect/>
          </a:stretch>
        </p:blipFill>
        <p:spPr>
          <a:xfrm>
            <a:off x="658368" y="1593363"/>
            <a:ext cx="5029200" cy="4530811"/>
          </a:xfrm>
          <a:prstGeom prst="rect">
            <a:avLst/>
          </a:prstGeom>
        </p:spPr>
      </p:pic>
      <p:sp>
        <p:nvSpPr>
          <p:cNvPr id="12" name="Text 9"/>
          <p:cNvSpPr/>
          <p:nvPr/>
        </p:nvSpPr>
        <p:spPr>
          <a:xfrm>
            <a:off x="6400800" y="1719072"/>
            <a:ext cx="5029200" cy="365760"/>
          </a:xfrm>
          <a:prstGeom prst="rect">
            <a:avLst/>
          </a:prstGeom>
          <a:noFill/>
          <a:ln/>
        </p:spPr>
        <p:txBody>
          <a:bodyPr wrap="square" rtlCol="0" anchor="ctr"/>
          <a:lstStyle/>
          <a:p>
            <a:pPr indent="0" marL="0">
              <a:buNone/>
            </a:pPr>
            <a:r>
              <a:rPr lang="en-US" sz="1400" b="1" dirty="0">
                <a:solidFill>
                  <a:srgbClr val="4DD9AC"/>
                </a:solidFill>
              </a:rPr>
              <a:t>Reading the matrix</a:t>
            </a:r>
            <a:endParaRPr lang="en-US" sz="1400" dirty="0"/>
          </a:p>
        </p:txBody>
      </p:sp>
      <p:sp>
        <p:nvSpPr>
          <p:cNvPr id="13" name="Text 10"/>
          <p:cNvSpPr/>
          <p:nvPr/>
        </p:nvSpPr>
        <p:spPr>
          <a:xfrm>
            <a:off x="6400800" y="2176272"/>
            <a:ext cx="512064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350" dirty="0">
                <a:solidFill>
                  <a:srgbClr val="EEF6FA"/>
                </a:solidFill>
              </a:rPr>
              <a:t>Spearman rank correlation across hazard components (annual, pooled)</a:t>
            </a:r>
            <a:endParaRPr lang="en-US" sz="1350" dirty="0"/>
          </a:p>
          <a:p>
            <a:pPr marL="342900" indent="-342900">
              <a:lnSpc>
                <a:spcPct val="120000"/>
              </a:lnSpc>
              <a:spcAft>
                <a:spcPts val="1200"/>
              </a:spcAft>
              <a:buSzPct val="100000"/>
              <a:buChar char="►"/>
            </a:pPr>
            <a:r>
              <a:rPr lang="en-US" sz="1350" dirty="0">
                <a:solidFill>
                  <a:srgbClr val="EEF6FA"/>
                </a:solidFill>
              </a:rPr>
              <a:t>Beach litter ↔ tourists: moderate negative (−0.44)</a:t>
            </a:r>
            <a:endParaRPr lang="en-US" sz="1350" dirty="0"/>
          </a:p>
          <a:p>
            <a:pPr marL="342900" indent="-342900">
              <a:lnSpc>
                <a:spcPct val="120000"/>
              </a:lnSpc>
              <a:spcAft>
                <a:spcPts val="1200"/>
              </a:spcAft>
              <a:buSzPct val="100000"/>
              <a:buChar char="►"/>
            </a:pPr>
            <a:r>
              <a:rPr lang="en-US" sz="1350" dirty="0">
                <a:solidFill>
                  <a:srgbClr val="EEF6FA"/>
                </a:solidFill>
              </a:rPr>
              <a:t>Current speed ↔ floating litter: strong negative (−0.66)</a:t>
            </a:r>
            <a:endParaRPr lang="en-US" sz="1350" dirty="0"/>
          </a:p>
          <a:p>
            <a:pPr marL="342900" indent="-342900">
              <a:lnSpc>
                <a:spcPct val="120000"/>
              </a:lnSpc>
              <a:spcAft>
                <a:spcPts val="1200"/>
              </a:spcAft>
              <a:buSzPct val="100000"/>
              <a:buChar char="►"/>
            </a:pPr>
            <a:r>
              <a:rPr lang="en-US" sz="1350" dirty="0">
                <a:solidFill>
                  <a:srgbClr val="EEF6FA"/>
                </a:solidFill>
              </a:rPr>
              <a:t>Tourism not a dominant positive driver — supports transport hypothesis</a:t>
            </a:r>
            <a:endParaRPr lang="en-US" sz="1350" dirty="0"/>
          </a:p>
          <a:p>
            <a:pPr marL="342900" indent="-342900">
              <a:lnSpc>
                <a:spcPct val="120000"/>
              </a:lnSpc>
              <a:spcAft>
                <a:spcPts val="1200"/>
              </a:spcAft>
              <a:buSzPct val="100000"/>
              <a:buChar char="►"/>
            </a:pPr>
            <a:r>
              <a:rPr lang="en-US" sz="1350" dirty="0">
                <a:solidFill>
                  <a:srgbClr val="EEF6FA"/>
                </a:solidFill>
              </a:rPr>
              <a:t>Justifies a weighted composite rather than a single proxy</a:t>
            </a:r>
            <a:endParaRPr lang="en-US" sz="1350" dirty="0"/>
          </a:p>
        </p:txBody>
      </p:sp>
      <p:sp>
        <p:nvSpPr>
          <p:cNvPr id="14" name="Text 11"/>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5" name="Text 12"/>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1645920"/>
            <a:ext cx="12188952" cy="45720"/>
          </a:xfrm>
          <a:prstGeom prst="rect">
            <a:avLst/>
          </a:prstGeom>
          <a:solidFill>
            <a:srgbClr val="7ECEE3">
              <a:alpha val="30000"/>
            </a:srgbClr>
          </a:solidFill>
          <a:ln/>
        </p:spPr>
      </p:sp>
      <p:sp>
        <p:nvSpPr>
          <p:cNvPr id="8" name="Shape 6"/>
          <p:cNvSpPr/>
          <p:nvPr/>
        </p:nvSpPr>
        <p:spPr>
          <a:xfrm>
            <a:off x="0" y="2286000"/>
            <a:ext cx="12188952" cy="45720"/>
          </a:xfrm>
          <a:prstGeom prst="rect">
            <a:avLst/>
          </a:prstGeom>
          <a:solidFill>
            <a:srgbClr val="7ECEE3">
              <a:alpha val="25000"/>
            </a:srgbClr>
          </a:solidFill>
          <a:ln/>
        </p:spPr>
      </p:sp>
      <p:sp>
        <p:nvSpPr>
          <p:cNvPr id="9" name="Shape 7"/>
          <p:cNvSpPr/>
          <p:nvPr/>
        </p:nvSpPr>
        <p:spPr>
          <a:xfrm>
            <a:off x="0" y="2926080"/>
            <a:ext cx="12188952" cy="45720"/>
          </a:xfrm>
          <a:prstGeom prst="rect">
            <a:avLst/>
          </a:prstGeom>
          <a:solidFill>
            <a:srgbClr val="7ECEE3">
              <a:alpha val="20000"/>
            </a:srgbClr>
          </a:solidFill>
          <a:ln/>
        </p:spPr>
      </p:sp>
      <p:sp>
        <p:nvSpPr>
          <p:cNvPr id="10" name="Shape 8"/>
          <p:cNvSpPr/>
          <p:nvPr/>
        </p:nvSpPr>
        <p:spPr>
          <a:xfrm>
            <a:off x="0" y="3566160"/>
            <a:ext cx="12188952" cy="45720"/>
          </a:xfrm>
          <a:prstGeom prst="rect">
            <a:avLst/>
          </a:prstGeom>
          <a:solidFill>
            <a:srgbClr val="7ECEE3">
              <a:alpha val="15000"/>
            </a:srgbClr>
          </a:solidFill>
          <a:ln/>
        </p:spPr>
      </p:sp>
      <p:sp>
        <p:nvSpPr>
          <p:cNvPr id="11" name="Text 9"/>
          <p:cNvSpPr/>
          <p:nvPr/>
        </p:nvSpPr>
        <p:spPr>
          <a:xfrm>
            <a:off x="822960" y="2176272"/>
            <a:ext cx="7315200" cy="411480"/>
          </a:xfrm>
          <a:prstGeom prst="rect">
            <a:avLst/>
          </a:prstGeom>
          <a:noFill/>
          <a:ln/>
        </p:spPr>
        <p:txBody>
          <a:bodyPr wrap="square" rtlCol="0" anchor="ctr"/>
          <a:lstStyle/>
          <a:p>
            <a:pPr indent="0" marL="0">
              <a:buNone/>
            </a:pPr>
            <a:r>
              <a:rPr lang="en-US" sz="1300" b="1" spc="300" kern="0" dirty="0">
                <a:solidFill>
                  <a:srgbClr val="4DD9AC"/>
                </a:solidFill>
              </a:rPr>
              <a:t>Special Focus</a:t>
            </a:r>
            <a:endParaRPr lang="en-US" sz="1300" dirty="0"/>
          </a:p>
        </p:txBody>
      </p:sp>
      <p:sp>
        <p:nvSpPr>
          <p:cNvPr id="12" name="Text 10"/>
          <p:cNvSpPr/>
          <p:nvPr/>
        </p:nvSpPr>
        <p:spPr>
          <a:xfrm>
            <a:off x="777240" y="2633472"/>
            <a:ext cx="9144000" cy="1005840"/>
          </a:xfrm>
          <a:prstGeom prst="rect">
            <a:avLst/>
          </a:prstGeom>
          <a:noFill/>
          <a:ln/>
        </p:spPr>
        <p:txBody>
          <a:bodyPr wrap="square" rtlCol="0" anchor="ctr"/>
          <a:lstStyle/>
          <a:p>
            <a:pPr indent="0" marL="0">
              <a:buNone/>
            </a:pPr>
            <a:r>
              <a:rPr lang="en-US" sz="4600" b="1" dirty="0">
                <a:solidFill>
                  <a:srgbClr val="EEF6FA"/>
                </a:solidFill>
              </a:rPr>
              <a:t>COVID-19</a:t>
            </a:r>
            <a:endParaRPr lang="en-US" sz="4600" dirty="0"/>
          </a:p>
        </p:txBody>
      </p:sp>
      <p:sp>
        <p:nvSpPr>
          <p:cNvPr id="13" name="Text 11"/>
          <p:cNvSpPr/>
          <p:nvPr/>
        </p:nvSpPr>
        <p:spPr>
          <a:xfrm>
            <a:off x="777240" y="3611880"/>
            <a:ext cx="9144000" cy="804672"/>
          </a:xfrm>
          <a:prstGeom prst="rect">
            <a:avLst/>
          </a:prstGeom>
          <a:noFill/>
          <a:ln/>
        </p:spPr>
        <p:txBody>
          <a:bodyPr wrap="square" rtlCol="0" anchor="ctr"/>
          <a:lstStyle/>
          <a:p>
            <a:pPr indent="0" marL="0">
              <a:buNone/>
            </a:pPr>
            <a:r>
              <a:rPr lang="en-US" sz="3200" dirty="0">
                <a:solidFill>
                  <a:srgbClr val="7ECEE3"/>
                </a:solidFill>
              </a:rPr>
              <a:t>A Natural Experiment</a:t>
            </a:r>
            <a:endParaRPr lang="en-US" sz="3200" dirty="0"/>
          </a:p>
        </p:txBody>
      </p:sp>
      <p:sp>
        <p:nvSpPr>
          <p:cNvPr id="14" name="Shape 12"/>
          <p:cNvSpPr/>
          <p:nvPr/>
        </p:nvSpPr>
        <p:spPr>
          <a:xfrm>
            <a:off x="841248" y="4572000"/>
            <a:ext cx="2743200" cy="64008"/>
          </a:xfrm>
          <a:prstGeom prst="rect">
            <a:avLst/>
          </a:prstGeom>
          <a:solidFill>
            <a:srgbClr val="4DD9AC"/>
          </a:solidFill>
          <a:ln/>
        </p:spPr>
      </p:sp>
      <p:sp>
        <p:nvSpPr>
          <p:cNvPr id="15" name="Shape 13"/>
          <p:cNvSpPr/>
          <p:nvPr/>
        </p:nvSpPr>
        <p:spPr>
          <a:xfrm>
            <a:off x="3584448" y="4572000"/>
            <a:ext cx="1371600" cy="64008"/>
          </a:xfrm>
          <a:prstGeom prst="rect">
            <a:avLst/>
          </a:prstGeom>
          <a:solidFill>
            <a:srgbClr val="E8654A">
              <a:alpha val="80000"/>
            </a:srgbClr>
          </a:solidFill>
          <a:ln/>
        </p:spPr>
      </p:sp>
      <p:sp>
        <p:nvSpPr>
          <p:cNvPr id="16" name="Text 14"/>
          <p:cNvSpPr/>
          <p:nvPr/>
        </p:nvSpPr>
        <p:spPr>
          <a:xfrm>
            <a:off x="804672" y="4754880"/>
            <a:ext cx="10058400" cy="548640"/>
          </a:xfrm>
          <a:prstGeom prst="rect">
            <a:avLst/>
          </a:prstGeom>
          <a:noFill/>
          <a:ln/>
        </p:spPr>
        <p:txBody>
          <a:bodyPr wrap="square" rtlCol="0" anchor="ctr"/>
          <a:lstStyle/>
          <a:p>
            <a:pPr indent="0" marL="0">
              <a:buNone/>
            </a:pPr>
            <a:r>
              <a:rPr lang="en-US" sz="1600" dirty="0">
                <a:solidFill>
                  <a:srgbClr val="8BAFC8"/>
                </a:solidFill>
              </a:rPr>
              <a:t>pre · during · post — isolating human vs. natural drivers (2018–2023)</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DEFINITION &amp; EXPOSURE</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Three Periods — The Tourism Shock</a:t>
            </a:r>
            <a:endParaRPr lang="en-US" sz="3000" dirty="0"/>
          </a:p>
        </p:txBody>
      </p:sp>
      <p:sp>
        <p:nvSpPr>
          <p:cNvPr id="11" name="Shape 9"/>
          <p:cNvSpPr/>
          <p:nvPr/>
        </p:nvSpPr>
        <p:spPr>
          <a:xfrm>
            <a:off x="512064" y="1353312"/>
            <a:ext cx="1280160" cy="50292"/>
          </a:xfrm>
          <a:prstGeom prst="rect">
            <a:avLst/>
          </a:prstGeom>
          <a:solidFill>
            <a:srgbClr val="4DD9AC"/>
          </a:solidFill>
          <a:ln/>
        </p:spPr>
      </p:sp>
      <p:sp>
        <p:nvSpPr>
          <p:cNvPr id="12" name="Shape 10"/>
          <p:cNvSpPr/>
          <p:nvPr/>
        </p:nvSpPr>
        <p:spPr>
          <a:xfrm>
            <a:off x="804672" y="1554480"/>
            <a:ext cx="3493008" cy="2816352"/>
          </a:xfrm>
          <a:prstGeom prst="roundRect">
            <a:avLst>
              <a:gd name="adj" fmla="val 2273"/>
            </a:avLst>
          </a:prstGeom>
          <a:solidFill>
            <a:srgbClr val="0F2C47">
              <a:alpha val="85000"/>
            </a:srgbClr>
          </a:solidFill>
          <a:ln w="19050">
            <a:solidFill>
              <a:srgbClr val="7ECEE3"/>
            </a:solidFill>
            <a:prstDash val="solid"/>
          </a:ln>
        </p:spPr>
      </p:sp>
      <p:sp>
        <p:nvSpPr>
          <p:cNvPr id="13" name="Shape 11"/>
          <p:cNvSpPr/>
          <p:nvPr/>
        </p:nvSpPr>
        <p:spPr>
          <a:xfrm>
            <a:off x="804672" y="1554480"/>
            <a:ext cx="3493008" cy="658368"/>
          </a:xfrm>
          <a:prstGeom prst="rect">
            <a:avLst/>
          </a:prstGeom>
          <a:solidFill>
            <a:srgbClr val="7ECEE3"/>
          </a:solidFill>
          <a:ln/>
        </p:spPr>
      </p:sp>
      <p:sp>
        <p:nvSpPr>
          <p:cNvPr id="14" name="Text 12"/>
          <p:cNvSpPr/>
          <p:nvPr/>
        </p:nvSpPr>
        <p:spPr>
          <a:xfrm>
            <a:off x="804672" y="1609344"/>
            <a:ext cx="3493008" cy="320040"/>
          </a:xfrm>
          <a:prstGeom prst="rect">
            <a:avLst/>
          </a:prstGeom>
          <a:noFill/>
          <a:ln/>
        </p:spPr>
        <p:txBody>
          <a:bodyPr wrap="square" rtlCol="0" anchor="ctr"/>
          <a:lstStyle/>
          <a:p>
            <a:pPr algn="ctr" indent="0" marL="0">
              <a:buNone/>
            </a:pPr>
            <a:r>
              <a:rPr lang="en-US" sz="1600" b="1" dirty="0">
                <a:solidFill>
                  <a:srgbClr val="0B2340"/>
                </a:solidFill>
              </a:rPr>
              <a:t>PRE-COVID</a:t>
            </a:r>
            <a:endParaRPr lang="en-US" sz="1600" dirty="0"/>
          </a:p>
        </p:txBody>
      </p:sp>
      <p:sp>
        <p:nvSpPr>
          <p:cNvPr id="15" name="Text 13"/>
          <p:cNvSpPr/>
          <p:nvPr/>
        </p:nvSpPr>
        <p:spPr>
          <a:xfrm>
            <a:off x="804672" y="1920240"/>
            <a:ext cx="3493008" cy="274320"/>
          </a:xfrm>
          <a:prstGeom prst="rect">
            <a:avLst/>
          </a:prstGeom>
          <a:noFill/>
          <a:ln/>
        </p:spPr>
        <p:txBody>
          <a:bodyPr wrap="square" rtlCol="0" anchor="ctr"/>
          <a:lstStyle/>
          <a:p>
            <a:pPr algn="ctr" indent="0" marL="0">
              <a:buNone/>
            </a:pPr>
            <a:r>
              <a:rPr lang="en-US" sz="1200" dirty="0">
                <a:solidFill>
                  <a:srgbClr val="0B2340"/>
                </a:solidFill>
              </a:rPr>
              <a:t>2018–2019</a:t>
            </a:r>
            <a:endParaRPr lang="en-US" sz="1200" dirty="0"/>
          </a:p>
        </p:txBody>
      </p:sp>
      <p:sp>
        <p:nvSpPr>
          <p:cNvPr id="16" name="Text 14"/>
          <p:cNvSpPr/>
          <p:nvPr/>
        </p:nvSpPr>
        <p:spPr>
          <a:xfrm>
            <a:off x="804672" y="2468880"/>
            <a:ext cx="3493008" cy="868680"/>
          </a:xfrm>
          <a:prstGeom prst="rect">
            <a:avLst/>
          </a:prstGeom>
          <a:noFill/>
          <a:ln/>
        </p:spPr>
        <p:txBody>
          <a:bodyPr wrap="square" rtlCol="0" anchor="ctr"/>
          <a:lstStyle/>
          <a:p>
            <a:pPr algn="ctr" indent="0" marL="0">
              <a:buNone/>
            </a:pPr>
            <a:r>
              <a:rPr lang="en-US" sz="4600" b="1" dirty="0">
                <a:solidFill>
                  <a:srgbClr val="7ECEE3"/>
                </a:solidFill>
              </a:rPr>
              <a:t>14.3M</a:t>
            </a:r>
            <a:endParaRPr lang="en-US" sz="4600" dirty="0"/>
          </a:p>
        </p:txBody>
      </p:sp>
      <p:sp>
        <p:nvSpPr>
          <p:cNvPr id="17" name="Text 15"/>
          <p:cNvSpPr/>
          <p:nvPr/>
        </p:nvSpPr>
        <p:spPr>
          <a:xfrm>
            <a:off x="969264" y="3401568"/>
            <a:ext cx="3200400" cy="731520"/>
          </a:xfrm>
          <a:prstGeom prst="rect">
            <a:avLst/>
          </a:prstGeom>
          <a:noFill/>
          <a:ln/>
        </p:spPr>
        <p:txBody>
          <a:bodyPr wrap="square" rtlCol="0" anchor="t"/>
          <a:lstStyle/>
          <a:p>
            <a:pPr algn="ctr" indent="0" marL="0">
              <a:buNone/>
            </a:pPr>
            <a:r>
              <a:rPr lang="en-US" sz="1250" dirty="0">
                <a:solidFill>
                  <a:srgbClr val="8BAFC8"/>
                </a:solidFill>
              </a:rPr>
              <a:t>tourist-nights / yr (baseline)</a:t>
            </a:r>
            <a:endParaRPr lang="en-US" sz="1250" dirty="0"/>
          </a:p>
        </p:txBody>
      </p:sp>
      <p:sp>
        <p:nvSpPr>
          <p:cNvPr id="18" name="Shape 16"/>
          <p:cNvSpPr/>
          <p:nvPr/>
        </p:nvSpPr>
        <p:spPr>
          <a:xfrm>
            <a:off x="4507992" y="1554480"/>
            <a:ext cx="3493008" cy="2816352"/>
          </a:xfrm>
          <a:prstGeom prst="roundRect">
            <a:avLst>
              <a:gd name="adj" fmla="val 2273"/>
            </a:avLst>
          </a:prstGeom>
          <a:solidFill>
            <a:srgbClr val="0F2C47">
              <a:alpha val="85000"/>
            </a:srgbClr>
          </a:solidFill>
          <a:ln w="19050">
            <a:solidFill>
              <a:srgbClr val="E8654A"/>
            </a:solidFill>
            <a:prstDash val="solid"/>
          </a:ln>
        </p:spPr>
      </p:sp>
      <p:sp>
        <p:nvSpPr>
          <p:cNvPr id="19" name="Shape 17"/>
          <p:cNvSpPr/>
          <p:nvPr/>
        </p:nvSpPr>
        <p:spPr>
          <a:xfrm>
            <a:off x="4507992" y="1554480"/>
            <a:ext cx="3493008" cy="658368"/>
          </a:xfrm>
          <a:prstGeom prst="rect">
            <a:avLst/>
          </a:prstGeom>
          <a:solidFill>
            <a:srgbClr val="E8654A"/>
          </a:solidFill>
          <a:ln/>
        </p:spPr>
      </p:sp>
      <p:sp>
        <p:nvSpPr>
          <p:cNvPr id="20" name="Text 18"/>
          <p:cNvSpPr/>
          <p:nvPr/>
        </p:nvSpPr>
        <p:spPr>
          <a:xfrm>
            <a:off x="4507992" y="1609344"/>
            <a:ext cx="3493008" cy="320040"/>
          </a:xfrm>
          <a:prstGeom prst="rect">
            <a:avLst/>
          </a:prstGeom>
          <a:noFill/>
          <a:ln/>
        </p:spPr>
        <p:txBody>
          <a:bodyPr wrap="square" rtlCol="0" anchor="ctr"/>
          <a:lstStyle/>
          <a:p>
            <a:pPr algn="ctr" indent="0" marL="0">
              <a:buNone/>
            </a:pPr>
            <a:r>
              <a:rPr lang="en-US" sz="1600" b="1" dirty="0">
                <a:solidFill>
                  <a:srgbClr val="0B2340"/>
                </a:solidFill>
              </a:rPr>
              <a:t>COVID</a:t>
            </a:r>
            <a:endParaRPr lang="en-US" sz="1600" dirty="0"/>
          </a:p>
        </p:txBody>
      </p:sp>
      <p:sp>
        <p:nvSpPr>
          <p:cNvPr id="21" name="Text 19"/>
          <p:cNvSpPr/>
          <p:nvPr/>
        </p:nvSpPr>
        <p:spPr>
          <a:xfrm>
            <a:off x="4507992" y="1920240"/>
            <a:ext cx="3493008" cy="274320"/>
          </a:xfrm>
          <a:prstGeom prst="rect">
            <a:avLst/>
          </a:prstGeom>
          <a:noFill/>
          <a:ln/>
        </p:spPr>
        <p:txBody>
          <a:bodyPr wrap="square" rtlCol="0" anchor="ctr"/>
          <a:lstStyle/>
          <a:p>
            <a:pPr algn="ctr" indent="0" marL="0">
              <a:buNone/>
            </a:pPr>
            <a:r>
              <a:rPr lang="en-US" sz="1200" dirty="0">
                <a:solidFill>
                  <a:srgbClr val="0B2340"/>
                </a:solidFill>
              </a:rPr>
              <a:t>2020</a:t>
            </a:r>
            <a:endParaRPr lang="en-US" sz="1200" dirty="0"/>
          </a:p>
        </p:txBody>
      </p:sp>
      <p:sp>
        <p:nvSpPr>
          <p:cNvPr id="22" name="Text 20"/>
          <p:cNvSpPr/>
          <p:nvPr/>
        </p:nvSpPr>
        <p:spPr>
          <a:xfrm>
            <a:off x="4507992" y="2468880"/>
            <a:ext cx="3493008" cy="868680"/>
          </a:xfrm>
          <a:prstGeom prst="rect">
            <a:avLst/>
          </a:prstGeom>
          <a:noFill/>
          <a:ln/>
        </p:spPr>
        <p:txBody>
          <a:bodyPr wrap="square" rtlCol="0" anchor="ctr"/>
          <a:lstStyle/>
          <a:p>
            <a:pPr algn="ctr" indent="0" marL="0">
              <a:buNone/>
            </a:pPr>
            <a:r>
              <a:rPr lang="en-US" sz="4600" b="1" dirty="0">
                <a:solidFill>
                  <a:srgbClr val="E8654A"/>
                </a:solidFill>
              </a:rPr>
              <a:t>8.7M</a:t>
            </a:r>
            <a:endParaRPr lang="en-US" sz="4600" dirty="0"/>
          </a:p>
        </p:txBody>
      </p:sp>
      <p:sp>
        <p:nvSpPr>
          <p:cNvPr id="23" name="Text 21"/>
          <p:cNvSpPr/>
          <p:nvPr/>
        </p:nvSpPr>
        <p:spPr>
          <a:xfrm>
            <a:off x="4672584" y="3401568"/>
            <a:ext cx="3200400" cy="731520"/>
          </a:xfrm>
          <a:prstGeom prst="rect">
            <a:avLst/>
          </a:prstGeom>
          <a:noFill/>
          <a:ln/>
        </p:spPr>
        <p:txBody>
          <a:bodyPr wrap="square" rtlCol="0" anchor="t"/>
          <a:lstStyle/>
          <a:p>
            <a:pPr algn="ctr" indent="0" marL="0">
              <a:buNone/>
            </a:pPr>
            <a:r>
              <a:rPr lang="en-US" sz="1250" dirty="0">
                <a:solidFill>
                  <a:srgbClr val="8BAFC8"/>
                </a:solidFill>
              </a:rPr>
              <a:t>−39% vs. baseline (lockdown)</a:t>
            </a:r>
            <a:endParaRPr lang="en-US" sz="1250" dirty="0"/>
          </a:p>
        </p:txBody>
      </p:sp>
      <p:sp>
        <p:nvSpPr>
          <p:cNvPr id="24" name="Shape 22"/>
          <p:cNvSpPr/>
          <p:nvPr/>
        </p:nvSpPr>
        <p:spPr>
          <a:xfrm>
            <a:off x="8211312" y="1554480"/>
            <a:ext cx="3493008" cy="2816352"/>
          </a:xfrm>
          <a:prstGeom prst="roundRect">
            <a:avLst>
              <a:gd name="adj" fmla="val 2273"/>
            </a:avLst>
          </a:prstGeom>
          <a:solidFill>
            <a:srgbClr val="0F2C47">
              <a:alpha val="85000"/>
            </a:srgbClr>
          </a:solidFill>
          <a:ln w="19050">
            <a:solidFill>
              <a:srgbClr val="4DD9AC"/>
            </a:solidFill>
            <a:prstDash val="solid"/>
          </a:ln>
        </p:spPr>
      </p:sp>
      <p:sp>
        <p:nvSpPr>
          <p:cNvPr id="25" name="Shape 23"/>
          <p:cNvSpPr/>
          <p:nvPr/>
        </p:nvSpPr>
        <p:spPr>
          <a:xfrm>
            <a:off x="8211312" y="1554480"/>
            <a:ext cx="3493008" cy="658368"/>
          </a:xfrm>
          <a:prstGeom prst="rect">
            <a:avLst/>
          </a:prstGeom>
          <a:solidFill>
            <a:srgbClr val="4DD9AC"/>
          </a:solidFill>
          <a:ln/>
        </p:spPr>
      </p:sp>
      <p:sp>
        <p:nvSpPr>
          <p:cNvPr id="26" name="Text 24"/>
          <p:cNvSpPr/>
          <p:nvPr/>
        </p:nvSpPr>
        <p:spPr>
          <a:xfrm>
            <a:off x="8211312" y="1609344"/>
            <a:ext cx="3493008" cy="320040"/>
          </a:xfrm>
          <a:prstGeom prst="rect">
            <a:avLst/>
          </a:prstGeom>
          <a:noFill/>
          <a:ln/>
        </p:spPr>
        <p:txBody>
          <a:bodyPr wrap="square" rtlCol="0" anchor="ctr"/>
          <a:lstStyle/>
          <a:p>
            <a:pPr algn="ctr" indent="0" marL="0">
              <a:buNone/>
            </a:pPr>
            <a:r>
              <a:rPr lang="en-US" sz="1600" b="1" dirty="0">
                <a:solidFill>
                  <a:srgbClr val="0B2340"/>
                </a:solidFill>
              </a:rPr>
              <a:t>POST-COVID</a:t>
            </a:r>
            <a:endParaRPr lang="en-US" sz="1600" dirty="0"/>
          </a:p>
        </p:txBody>
      </p:sp>
      <p:sp>
        <p:nvSpPr>
          <p:cNvPr id="27" name="Text 25"/>
          <p:cNvSpPr/>
          <p:nvPr/>
        </p:nvSpPr>
        <p:spPr>
          <a:xfrm>
            <a:off x="8211312" y="1920240"/>
            <a:ext cx="3493008" cy="274320"/>
          </a:xfrm>
          <a:prstGeom prst="rect">
            <a:avLst/>
          </a:prstGeom>
          <a:noFill/>
          <a:ln/>
        </p:spPr>
        <p:txBody>
          <a:bodyPr wrap="square" rtlCol="0" anchor="ctr"/>
          <a:lstStyle/>
          <a:p>
            <a:pPr algn="ctr" indent="0" marL="0">
              <a:buNone/>
            </a:pPr>
            <a:r>
              <a:rPr lang="en-US" sz="1200" dirty="0">
                <a:solidFill>
                  <a:srgbClr val="0B2340"/>
                </a:solidFill>
              </a:rPr>
              <a:t>2021–2023</a:t>
            </a:r>
            <a:endParaRPr lang="en-US" sz="1200" dirty="0"/>
          </a:p>
        </p:txBody>
      </p:sp>
      <p:sp>
        <p:nvSpPr>
          <p:cNvPr id="28" name="Text 26"/>
          <p:cNvSpPr/>
          <p:nvPr/>
        </p:nvSpPr>
        <p:spPr>
          <a:xfrm>
            <a:off x="8211312" y="2468880"/>
            <a:ext cx="3493008" cy="868680"/>
          </a:xfrm>
          <a:prstGeom prst="rect">
            <a:avLst/>
          </a:prstGeom>
          <a:noFill/>
          <a:ln/>
        </p:spPr>
        <p:txBody>
          <a:bodyPr wrap="square" rtlCol="0" anchor="ctr"/>
          <a:lstStyle/>
          <a:p>
            <a:pPr algn="ctr" indent="0" marL="0">
              <a:buNone/>
            </a:pPr>
            <a:r>
              <a:rPr lang="en-US" sz="4600" b="1" dirty="0">
                <a:solidFill>
                  <a:srgbClr val="4DD9AC"/>
                </a:solidFill>
              </a:rPr>
              <a:t>13.4M</a:t>
            </a:r>
            <a:endParaRPr lang="en-US" sz="4600" dirty="0"/>
          </a:p>
        </p:txBody>
      </p:sp>
      <p:sp>
        <p:nvSpPr>
          <p:cNvPr id="29" name="Text 27"/>
          <p:cNvSpPr/>
          <p:nvPr/>
        </p:nvSpPr>
        <p:spPr>
          <a:xfrm>
            <a:off x="8375904" y="3401568"/>
            <a:ext cx="3200400" cy="731520"/>
          </a:xfrm>
          <a:prstGeom prst="rect">
            <a:avLst/>
          </a:prstGeom>
          <a:noFill/>
          <a:ln/>
        </p:spPr>
        <p:txBody>
          <a:bodyPr wrap="square" rtlCol="0" anchor="t"/>
          <a:lstStyle/>
          <a:p>
            <a:pPr algn="ctr" indent="0" marL="0">
              <a:buNone/>
            </a:pPr>
            <a:r>
              <a:rPr lang="en-US" sz="1250" dirty="0">
                <a:solidFill>
                  <a:srgbClr val="8BAFC8"/>
                </a:solidFill>
              </a:rPr>
              <a:t>recovery to ~94% of baseline</a:t>
            </a:r>
            <a:endParaRPr lang="en-US" sz="1250" dirty="0"/>
          </a:p>
        </p:txBody>
      </p:sp>
      <p:sp>
        <p:nvSpPr>
          <p:cNvPr id="30" name="Shape 28"/>
          <p:cNvSpPr/>
          <p:nvPr/>
        </p:nvSpPr>
        <p:spPr>
          <a:xfrm>
            <a:off x="804672" y="4645152"/>
            <a:ext cx="10561320" cy="1417320"/>
          </a:xfrm>
          <a:prstGeom prst="roundRect">
            <a:avLst>
              <a:gd name="adj" fmla="val 4516"/>
            </a:avLst>
          </a:prstGeom>
          <a:solidFill>
            <a:srgbClr val="0F2C47">
              <a:alpha val="85000"/>
            </a:srgbClr>
          </a:solidFill>
          <a:ln w="19050">
            <a:solidFill>
              <a:srgbClr val="7ECEE3"/>
            </a:solidFill>
            <a:prstDash val="solid"/>
          </a:ln>
        </p:spPr>
      </p:sp>
      <p:sp>
        <p:nvSpPr>
          <p:cNvPr id="31" name="Text 29"/>
          <p:cNvSpPr/>
          <p:nvPr/>
        </p:nvSpPr>
        <p:spPr>
          <a:xfrm>
            <a:off x="1097280" y="4791456"/>
            <a:ext cx="9966960" cy="1115568"/>
          </a:xfrm>
          <a:prstGeom prst="rect">
            <a:avLst/>
          </a:prstGeom>
          <a:noFill/>
          <a:ln/>
        </p:spPr>
        <p:txBody>
          <a:bodyPr wrap="square" rtlCol="0" anchor="ctr"/>
          <a:lstStyle/>
          <a:p>
            <a:pPr indent="0" marL="0">
              <a:lnSpc>
                <a:spcPct val="115000"/>
              </a:lnSpc>
              <a:buNone/>
            </a:pPr>
            <a:r>
              <a:rPr lang="en-US" sz="1400" b="1" dirty="0">
                <a:solidFill>
                  <a:srgbClr val="4DD9AC"/>
                </a:solidFill>
              </a:rPr>
              <a:t>The design.  </a:t>
            </a:r>
            <a:pPr indent="0" marL="0">
              <a:lnSpc>
                <a:spcPct val="115000"/>
              </a:lnSpc>
              <a:buNone/>
            </a:pPr>
            <a:r>
              <a:rPr lang="en-US" sz="1400" dirty="0">
                <a:solidFill>
                  <a:srgbClr val="EEF6FA"/>
                </a:solidFill>
              </a:rPr>
              <a:t>Tourism (the main human pressure) dropped sharply in 2020 while sea currents — the natural transport driver — stayed almost constant (13.2 → 12.4 → 11.8 cm/s). Any litter change that tracks tourism is human-driven; anything that persists is transport / legacy.</a:t>
            </a:r>
            <a:endParaRPr lang="en-US" sz="1400" dirty="0"/>
          </a:p>
        </p:txBody>
      </p:sp>
      <p:sp>
        <p:nvSpPr>
          <p:cNvPr id="32" name="Text 30"/>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33" name="Text 31"/>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PRE · DURING · POST BY COMPARTMENT</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COVID Response — What Changed</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covid_comparison.png">    </p:cNvPr>
          <p:cNvPicPr>
            <a:picLocks noChangeAspect="1"/>
          </p:cNvPicPr>
          <p:nvPr/>
        </p:nvPicPr>
        <p:blipFill>
          <a:blip r:embed="rId1"/>
          <a:stretch>
            <a:fillRect/>
          </a:stretch>
        </p:blipFill>
        <p:spPr>
          <a:xfrm>
            <a:off x="457200" y="1698959"/>
            <a:ext cx="6675120" cy="2445099"/>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30352" y="4462272"/>
          <a:ext cx="7360920" cy="914400"/>
        </p:xfrm>
        <a:graphic>
          <a:graphicData uri="http://schemas.openxmlformats.org/drawingml/2006/table">
            <a:tbl>
              <a:tblPr/>
              <a:tblGrid>
                <a:gridCol w="3200400"/>
                <a:gridCol w="1371600"/>
                <a:gridCol w="1371600"/>
                <a:gridCol w="1417320"/>
              </a:tblGrid>
              <a:tr h="283464">
                <a:tc>
                  <a:txBody>
                    <a:bodyPr/>
                    <a:lstStyle/>
                    <a:p>
                      <a:pPr algn="ctr" indent="0" marL="0">
                        <a:buNone/>
                      </a:pPr>
                      <a:r>
                        <a:rPr lang="en-US" sz="1150" b="1" dirty="0">
                          <a:solidFill>
                            <a:srgbClr val="4DD9AC"/>
                          </a:solidFill>
                        </a:rPr>
                        <a:t>Metric</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ctr" indent="0" marL="0">
                        <a:buNone/>
                      </a:pPr>
                      <a:r>
                        <a:rPr lang="en-US" sz="1150" b="1" dirty="0">
                          <a:solidFill>
                            <a:srgbClr val="4DD9AC"/>
                          </a:solidFill>
                        </a:rPr>
                        <a:t>Pre</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ctr" indent="0" marL="0">
                        <a:buNone/>
                      </a:pPr>
                      <a:r>
                        <a:rPr lang="en-US" sz="1150" b="1" dirty="0">
                          <a:solidFill>
                            <a:srgbClr val="4DD9AC"/>
                          </a:solidFill>
                        </a:rPr>
                        <a:t>COVID</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ctr" indent="0" marL="0">
                        <a:buNone/>
                      </a:pPr>
                      <a:r>
                        <a:rPr lang="en-US" sz="1150" b="1" dirty="0">
                          <a:solidFill>
                            <a:srgbClr val="4DD9AC"/>
                          </a:solidFill>
                        </a:rPr>
                        <a:t>Post</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r>
              <a:tr h="283464">
                <a:tc>
                  <a:txBody>
                    <a:bodyPr/>
                    <a:lstStyle/>
                    <a:p>
                      <a:pPr algn="ctr" indent="0" marL="0">
                        <a:buNone/>
                      </a:pPr>
                      <a:r>
                        <a:rPr lang="en-US" sz="1150" dirty="0">
                          <a:solidFill>
                            <a:srgbClr val="EEF6FA"/>
                          </a:solidFill>
                        </a:rPr>
                        <a:t>Beach litter (mean items/100 m)</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830</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269</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298</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283464">
                <a:tc>
                  <a:txBody>
                    <a:bodyPr/>
                    <a:lstStyle/>
                    <a:p>
                      <a:pPr algn="ctr" indent="0" marL="0">
                        <a:buNone/>
                      </a:pPr>
                      <a:r>
                        <a:rPr lang="en-US" sz="1150" dirty="0">
                          <a:solidFill>
                            <a:srgbClr val="EEF6FA"/>
                          </a:solidFill>
                        </a:rPr>
                        <a:t>Beach litter (median)</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324</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176</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288</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283464">
                <a:tc>
                  <a:txBody>
                    <a:bodyPr/>
                    <a:lstStyle/>
                    <a:p>
                      <a:pPr algn="ctr" indent="0" marL="0">
                        <a:buNone/>
                      </a:pPr>
                      <a:r>
                        <a:rPr lang="en-US" sz="1150" dirty="0">
                          <a:solidFill>
                            <a:srgbClr val="EEF6FA"/>
                          </a:solidFill>
                        </a:rPr>
                        <a:t>Floating obs (count)</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226</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124</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687</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283464">
                <a:tc>
                  <a:txBody>
                    <a:bodyPr/>
                    <a:lstStyle/>
                    <a:p>
                      <a:pPr algn="ctr" indent="0" marL="0">
                        <a:buNone/>
                      </a:pPr>
                      <a:r>
                        <a:rPr lang="en-US" sz="1150" dirty="0">
                          <a:solidFill>
                            <a:srgbClr val="EEF6FA"/>
                          </a:solidFill>
                        </a:rPr>
                        <a:t>Bio events (ENT+ING)</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44</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20</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101</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283464">
                <a:tc>
                  <a:txBody>
                    <a:bodyPr/>
                    <a:lstStyle/>
                    <a:p>
                      <a:pPr algn="ctr" indent="0" marL="0">
                        <a:buNone/>
                      </a:pPr>
                      <a:r>
                        <a:rPr lang="en-US" sz="1150" dirty="0">
                          <a:solidFill>
                            <a:srgbClr val="EEF6FA"/>
                          </a:solidFill>
                        </a:rPr>
                        <a:t>Current speed (cm/s)</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13.2</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12.4</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150" dirty="0">
                          <a:solidFill>
                            <a:srgbClr val="EEF6FA"/>
                          </a:solidFill>
                        </a:rPr>
                        <a:t>11.8</a:t>
                      </a:r>
                      <a:endParaRPr lang="en-US" sz="115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bl>
          </a:graphicData>
        </a:graphic>
      </p:graphicFrame>
      <p:sp>
        <p:nvSpPr>
          <p:cNvPr id="14" name="Text 10"/>
          <p:cNvSpPr/>
          <p:nvPr/>
        </p:nvSpPr>
        <p:spPr>
          <a:xfrm>
            <a:off x="8229600" y="4434840"/>
            <a:ext cx="3520440" cy="347472"/>
          </a:xfrm>
          <a:prstGeom prst="rect">
            <a:avLst/>
          </a:prstGeom>
          <a:noFill/>
          <a:ln/>
        </p:spPr>
        <p:txBody>
          <a:bodyPr wrap="square" rtlCol="0" anchor="ctr"/>
          <a:lstStyle/>
          <a:p>
            <a:pPr indent="0" marL="0">
              <a:buNone/>
            </a:pPr>
            <a:r>
              <a:rPr lang="en-US" sz="1400" b="1" dirty="0">
                <a:solidFill>
                  <a:srgbClr val="4DD9AC"/>
                </a:solidFill>
              </a:rPr>
              <a:t>Signal</a:t>
            </a:r>
            <a:endParaRPr lang="en-US" sz="1400" dirty="0"/>
          </a:p>
        </p:txBody>
      </p:sp>
      <p:sp>
        <p:nvSpPr>
          <p:cNvPr id="15" name="Text 11"/>
          <p:cNvSpPr/>
          <p:nvPr/>
        </p:nvSpPr>
        <p:spPr>
          <a:xfrm>
            <a:off x="8229600" y="4846320"/>
            <a:ext cx="3566160" cy="1234440"/>
          </a:xfrm>
          <a:prstGeom prst="rect">
            <a:avLst/>
          </a:prstGeom>
          <a:noFill/>
          <a:ln/>
        </p:spPr>
        <p:txBody>
          <a:bodyPr wrap="square" rtlCol="0" anchor="ctr"/>
          <a:lstStyle/>
          <a:p>
            <a:pPr marL="342900" indent="-342900">
              <a:lnSpc>
                <a:spcPct val="110000"/>
              </a:lnSpc>
              <a:spcAft>
                <a:spcPts val="600"/>
              </a:spcAft>
              <a:buSzPct val="100000"/>
              <a:buChar char="►"/>
            </a:pPr>
            <a:r>
              <a:rPr lang="en-US" sz="1200" dirty="0">
                <a:solidFill>
                  <a:srgbClr val="EEF6FA"/>
                </a:solidFill>
              </a:rPr>
              <a:t>Beach litter fell −68% with tourism collapse</a:t>
            </a:r>
            <a:endParaRPr lang="en-US" sz="1200" dirty="0"/>
          </a:p>
          <a:p>
            <a:pPr marL="342900" indent="-342900">
              <a:lnSpc>
                <a:spcPct val="110000"/>
              </a:lnSpc>
              <a:spcAft>
                <a:spcPts val="600"/>
              </a:spcAft>
              <a:buSzPct val="100000"/>
              <a:buChar char="►"/>
            </a:pPr>
            <a:r>
              <a:rPr lang="en-US" sz="1200" dirty="0">
                <a:solidFill>
                  <a:srgbClr val="EEF6FA"/>
                </a:solidFill>
              </a:rPr>
              <a:t>Currents ~unchanged — natural driver held constant</a:t>
            </a:r>
            <a:endParaRPr lang="en-US" sz="1200" dirty="0"/>
          </a:p>
          <a:p>
            <a:pPr marL="342900" indent="-342900">
              <a:lnSpc>
                <a:spcPct val="110000"/>
              </a:lnSpc>
              <a:spcAft>
                <a:spcPts val="600"/>
              </a:spcAft>
              <a:buSzPct val="100000"/>
              <a:buChar char="►"/>
            </a:pPr>
            <a:r>
              <a:rPr lang="en-US" sz="1200" dirty="0">
                <a:solidFill>
                  <a:srgbClr val="EEF6FA"/>
                </a:solidFill>
              </a:rPr>
              <a:t>Floating rise post-COVID = mostly sampling effort</a:t>
            </a:r>
            <a:endParaRPr lang="en-US" sz="1200" dirty="0"/>
          </a:p>
        </p:txBody>
      </p:sp>
      <p:sp>
        <p:nvSpPr>
          <p:cNvPr id="16" name="Text 12"/>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7" name="Text 13"/>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HUMAN VS. NATURAL DRIVERS</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COVID — Interpretation</a:t>
            </a:r>
            <a:endParaRPr lang="en-US" sz="3000" dirty="0"/>
          </a:p>
        </p:txBody>
      </p:sp>
      <p:sp>
        <p:nvSpPr>
          <p:cNvPr id="11" name="Shape 9"/>
          <p:cNvSpPr/>
          <p:nvPr/>
        </p:nvSpPr>
        <p:spPr>
          <a:xfrm>
            <a:off x="512064" y="1353312"/>
            <a:ext cx="1280160" cy="50292"/>
          </a:xfrm>
          <a:prstGeom prst="rect">
            <a:avLst/>
          </a:prstGeom>
          <a:solidFill>
            <a:srgbClr val="4DD9AC"/>
          </a:solidFill>
          <a:ln/>
        </p:spPr>
      </p:sp>
      <p:sp>
        <p:nvSpPr>
          <p:cNvPr id="12" name="Shape 10"/>
          <p:cNvSpPr/>
          <p:nvPr/>
        </p:nvSpPr>
        <p:spPr>
          <a:xfrm>
            <a:off x="804672" y="1627632"/>
            <a:ext cx="5138928" cy="3730752"/>
          </a:xfrm>
          <a:prstGeom prst="roundRect">
            <a:avLst>
              <a:gd name="adj" fmla="val 1716"/>
            </a:avLst>
          </a:prstGeom>
          <a:solidFill>
            <a:srgbClr val="0F2C47">
              <a:alpha val="85000"/>
            </a:srgbClr>
          </a:solidFill>
          <a:ln w="12700">
            <a:solidFill>
              <a:srgbClr val="1E4060"/>
            </a:solidFill>
            <a:prstDash val="solid"/>
          </a:ln>
        </p:spPr>
      </p:sp>
      <p:sp>
        <p:nvSpPr>
          <p:cNvPr id="13" name="Shape 11"/>
          <p:cNvSpPr/>
          <p:nvPr/>
        </p:nvSpPr>
        <p:spPr>
          <a:xfrm>
            <a:off x="804672" y="1627632"/>
            <a:ext cx="5138928" cy="64008"/>
          </a:xfrm>
          <a:prstGeom prst="rect">
            <a:avLst/>
          </a:prstGeom>
          <a:solidFill>
            <a:srgbClr val="34D399"/>
          </a:solidFill>
          <a:ln/>
        </p:spPr>
      </p:sp>
      <p:sp>
        <p:nvSpPr>
          <p:cNvPr id="14" name="Text 12"/>
          <p:cNvSpPr/>
          <p:nvPr/>
        </p:nvSpPr>
        <p:spPr>
          <a:xfrm>
            <a:off x="1033272" y="1801368"/>
            <a:ext cx="4773168" cy="457200"/>
          </a:xfrm>
          <a:prstGeom prst="rect">
            <a:avLst/>
          </a:prstGeom>
          <a:noFill/>
          <a:ln/>
        </p:spPr>
        <p:txBody>
          <a:bodyPr wrap="square" rtlCol="0" anchor="ctr"/>
          <a:lstStyle/>
          <a:p>
            <a:pPr indent="0" marL="0">
              <a:buNone/>
            </a:pPr>
            <a:r>
              <a:rPr lang="en-US" sz="1700" b="1" dirty="0">
                <a:solidFill>
                  <a:srgbClr val="34D399"/>
                </a:solidFill>
              </a:rPr>
              <a:t>What it confirms</a:t>
            </a:r>
            <a:endParaRPr lang="en-US" sz="1700" dirty="0"/>
          </a:p>
        </p:txBody>
      </p:sp>
      <p:sp>
        <p:nvSpPr>
          <p:cNvPr id="15" name="Text 13"/>
          <p:cNvSpPr/>
          <p:nvPr/>
        </p:nvSpPr>
        <p:spPr>
          <a:xfrm>
            <a:off x="1033272" y="2350008"/>
            <a:ext cx="4773168" cy="2852928"/>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EEF6FA"/>
                </a:solidFill>
              </a:rPr>
              <a:t>Beach litter has a real local-human component — it fell ~68% when tourism collapsed</a:t>
            </a:r>
            <a:endParaRPr lang="en-US" sz="1400" dirty="0"/>
          </a:p>
          <a:p>
            <a:pPr marL="342900" indent="-342900">
              <a:lnSpc>
                <a:spcPct val="120000"/>
              </a:lnSpc>
              <a:spcAft>
                <a:spcPts val="1200"/>
              </a:spcAft>
              <a:buSzPct val="100000"/>
              <a:buChar char="►"/>
            </a:pPr>
            <a:r>
              <a:rPr lang="en-US" sz="1400" dirty="0">
                <a:solidFill>
                  <a:srgbClr val="EEF6FA"/>
                </a:solidFill>
              </a:rPr>
              <a:t>Currents (natural driver) stayed constant → good experimental control</a:t>
            </a:r>
            <a:endParaRPr lang="en-US" sz="1400" dirty="0"/>
          </a:p>
          <a:p>
            <a:pPr marL="342900" indent="-342900">
              <a:lnSpc>
                <a:spcPct val="120000"/>
              </a:lnSpc>
              <a:spcAft>
                <a:spcPts val="1200"/>
              </a:spcAft>
              <a:buSzPct val="100000"/>
              <a:buChar char="►"/>
            </a:pPr>
            <a:r>
              <a:rPr lang="en-US" sz="1400" dirty="0">
                <a:solidFill>
                  <a:srgbClr val="EEF6FA"/>
                </a:solidFill>
              </a:rPr>
              <a:t>Litter did NOT return to pre-COVID mean → legacy litter &amp; transport persist</a:t>
            </a:r>
            <a:endParaRPr lang="en-US" sz="1400" dirty="0"/>
          </a:p>
        </p:txBody>
      </p:sp>
      <p:sp>
        <p:nvSpPr>
          <p:cNvPr id="16" name="Shape 14"/>
          <p:cNvSpPr/>
          <p:nvPr/>
        </p:nvSpPr>
        <p:spPr>
          <a:xfrm>
            <a:off x="6428232" y="1627632"/>
            <a:ext cx="5138928" cy="3730752"/>
          </a:xfrm>
          <a:prstGeom prst="roundRect">
            <a:avLst>
              <a:gd name="adj" fmla="val 1716"/>
            </a:avLst>
          </a:prstGeom>
          <a:solidFill>
            <a:srgbClr val="0F2C47">
              <a:alpha val="85000"/>
            </a:srgbClr>
          </a:solidFill>
          <a:ln w="12700">
            <a:solidFill>
              <a:srgbClr val="1E4060"/>
            </a:solidFill>
            <a:prstDash val="solid"/>
          </a:ln>
        </p:spPr>
      </p:sp>
      <p:sp>
        <p:nvSpPr>
          <p:cNvPr id="17" name="Shape 15"/>
          <p:cNvSpPr/>
          <p:nvPr/>
        </p:nvSpPr>
        <p:spPr>
          <a:xfrm>
            <a:off x="6428232" y="1627632"/>
            <a:ext cx="5138928" cy="64008"/>
          </a:xfrm>
          <a:prstGeom prst="rect">
            <a:avLst/>
          </a:prstGeom>
          <a:solidFill>
            <a:srgbClr val="F59E0B"/>
          </a:solidFill>
          <a:ln/>
        </p:spPr>
      </p:sp>
      <p:sp>
        <p:nvSpPr>
          <p:cNvPr id="18" name="Text 16"/>
          <p:cNvSpPr/>
          <p:nvPr/>
        </p:nvSpPr>
        <p:spPr>
          <a:xfrm>
            <a:off x="6656832" y="1801368"/>
            <a:ext cx="4773168" cy="457200"/>
          </a:xfrm>
          <a:prstGeom prst="rect">
            <a:avLst/>
          </a:prstGeom>
          <a:noFill/>
          <a:ln/>
        </p:spPr>
        <p:txBody>
          <a:bodyPr wrap="square" rtlCol="0" anchor="ctr"/>
          <a:lstStyle/>
          <a:p>
            <a:pPr indent="0" marL="0">
              <a:buNone/>
            </a:pPr>
            <a:r>
              <a:rPr lang="en-US" sz="1700" b="1" dirty="0">
                <a:solidFill>
                  <a:srgbClr val="F59E0B"/>
                </a:solidFill>
              </a:rPr>
              <a:t>Caveats</a:t>
            </a:r>
            <a:endParaRPr lang="en-US" sz="1700" dirty="0"/>
          </a:p>
        </p:txBody>
      </p:sp>
      <p:sp>
        <p:nvSpPr>
          <p:cNvPr id="19" name="Text 17"/>
          <p:cNvSpPr/>
          <p:nvPr/>
        </p:nvSpPr>
        <p:spPr>
          <a:xfrm>
            <a:off x="6656832" y="2350008"/>
            <a:ext cx="4773168" cy="2852928"/>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EEF6FA"/>
                </a:solidFill>
              </a:rPr>
              <a:t>Pre-COVID mean inflated by a few extreme surveys (median drop smaller: 324 → 176)</a:t>
            </a:r>
            <a:endParaRPr lang="en-US" sz="1400" dirty="0"/>
          </a:p>
          <a:p>
            <a:pPr marL="342900" indent="-342900">
              <a:lnSpc>
                <a:spcPct val="120000"/>
              </a:lnSpc>
              <a:spcAft>
                <a:spcPts val="1200"/>
              </a:spcAft>
              <a:buSzPct val="100000"/>
              <a:buChar char="►"/>
            </a:pPr>
            <a:r>
              <a:rPr lang="en-US" sz="1400" dirty="0">
                <a:solidFill>
                  <a:srgbClr val="EEF6FA"/>
                </a:solidFill>
              </a:rPr>
              <a:t>Floating &amp; bio rises post-2020 partly reflect more sampling, not more litter</a:t>
            </a:r>
            <a:endParaRPr lang="en-US" sz="1400" dirty="0"/>
          </a:p>
          <a:p>
            <a:pPr marL="342900" indent="-342900">
              <a:lnSpc>
                <a:spcPct val="120000"/>
              </a:lnSpc>
              <a:spcAft>
                <a:spcPts val="1200"/>
              </a:spcAft>
              <a:buSzPct val="100000"/>
              <a:buChar char="►"/>
            </a:pPr>
            <a:r>
              <a:rPr lang="en-US" sz="1400" dirty="0">
                <a:solidFill>
                  <a:srgbClr val="EEF6FA"/>
                </a:solidFill>
              </a:rPr>
              <a:t>Single lockdown year → low statistical power, treat as indicative</a:t>
            </a:r>
            <a:endParaRPr lang="en-US" sz="1400" dirty="0"/>
          </a:p>
        </p:txBody>
      </p:sp>
      <p:sp>
        <p:nvSpPr>
          <p:cNvPr id="20" name="Shape 18"/>
          <p:cNvSpPr/>
          <p:nvPr/>
        </p:nvSpPr>
        <p:spPr>
          <a:xfrm>
            <a:off x="804672" y="5559552"/>
            <a:ext cx="10561320" cy="658368"/>
          </a:xfrm>
          <a:prstGeom prst="roundRect">
            <a:avLst>
              <a:gd name="adj" fmla="val 9722"/>
            </a:avLst>
          </a:prstGeom>
          <a:solidFill>
            <a:srgbClr val="0F2C47">
              <a:alpha val="85000"/>
            </a:srgbClr>
          </a:solidFill>
          <a:ln w="19050">
            <a:solidFill>
              <a:srgbClr val="4DD9AC"/>
            </a:solidFill>
            <a:prstDash val="solid"/>
          </a:ln>
        </p:spPr>
      </p:sp>
      <p:sp>
        <p:nvSpPr>
          <p:cNvPr id="21" name="Text 19"/>
          <p:cNvSpPr/>
          <p:nvPr/>
        </p:nvSpPr>
        <p:spPr>
          <a:xfrm>
            <a:off x="1078992" y="5623560"/>
            <a:ext cx="9966960" cy="530352"/>
          </a:xfrm>
          <a:prstGeom prst="rect">
            <a:avLst/>
          </a:prstGeom>
          <a:noFill/>
          <a:ln/>
        </p:spPr>
        <p:txBody>
          <a:bodyPr wrap="square" rtlCol="0" anchor="ctr"/>
          <a:lstStyle/>
          <a:p>
            <a:pPr indent="0" marL="0">
              <a:buNone/>
            </a:pPr>
            <a:r>
              <a:rPr lang="en-US" sz="1350" b="1" dirty="0">
                <a:solidFill>
                  <a:srgbClr val="4DD9AC"/>
                </a:solidFill>
              </a:rPr>
              <a:t>Take-away:  </a:t>
            </a:r>
            <a:pPr indent="0" marL="0">
              <a:buNone/>
            </a:pPr>
            <a:r>
              <a:rPr lang="en-US" sz="1350" dirty="0">
                <a:solidFill>
                  <a:srgbClr val="EEF6FA"/>
                </a:solidFill>
              </a:rPr>
              <a:t>beach litter is partly human-driven and partly transported — which is exactly why a multi-compartment, current-aware hazard index is needed.</a:t>
            </a:r>
            <a:endParaRPr lang="en-US" sz="1350" dirty="0"/>
          </a:p>
        </p:txBody>
      </p:sp>
      <p:sp>
        <p:nvSpPr>
          <p:cNvPr id="22" name="Text 20"/>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23" name="Text 21"/>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1645920"/>
            <a:ext cx="12188952" cy="36576"/>
          </a:xfrm>
          <a:prstGeom prst="rect">
            <a:avLst/>
          </a:prstGeom>
          <a:solidFill>
            <a:srgbClr val="7ECEE3">
              <a:alpha val="30000"/>
            </a:srgbClr>
          </a:solidFill>
          <a:ln/>
        </p:spPr>
      </p:sp>
      <p:sp>
        <p:nvSpPr>
          <p:cNvPr id="8" name="Shape 6"/>
          <p:cNvSpPr/>
          <p:nvPr/>
        </p:nvSpPr>
        <p:spPr>
          <a:xfrm>
            <a:off x="0" y="2194560"/>
            <a:ext cx="12188952" cy="36576"/>
          </a:xfrm>
          <a:prstGeom prst="rect">
            <a:avLst/>
          </a:prstGeom>
          <a:solidFill>
            <a:srgbClr val="7ECEE3">
              <a:alpha val="24000"/>
            </a:srgbClr>
          </a:solidFill>
          <a:ln/>
        </p:spPr>
      </p:sp>
      <p:sp>
        <p:nvSpPr>
          <p:cNvPr id="9" name="Shape 7"/>
          <p:cNvSpPr/>
          <p:nvPr/>
        </p:nvSpPr>
        <p:spPr>
          <a:xfrm>
            <a:off x="0" y="2743200"/>
            <a:ext cx="12188952" cy="36576"/>
          </a:xfrm>
          <a:prstGeom prst="rect">
            <a:avLst/>
          </a:prstGeom>
          <a:solidFill>
            <a:srgbClr val="7ECEE3">
              <a:alpha val="18000"/>
            </a:srgbClr>
          </a:solidFill>
          <a:ln/>
        </p:spPr>
      </p:sp>
      <p:sp>
        <p:nvSpPr>
          <p:cNvPr id="10" name="Shape 8"/>
          <p:cNvSpPr/>
          <p:nvPr/>
        </p:nvSpPr>
        <p:spPr>
          <a:xfrm>
            <a:off x="0" y="3291840"/>
            <a:ext cx="12188952" cy="36576"/>
          </a:xfrm>
          <a:prstGeom prst="rect">
            <a:avLst/>
          </a:prstGeom>
          <a:solidFill>
            <a:srgbClr val="7ECEE3">
              <a:alpha val="12000"/>
            </a:srgbClr>
          </a:solidFill>
          <a:ln/>
        </p:spPr>
      </p:sp>
      <p:sp>
        <p:nvSpPr>
          <p:cNvPr id="11" name="Text 9"/>
          <p:cNvSpPr/>
          <p:nvPr/>
        </p:nvSpPr>
        <p:spPr>
          <a:xfrm>
            <a:off x="6858000" y="182880"/>
            <a:ext cx="5029200" cy="6217920"/>
          </a:xfrm>
          <a:prstGeom prst="rect">
            <a:avLst/>
          </a:prstGeom>
          <a:noFill/>
          <a:ln/>
        </p:spPr>
        <p:txBody>
          <a:bodyPr wrap="square" rtlCol="0" anchor="ctr"/>
          <a:lstStyle/>
          <a:p>
            <a:pPr algn="r" indent="0" marL="0">
              <a:buNone/>
            </a:pPr>
            <a:r>
              <a:rPr lang="en-US" sz="34000" b="1" dirty="0">
                <a:solidFill>
                  <a:srgbClr val="1A4F72">
                    <a:alpha val="22000"/>
                  </a:srgbClr>
                </a:solidFill>
              </a:rPr>
              <a:t>03</a:t>
            </a:r>
            <a:endParaRPr lang="en-US" sz="34000" dirty="0"/>
          </a:p>
        </p:txBody>
      </p:sp>
      <p:sp>
        <p:nvSpPr>
          <p:cNvPr id="12" name="Text 10"/>
          <p:cNvSpPr/>
          <p:nvPr/>
        </p:nvSpPr>
        <p:spPr>
          <a:xfrm>
            <a:off x="822960" y="2194560"/>
            <a:ext cx="7315200" cy="411480"/>
          </a:xfrm>
          <a:prstGeom prst="rect">
            <a:avLst/>
          </a:prstGeom>
          <a:noFill/>
          <a:ln/>
        </p:spPr>
        <p:txBody>
          <a:bodyPr wrap="square" rtlCol="0" anchor="ctr"/>
          <a:lstStyle/>
          <a:p>
            <a:pPr indent="0" marL="0">
              <a:buNone/>
            </a:pPr>
            <a:r>
              <a:rPr lang="en-US" sz="1300" b="1" spc="400" kern="0" dirty="0">
                <a:solidFill>
                  <a:srgbClr val="4DD9AC"/>
                </a:solidFill>
              </a:rPr>
              <a:t>SECTION 03</a:t>
            </a:r>
            <a:endParaRPr lang="en-US" sz="1300" dirty="0"/>
          </a:p>
        </p:txBody>
      </p:sp>
      <p:sp>
        <p:nvSpPr>
          <p:cNvPr id="13" name="Text 11"/>
          <p:cNvSpPr/>
          <p:nvPr/>
        </p:nvSpPr>
        <p:spPr>
          <a:xfrm>
            <a:off x="777240" y="2651760"/>
            <a:ext cx="9144000" cy="1005840"/>
          </a:xfrm>
          <a:prstGeom prst="rect">
            <a:avLst/>
          </a:prstGeom>
          <a:noFill/>
          <a:ln/>
        </p:spPr>
        <p:txBody>
          <a:bodyPr wrap="square" rtlCol="0" anchor="ctr"/>
          <a:lstStyle/>
          <a:p>
            <a:pPr indent="0" marL="0">
              <a:buNone/>
            </a:pPr>
            <a:r>
              <a:rPr lang="en-US" sz="4600" b="1" dirty="0">
                <a:solidFill>
                  <a:srgbClr val="EEF6FA"/>
                </a:solidFill>
              </a:rPr>
              <a:t>Composite Hazard Index</a:t>
            </a:r>
            <a:endParaRPr lang="en-US" sz="4600" dirty="0"/>
          </a:p>
        </p:txBody>
      </p:sp>
      <p:sp>
        <p:nvSpPr>
          <p:cNvPr id="14" name="Shape 12"/>
          <p:cNvSpPr/>
          <p:nvPr/>
        </p:nvSpPr>
        <p:spPr>
          <a:xfrm>
            <a:off x="841248" y="3749040"/>
            <a:ext cx="2743200" cy="64008"/>
          </a:xfrm>
          <a:prstGeom prst="rect">
            <a:avLst/>
          </a:prstGeom>
          <a:solidFill>
            <a:srgbClr val="4DD9AC"/>
          </a:solidFill>
          <a:ln/>
        </p:spPr>
      </p:sp>
      <p:sp>
        <p:nvSpPr>
          <p:cNvPr id="15" name="Shape 13"/>
          <p:cNvSpPr/>
          <p:nvPr/>
        </p:nvSpPr>
        <p:spPr>
          <a:xfrm>
            <a:off x="3584448" y="3749040"/>
            <a:ext cx="1371600" cy="64008"/>
          </a:xfrm>
          <a:prstGeom prst="rect">
            <a:avLst/>
          </a:prstGeom>
          <a:solidFill>
            <a:srgbClr val="7ECEE3">
              <a:alpha val="70000"/>
            </a:srgbClr>
          </a:solidFill>
          <a:ln/>
        </p:spPr>
      </p:sp>
      <p:sp>
        <p:nvSpPr>
          <p:cNvPr id="16" name="Text 14"/>
          <p:cNvSpPr/>
          <p:nvPr/>
        </p:nvSpPr>
        <p:spPr>
          <a:xfrm>
            <a:off x="804672" y="3931920"/>
            <a:ext cx="10058400" cy="548640"/>
          </a:xfrm>
          <a:prstGeom prst="rect">
            <a:avLst/>
          </a:prstGeom>
          <a:noFill/>
          <a:ln/>
        </p:spPr>
        <p:txBody>
          <a:bodyPr wrap="square" rtlCol="0" anchor="ctr"/>
          <a:lstStyle/>
          <a:p>
            <a:pPr indent="0" marL="0">
              <a:buNone/>
            </a:pPr>
            <a:r>
              <a:rPr lang="en-US" sz="1600" dirty="0">
                <a:solidFill>
                  <a:srgbClr val="8BAFC8"/>
                </a:solidFill>
              </a:rPr>
              <a:t>methodology · maps · coastal segments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Composite Hazard — Methodology</a:t>
            </a:r>
            <a:endParaRPr lang="en-US" sz="3000" dirty="0"/>
          </a:p>
        </p:txBody>
      </p:sp>
      <p:sp>
        <p:nvSpPr>
          <p:cNvPr id="10" name="Shape 8"/>
          <p:cNvSpPr/>
          <p:nvPr/>
        </p:nvSpPr>
        <p:spPr>
          <a:xfrm>
            <a:off x="512064" y="1143000"/>
            <a:ext cx="1280160" cy="50292"/>
          </a:xfrm>
          <a:prstGeom prst="rect">
            <a:avLst/>
          </a:prstGeom>
          <a:solidFill>
            <a:srgbClr val="4DD9AC"/>
          </a:solidFill>
          <a:ln/>
        </p:spPr>
      </p:sp>
      <p:sp>
        <p:nvSpPr>
          <p:cNvPr id="11" name="Shape 9"/>
          <p:cNvSpPr/>
          <p:nvPr/>
        </p:nvSpPr>
        <p:spPr>
          <a:xfrm>
            <a:off x="658368" y="1554480"/>
            <a:ext cx="804672" cy="804672"/>
          </a:xfrm>
          <a:prstGeom prst="ellipse">
            <a:avLst/>
          </a:prstGeom>
          <a:solidFill>
            <a:srgbClr val="1A4F72"/>
          </a:solidFill>
          <a:ln/>
        </p:spPr>
      </p:sp>
      <p:sp>
        <p:nvSpPr>
          <p:cNvPr id="12" name="Text 10"/>
          <p:cNvSpPr/>
          <p:nvPr/>
        </p:nvSpPr>
        <p:spPr>
          <a:xfrm>
            <a:off x="658368" y="1554480"/>
            <a:ext cx="804672" cy="804672"/>
          </a:xfrm>
          <a:prstGeom prst="rect">
            <a:avLst/>
          </a:prstGeom>
          <a:noFill/>
          <a:ln/>
        </p:spPr>
        <p:txBody>
          <a:bodyPr wrap="square" rtlCol="0" anchor="ctr"/>
          <a:lstStyle/>
          <a:p>
            <a:pPr algn="ctr" indent="0" marL="0">
              <a:buNone/>
            </a:pPr>
            <a:r>
              <a:rPr lang="en-US" sz="3000" b="1" dirty="0">
                <a:solidFill>
                  <a:srgbClr val="4DD9AC"/>
                </a:solidFill>
              </a:rPr>
              <a:t>1</a:t>
            </a:r>
            <a:endParaRPr lang="en-US" sz="3000" dirty="0"/>
          </a:p>
        </p:txBody>
      </p:sp>
      <p:sp>
        <p:nvSpPr>
          <p:cNvPr id="13" name="Shape 11"/>
          <p:cNvSpPr/>
          <p:nvPr/>
        </p:nvSpPr>
        <p:spPr>
          <a:xfrm>
            <a:off x="1627632" y="1609344"/>
            <a:ext cx="0" cy="694944"/>
          </a:xfrm>
          <a:prstGeom prst="line">
            <a:avLst/>
          </a:prstGeom>
          <a:noFill/>
          <a:ln w="25400">
            <a:solidFill>
              <a:srgbClr val="4DD9AC"/>
            </a:solidFill>
            <a:prstDash val="solid"/>
          </a:ln>
        </p:spPr>
      </p:sp>
      <p:sp>
        <p:nvSpPr>
          <p:cNvPr id="14" name="Text 12"/>
          <p:cNvSpPr/>
          <p:nvPr/>
        </p:nvSpPr>
        <p:spPr>
          <a:xfrm>
            <a:off x="1810512" y="1572768"/>
            <a:ext cx="2834640" cy="402336"/>
          </a:xfrm>
          <a:prstGeom prst="rect">
            <a:avLst/>
          </a:prstGeom>
          <a:noFill/>
          <a:ln/>
        </p:spPr>
        <p:txBody>
          <a:bodyPr wrap="square" rtlCol="0" anchor="ctr"/>
          <a:lstStyle/>
          <a:p>
            <a:pPr indent="0" marL="0">
              <a:buNone/>
            </a:pPr>
            <a:r>
              <a:rPr lang="en-US" sz="1700" b="1" dirty="0">
                <a:solidFill>
                  <a:srgbClr val="4DD9AC"/>
                </a:solidFill>
              </a:rPr>
              <a:t>NORMALISE</a:t>
            </a:r>
            <a:endParaRPr lang="en-US" sz="1700" dirty="0"/>
          </a:p>
        </p:txBody>
      </p:sp>
      <p:sp>
        <p:nvSpPr>
          <p:cNvPr id="15" name="Text 13"/>
          <p:cNvSpPr/>
          <p:nvPr/>
        </p:nvSpPr>
        <p:spPr>
          <a:xfrm>
            <a:off x="1810512" y="1975104"/>
            <a:ext cx="9509760" cy="640080"/>
          </a:xfrm>
          <a:prstGeom prst="rect">
            <a:avLst/>
          </a:prstGeom>
          <a:noFill/>
          <a:ln/>
        </p:spPr>
        <p:txBody>
          <a:bodyPr wrap="square" rtlCol="0" anchor="t"/>
          <a:lstStyle/>
          <a:p>
            <a:pPr indent="0" marL="0">
              <a:buNone/>
            </a:pPr>
            <a:r>
              <a:rPr lang="en-US" sz="1300" dirty="0">
                <a:solidFill>
                  <a:srgbClr val="EEF6FA"/>
                </a:solidFill>
              </a:rPr>
              <a:t>Min-max each compartment → 0–1 per station. Global normalisation across all years for temporal comparability.</a:t>
            </a:r>
            <a:endParaRPr lang="en-US" sz="1300" dirty="0"/>
          </a:p>
        </p:txBody>
      </p:sp>
      <p:sp>
        <p:nvSpPr>
          <p:cNvPr id="16" name="Shape 14"/>
          <p:cNvSpPr/>
          <p:nvPr/>
        </p:nvSpPr>
        <p:spPr>
          <a:xfrm>
            <a:off x="658368" y="2670048"/>
            <a:ext cx="804672" cy="804672"/>
          </a:xfrm>
          <a:prstGeom prst="ellipse">
            <a:avLst/>
          </a:prstGeom>
          <a:solidFill>
            <a:srgbClr val="1A4F72"/>
          </a:solidFill>
          <a:ln/>
        </p:spPr>
      </p:sp>
      <p:sp>
        <p:nvSpPr>
          <p:cNvPr id="17" name="Text 15"/>
          <p:cNvSpPr/>
          <p:nvPr/>
        </p:nvSpPr>
        <p:spPr>
          <a:xfrm>
            <a:off x="658368" y="2670048"/>
            <a:ext cx="804672" cy="804672"/>
          </a:xfrm>
          <a:prstGeom prst="rect">
            <a:avLst/>
          </a:prstGeom>
          <a:noFill/>
          <a:ln/>
        </p:spPr>
        <p:txBody>
          <a:bodyPr wrap="square" rtlCol="0" anchor="ctr"/>
          <a:lstStyle/>
          <a:p>
            <a:pPr algn="ctr" indent="0" marL="0">
              <a:buNone/>
            </a:pPr>
            <a:r>
              <a:rPr lang="en-US" sz="3000" b="1" dirty="0">
                <a:solidFill>
                  <a:srgbClr val="7ECEE3"/>
                </a:solidFill>
              </a:rPr>
              <a:t>2</a:t>
            </a:r>
            <a:endParaRPr lang="en-US" sz="3000" dirty="0"/>
          </a:p>
        </p:txBody>
      </p:sp>
      <p:sp>
        <p:nvSpPr>
          <p:cNvPr id="18" name="Shape 16"/>
          <p:cNvSpPr/>
          <p:nvPr/>
        </p:nvSpPr>
        <p:spPr>
          <a:xfrm>
            <a:off x="1627632" y="2724912"/>
            <a:ext cx="0" cy="694944"/>
          </a:xfrm>
          <a:prstGeom prst="line">
            <a:avLst/>
          </a:prstGeom>
          <a:noFill/>
          <a:ln w="25400">
            <a:solidFill>
              <a:srgbClr val="7ECEE3"/>
            </a:solidFill>
            <a:prstDash val="solid"/>
          </a:ln>
        </p:spPr>
      </p:sp>
      <p:sp>
        <p:nvSpPr>
          <p:cNvPr id="19" name="Text 17"/>
          <p:cNvSpPr/>
          <p:nvPr/>
        </p:nvSpPr>
        <p:spPr>
          <a:xfrm>
            <a:off x="1810512" y="2688336"/>
            <a:ext cx="2834640" cy="402336"/>
          </a:xfrm>
          <a:prstGeom prst="rect">
            <a:avLst/>
          </a:prstGeom>
          <a:noFill/>
          <a:ln/>
        </p:spPr>
        <p:txBody>
          <a:bodyPr wrap="square" rtlCol="0" anchor="ctr"/>
          <a:lstStyle/>
          <a:p>
            <a:pPr indent="0" marL="0">
              <a:buNone/>
            </a:pPr>
            <a:r>
              <a:rPr lang="en-US" sz="1700" b="1" dirty="0">
                <a:solidFill>
                  <a:srgbClr val="7ECEE3"/>
                </a:solidFill>
              </a:rPr>
              <a:t>INTERPOLATE</a:t>
            </a:r>
            <a:endParaRPr lang="en-US" sz="1700" dirty="0"/>
          </a:p>
        </p:txBody>
      </p:sp>
      <p:sp>
        <p:nvSpPr>
          <p:cNvPr id="20" name="Text 18"/>
          <p:cNvSpPr/>
          <p:nvPr/>
        </p:nvSpPr>
        <p:spPr>
          <a:xfrm>
            <a:off x="1810512" y="3090672"/>
            <a:ext cx="9509760" cy="640080"/>
          </a:xfrm>
          <a:prstGeom prst="rect">
            <a:avLst/>
          </a:prstGeom>
          <a:noFill/>
          <a:ln/>
        </p:spPr>
        <p:txBody>
          <a:bodyPr wrap="square" rtlCol="0" anchor="t"/>
          <a:lstStyle/>
          <a:p>
            <a:pPr indent="0" marL="0">
              <a:buNone/>
            </a:pPr>
            <a:r>
              <a:rPr lang="en-US" sz="1300" dirty="0">
                <a:solidFill>
                  <a:srgbClr val="EEF6FA"/>
                </a:solidFill>
              </a:rPr>
              <a:t>IDW on regular 0.12° (~12 km) grid over Sardinia + buffer. 289 cells, coastal-masked.</a:t>
            </a:r>
            <a:endParaRPr lang="en-US" sz="1300" dirty="0"/>
          </a:p>
        </p:txBody>
      </p:sp>
      <p:sp>
        <p:nvSpPr>
          <p:cNvPr id="21" name="Shape 19"/>
          <p:cNvSpPr/>
          <p:nvPr/>
        </p:nvSpPr>
        <p:spPr>
          <a:xfrm>
            <a:off x="658368" y="3785616"/>
            <a:ext cx="804672" cy="804672"/>
          </a:xfrm>
          <a:prstGeom prst="ellipse">
            <a:avLst/>
          </a:prstGeom>
          <a:solidFill>
            <a:srgbClr val="1A4F72"/>
          </a:solidFill>
          <a:ln/>
        </p:spPr>
      </p:sp>
      <p:sp>
        <p:nvSpPr>
          <p:cNvPr id="22" name="Text 20"/>
          <p:cNvSpPr/>
          <p:nvPr/>
        </p:nvSpPr>
        <p:spPr>
          <a:xfrm>
            <a:off x="658368" y="3785616"/>
            <a:ext cx="804672" cy="804672"/>
          </a:xfrm>
          <a:prstGeom prst="rect">
            <a:avLst/>
          </a:prstGeom>
          <a:noFill/>
          <a:ln/>
        </p:spPr>
        <p:txBody>
          <a:bodyPr wrap="square" rtlCol="0" anchor="ctr"/>
          <a:lstStyle/>
          <a:p>
            <a:pPr algn="ctr" indent="0" marL="0">
              <a:buNone/>
            </a:pPr>
            <a:r>
              <a:rPr lang="en-US" sz="3000" b="1" dirty="0">
                <a:solidFill>
                  <a:srgbClr val="E8654A"/>
                </a:solidFill>
              </a:rPr>
              <a:t>3</a:t>
            </a:r>
            <a:endParaRPr lang="en-US" sz="3000" dirty="0"/>
          </a:p>
        </p:txBody>
      </p:sp>
      <p:sp>
        <p:nvSpPr>
          <p:cNvPr id="23" name="Shape 21"/>
          <p:cNvSpPr/>
          <p:nvPr/>
        </p:nvSpPr>
        <p:spPr>
          <a:xfrm>
            <a:off x="1627632" y="3840480"/>
            <a:ext cx="0" cy="694944"/>
          </a:xfrm>
          <a:prstGeom prst="line">
            <a:avLst/>
          </a:prstGeom>
          <a:noFill/>
          <a:ln w="25400">
            <a:solidFill>
              <a:srgbClr val="E8654A"/>
            </a:solidFill>
            <a:prstDash val="solid"/>
          </a:ln>
        </p:spPr>
      </p:sp>
      <p:sp>
        <p:nvSpPr>
          <p:cNvPr id="24" name="Text 22"/>
          <p:cNvSpPr/>
          <p:nvPr/>
        </p:nvSpPr>
        <p:spPr>
          <a:xfrm>
            <a:off x="1810512" y="3803904"/>
            <a:ext cx="2834640" cy="402336"/>
          </a:xfrm>
          <a:prstGeom prst="rect">
            <a:avLst/>
          </a:prstGeom>
          <a:noFill/>
          <a:ln/>
        </p:spPr>
        <p:txBody>
          <a:bodyPr wrap="square" rtlCol="0" anchor="ctr"/>
          <a:lstStyle/>
          <a:p>
            <a:pPr indent="0" marL="0">
              <a:buNone/>
            </a:pPr>
            <a:r>
              <a:rPr lang="en-US" sz="1700" b="1" dirty="0">
                <a:solidFill>
                  <a:srgbClr val="E8654A"/>
                </a:solidFill>
              </a:rPr>
              <a:t>COMPOSITE</a:t>
            </a:r>
            <a:endParaRPr lang="en-US" sz="1700" dirty="0"/>
          </a:p>
        </p:txBody>
      </p:sp>
      <p:sp>
        <p:nvSpPr>
          <p:cNvPr id="25" name="Text 23"/>
          <p:cNvSpPr/>
          <p:nvPr/>
        </p:nvSpPr>
        <p:spPr>
          <a:xfrm>
            <a:off x="1810512" y="4206240"/>
            <a:ext cx="9509760" cy="640080"/>
          </a:xfrm>
          <a:prstGeom prst="rect">
            <a:avLst/>
          </a:prstGeom>
          <a:noFill/>
          <a:ln/>
        </p:spPr>
        <p:txBody>
          <a:bodyPr wrap="square" rtlCol="0" anchor="t"/>
          <a:lstStyle/>
          <a:p>
            <a:pPr indent="0" marL="0">
              <a:buNone/>
            </a:pPr>
            <a:r>
              <a:rPr lang="en-US" sz="1300" dirty="0">
                <a:solidFill>
                  <a:srgbClr val="EEF6FA"/>
                </a:solidFill>
              </a:rPr>
              <a:t>Weighted mean: Beach+Float 35% · Plastic 25% · Currents 20% · Bio 20%.</a:t>
            </a:r>
            <a:endParaRPr lang="en-US" sz="1300" dirty="0"/>
          </a:p>
        </p:txBody>
      </p:sp>
      <p:sp>
        <p:nvSpPr>
          <p:cNvPr id="26" name="Shape 24"/>
          <p:cNvSpPr/>
          <p:nvPr/>
        </p:nvSpPr>
        <p:spPr>
          <a:xfrm>
            <a:off x="658368" y="4901184"/>
            <a:ext cx="804672" cy="804672"/>
          </a:xfrm>
          <a:prstGeom prst="ellipse">
            <a:avLst/>
          </a:prstGeom>
          <a:solidFill>
            <a:srgbClr val="1A4F72"/>
          </a:solidFill>
          <a:ln/>
        </p:spPr>
      </p:sp>
      <p:sp>
        <p:nvSpPr>
          <p:cNvPr id="27" name="Text 25"/>
          <p:cNvSpPr/>
          <p:nvPr/>
        </p:nvSpPr>
        <p:spPr>
          <a:xfrm>
            <a:off x="658368" y="4901184"/>
            <a:ext cx="804672" cy="804672"/>
          </a:xfrm>
          <a:prstGeom prst="rect">
            <a:avLst/>
          </a:prstGeom>
          <a:noFill/>
          <a:ln/>
        </p:spPr>
        <p:txBody>
          <a:bodyPr wrap="square" rtlCol="0" anchor="ctr"/>
          <a:lstStyle/>
          <a:p>
            <a:pPr algn="ctr" indent="0" marL="0">
              <a:buNone/>
            </a:pPr>
            <a:r>
              <a:rPr lang="en-US" sz="3000" b="1" dirty="0">
                <a:solidFill>
                  <a:srgbClr val="F59E0B"/>
                </a:solidFill>
              </a:rPr>
              <a:t>4</a:t>
            </a:r>
            <a:endParaRPr lang="en-US" sz="3000" dirty="0"/>
          </a:p>
        </p:txBody>
      </p:sp>
      <p:sp>
        <p:nvSpPr>
          <p:cNvPr id="28" name="Shape 26"/>
          <p:cNvSpPr/>
          <p:nvPr/>
        </p:nvSpPr>
        <p:spPr>
          <a:xfrm>
            <a:off x="1627632" y="4956048"/>
            <a:ext cx="0" cy="694944"/>
          </a:xfrm>
          <a:prstGeom prst="line">
            <a:avLst/>
          </a:prstGeom>
          <a:noFill/>
          <a:ln w="25400">
            <a:solidFill>
              <a:srgbClr val="F59E0B"/>
            </a:solidFill>
            <a:prstDash val="solid"/>
          </a:ln>
        </p:spPr>
      </p:sp>
      <p:sp>
        <p:nvSpPr>
          <p:cNvPr id="29" name="Text 27"/>
          <p:cNvSpPr/>
          <p:nvPr/>
        </p:nvSpPr>
        <p:spPr>
          <a:xfrm>
            <a:off x="1810512" y="4919472"/>
            <a:ext cx="2834640" cy="402336"/>
          </a:xfrm>
          <a:prstGeom prst="rect">
            <a:avLst/>
          </a:prstGeom>
          <a:noFill/>
          <a:ln/>
        </p:spPr>
        <p:txBody>
          <a:bodyPr wrap="square" rtlCol="0" anchor="ctr"/>
          <a:lstStyle/>
          <a:p>
            <a:pPr indent="0" marL="0">
              <a:buNone/>
            </a:pPr>
            <a:r>
              <a:rPr lang="en-US" sz="1700" b="1" dirty="0">
                <a:solidFill>
                  <a:srgbClr val="F59E0B"/>
                </a:solidFill>
              </a:rPr>
              <a:t>CLASSIFY</a:t>
            </a:r>
            <a:endParaRPr lang="en-US" sz="1700" dirty="0"/>
          </a:p>
        </p:txBody>
      </p:sp>
      <p:sp>
        <p:nvSpPr>
          <p:cNvPr id="30" name="Text 28"/>
          <p:cNvSpPr/>
          <p:nvPr/>
        </p:nvSpPr>
        <p:spPr>
          <a:xfrm>
            <a:off x="1810512" y="5321808"/>
            <a:ext cx="9509760" cy="640080"/>
          </a:xfrm>
          <a:prstGeom prst="rect">
            <a:avLst/>
          </a:prstGeom>
          <a:noFill/>
          <a:ln/>
        </p:spPr>
        <p:txBody>
          <a:bodyPr wrap="square" rtlCol="0" anchor="t"/>
          <a:lstStyle/>
          <a:p>
            <a:pPr indent="0" marL="0">
              <a:buNone/>
            </a:pPr>
            <a:r>
              <a:rPr lang="en-US" sz="1300" dirty="0">
                <a:solidFill>
                  <a:srgbClr val="EEF6FA"/>
                </a:solidFill>
              </a:rPr>
              <a:t>5 classes: Very Low &lt;0.2 · Low · Medium · High · Very High &gt;0.8.</a:t>
            </a:r>
            <a:endParaRPr lang="en-US" sz="1300" dirty="0"/>
          </a:p>
        </p:txBody>
      </p:sp>
      <p:sp>
        <p:nvSpPr>
          <p:cNvPr id="31" name="Shape 29"/>
          <p:cNvSpPr/>
          <p:nvPr/>
        </p:nvSpPr>
        <p:spPr>
          <a:xfrm>
            <a:off x="749808" y="6108192"/>
            <a:ext cx="310896" cy="274320"/>
          </a:xfrm>
          <a:prstGeom prst="roundRect">
            <a:avLst>
              <a:gd name="adj" fmla="val 13333"/>
            </a:avLst>
          </a:prstGeom>
          <a:solidFill>
            <a:srgbClr val="1A9641"/>
          </a:solidFill>
          <a:ln/>
        </p:spPr>
      </p:sp>
      <p:sp>
        <p:nvSpPr>
          <p:cNvPr id="32" name="Text 30"/>
          <p:cNvSpPr/>
          <p:nvPr/>
        </p:nvSpPr>
        <p:spPr>
          <a:xfrm>
            <a:off x="1133856" y="6071616"/>
            <a:ext cx="1828800" cy="347472"/>
          </a:xfrm>
          <a:prstGeom prst="rect">
            <a:avLst/>
          </a:prstGeom>
          <a:noFill/>
          <a:ln/>
        </p:spPr>
        <p:txBody>
          <a:bodyPr wrap="square" rtlCol="0" anchor="ctr"/>
          <a:lstStyle/>
          <a:p>
            <a:pPr indent="0" marL="0">
              <a:buNone/>
            </a:pPr>
            <a:r>
              <a:rPr lang="en-US" sz="1100" dirty="0">
                <a:solidFill>
                  <a:srgbClr val="EEF6FA"/>
                </a:solidFill>
              </a:rPr>
              <a:t>Very Low</a:t>
            </a:r>
            <a:endParaRPr lang="en-US" sz="1100" dirty="0"/>
          </a:p>
        </p:txBody>
      </p:sp>
      <p:sp>
        <p:nvSpPr>
          <p:cNvPr id="33" name="Shape 31"/>
          <p:cNvSpPr/>
          <p:nvPr/>
        </p:nvSpPr>
        <p:spPr>
          <a:xfrm>
            <a:off x="2926080" y="6108192"/>
            <a:ext cx="310896" cy="274320"/>
          </a:xfrm>
          <a:prstGeom prst="roundRect">
            <a:avLst>
              <a:gd name="adj" fmla="val 13333"/>
            </a:avLst>
          </a:prstGeom>
          <a:solidFill>
            <a:srgbClr val="A6D96A"/>
          </a:solidFill>
          <a:ln/>
        </p:spPr>
      </p:sp>
      <p:sp>
        <p:nvSpPr>
          <p:cNvPr id="34" name="Text 32"/>
          <p:cNvSpPr/>
          <p:nvPr/>
        </p:nvSpPr>
        <p:spPr>
          <a:xfrm>
            <a:off x="3310128" y="6071616"/>
            <a:ext cx="1828800" cy="347472"/>
          </a:xfrm>
          <a:prstGeom prst="rect">
            <a:avLst/>
          </a:prstGeom>
          <a:noFill/>
          <a:ln/>
        </p:spPr>
        <p:txBody>
          <a:bodyPr wrap="square" rtlCol="0" anchor="ctr"/>
          <a:lstStyle/>
          <a:p>
            <a:pPr indent="0" marL="0">
              <a:buNone/>
            </a:pPr>
            <a:r>
              <a:rPr lang="en-US" sz="1100" dirty="0">
                <a:solidFill>
                  <a:srgbClr val="EEF6FA"/>
                </a:solidFill>
              </a:rPr>
              <a:t>Low</a:t>
            </a:r>
            <a:endParaRPr lang="en-US" sz="1100" dirty="0"/>
          </a:p>
        </p:txBody>
      </p:sp>
      <p:sp>
        <p:nvSpPr>
          <p:cNvPr id="35" name="Shape 33"/>
          <p:cNvSpPr/>
          <p:nvPr/>
        </p:nvSpPr>
        <p:spPr>
          <a:xfrm>
            <a:off x="5102352" y="6108192"/>
            <a:ext cx="310896" cy="274320"/>
          </a:xfrm>
          <a:prstGeom prst="roundRect">
            <a:avLst>
              <a:gd name="adj" fmla="val 13333"/>
            </a:avLst>
          </a:prstGeom>
          <a:solidFill>
            <a:srgbClr val="FFFFBF"/>
          </a:solidFill>
          <a:ln/>
        </p:spPr>
      </p:sp>
      <p:sp>
        <p:nvSpPr>
          <p:cNvPr id="36" name="Text 34"/>
          <p:cNvSpPr/>
          <p:nvPr/>
        </p:nvSpPr>
        <p:spPr>
          <a:xfrm>
            <a:off x="5486400" y="6071616"/>
            <a:ext cx="1828800" cy="347472"/>
          </a:xfrm>
          <a:prstGeom prst="rect">
            <a:avLst/>
          </a:prstGeom>
          <a:noFill/>
          <a:ln/>
        </p:spPr>
        <p:txBody>
          <a:bodyPr wrap="square" rtlCol="0" anchor="ctr"/>
          <a:lstStyle/>
          <a:p>
            <a:pPr indent="0" marL="0">
              <a:buNone/>
            </a:pPr>
            <a:r>
              <a:rPr lang="en-US" sz="1100" dirty="0">
                <a:solidFill>
                  <a:srgbClr val="EEF6FA"/>
                </a:solidFill>
              </a:rPr>
              <a:t>Medium</a:t>
            </a:r>
            <a:endParaRPr lang="en-US" sz="1100" dirty="0"/>
          </a:p>
        </p:txBody>
      </p:sp>
      <p:sp>
        <p:nvSpPr>
          <p:cNvPr id="37" name="Shape 35"/>
          <p:cNvSpPr/>
          <p:nvPr/>
        </p:nvSpPr>
        <p:spPr>
          <a:xfrm>
            <a:off x="7278624" y="6108192"/>
            <a:ext cx="310896" cy="274320"/>
          </a:xfrm>
          <a:prstGeom prst="roundRect">
            <a:avLst>
              <a:gd name="adj" fmla="val 13333"/>
            </a:avLst>
          </a:prstGeom>
          <a:solidFill>
            <a:srgbClr val="FDAE61"/>
          </a:solidFill>
          <a:ln/>
        </p:spPr>
      </p:sp>
      <p:sp>
        <p:nvSpPr>
          <p:cNvPr id="38" name="Text 36"/>
          <p:cNvSpPr/>
          <p:nvPr/>
        </p:nvSpPr>
        <p:spPr>
          <a:xfrm>
            <a:off x="7662672" y="6071616"/>
            <a:ext cx="1828800" cy="347472"/>
          </a:xfrm>
          <a:prstGeom prst="rect">
            <a:avLst/>
          </a:prstGeom>
          <a:noFill/>
          <a:ln/>
        </p:spPr>
        <p:txBody>
          <a:bodyPr wrap="square" rtlCol="0" anchor="ctr"/>
          <a:lstStyle/>
          <a:p>
            <a:pPr indent="0" marL="0">
              <a:buNone/>
            </a:pPr>
            <a:r>
              <a:rPr lang="en-US" sz="1100" dirty="0">
                <a:solidFill>
                  <a:srgbClr val="EEF6FA"/>
                </a:solidFill>
              </a:rPr>
              <a:t>High</a:t>
            </a:r>
            <a:endParaRPr lang="en-US" sz="1100" dirty="0"/>
          </a:p>
        </p:txBody>
      </p:sp>
      <p:sp>
        <p:nvSpPr>
          <p:cNvPr id="39" name="Shape 37"/>
          <p:cNvSpPr/>
          <p:nvPr/>
        </p:nvSpPr>
        <p:spPr>
          <a:xfrm>
            <a:off x="9454896" y="6108192"/>
            <a:ext cx="310896" cy="274320"/>
          </a:xfrm>
          <a:prstGeom prst="roundRect">
            <a:avLst>
              <a:gd name="adj" fmla="val 13333"/>
            </a:avLst>
          </a:prstGeom>
          <a:solidFill>
            <a:srgbClr val="D7191C"/>
          </a:solidFill>
          <a:ln/>
        </p:spPr>
      </p:sp>
      <p:sp>
        <p:nvSpPr>
          <p:cNvPr id="40" name="Text 38"/>
          <p:cNvSpPr/>
          <p:nvPr/>
        </p:nvSpPr>
        <p:spPr>
          <a:xfrm>
            <a:off x="9838944" y="6071616"/>
            <a:ext cx="1828800" cy="347472"/>
          </a:xfrm>
          <a:prstGeom prst="rect">
            <a:avLst/>
          </a:prstGeom>
          <a:noFill/>
          <a:ln/>
        </p:spPr>
        <p:txBody>
          <a:bodyPr wrap="square" rtlCol="0" anchor="ctr"/>
          <a:lstStyle/>
          <a:p>
            <a:pPr indent="0" marL="0">
              <a:buNone/>
            </a:pPr>
            <a:r>
              <a:rPr lang="en-US" sz="1100" dirty="0">
                <a:solidFill>
                  <a:srgbClr val="EEF6FA"/>
                </a:solidFill>
              </a:rPr>
              <a:t>Very High</a:t>
            </a:r>
            <a:endParaRPr lang="en-US" sz="1100" dirty="0"/>
          </a:p>
        </p:txBody>
      </p:sp>
      <p:sp>
        <p:nvSpPr>
          <p:cNvPr id="41" name="Text 39"/>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42" name="Text 40"/>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BEACH · FLOATING · COMPOSITE</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Composite Hazard Index — Map</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hazard_index_map.png">    </p:cNvPr>
          <p:cNvPicPr>
            <a:picLocks noChangeAspect="1"/>
          </p:cNvPicPr>
          <p:nvPr/>
        </p:nvPicPr>
        <p:blipFill>
          <a:blip r:embed="rId1"/>
          <a:stretch>
            <a:fillRect/>
          </a:stretch>
        </p:blipFill>
        <p:spPr>
          <a:xfrm>
            <a:off x="1280160" y="1417320"/>
            <a:ext cx="8961120" cy="4572000"/>
          </a:xfrm>
          <a:prstGeom prst="rect">
            <a:avLst/>
          </a:prstGeom>
        </p:spPr>
      </p:pic>
      <p:sp>
        <p:nvSpPr>
          <p:cNvPr id="13" name="Text 10"/>
          <p:cNvSpPr/>
          <p:nvPr/>
        </p:nvSpPr>
        <p:spPr>
          <a:xfrm>
            <a:off x="502920" y="6144768"/>
            <a:ext cx="11155680" cy="384048"/>
          </a:xfrm>
          <a:prstGeom prst="rect">
            <a:avLst/>
          </a:prstGeom>
          <a:noFill/>
          <a:ln/>
        </p:spPr>
        <p:txBody>
          <a:bodyPr wrap="square" rtlCol="0" anchor="ctr"/>
          <a:lstStyle/>
          <a:p>
            <a:pPr algn="ctr" indent="0" marL="0">
              <a:buNone/>
            </a:pPr>
            <a:r>
              <a:rPr lang="en-US" sz="1150" i="1" dirty="0">
                <a:solidFill>
                  <a:srgbClr val="8BAFC8"/>
                </a:solidFill>
              </a:rPr>
              <a:t>Beach score · Floating score · Composite hazard.   ● beach stations   ▲ offshore stations</a:t>
            </a:r>
            <a:endParaRPr lang="en-US" sz="1150" dirty="0"/>
          </a:p>
        </p:txBody>
      </p:sp>
      <p:sp>
        <p:nvSpPr>
          <p:cNvPr id="14" name="Text 11"/>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5" name="Text 12"/>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Temporal Evolution — Hazard 2018–2023</a:t>
            </a:r>
            <a:endParaRPr lang="en-US" sz="3000" dirty="0"/>
          </a:p>
        </p:txBody>
      </p:sp>
      <p:sp>
        <p:nvSpPr>
          <p:cNvPr id="10" name="Shape 8"/>
          <p:cNvSpPr/>
          <p:nvPr/>
        </p:nvSpPr>
        <p:spPr>
          <a:xfrm>
            <a:off x="512064" y="1143000"/>
            <a:ext cx="1280160" cy="50292"/>
          </a:xfrm>
          <a:prstGeom prst="rect">
            <a:avLst/>
          </a:prstGeom>
          <a:solidFill>
            <a:srgbClr val="4DD9AC"/>
          </a:solidFill>
          <a:ln/>
        </p:spPr>
      </p:sp>
      <p:pic>
        <p:nvPicPr>
          <p:cNvPr id="11" name="Image 0" descr="/Users/danieleuras/Documents/GitHub/hhe-labsardinia/data/figures/hazard_temporal_2x2.png">    </p:cNvPr>
          <p:cNvPicPr>
            <a:picLocks noChangeAspect="1"/>
          </p:cNvPicPr>
          <p:nvPr/>
        </p:nvPicPr>
        <p:blipFill>
          <a:blip r:embed="rId1"/>
          <a:stretch>
            <a:fillRect/>
          </a:stretch>
        </p:blipFill>
        <p:spPr>
          <a:xfrm>
            <a:off x="3913632" y="1467993"/>
            <a:ext cx="4590288" cy="4781550"/>
          </a:xfrm>
          <a:prstGeom prst="rect">
            <a:avLst/>
          </a:prstGeom>
        </p:spPr>
      </p:pic>
      <p:sp>
        <p:nvSpPr>
          <p:cNvPr id="12" name="Text 9"/>
          <p:cNvSpPr/>
          <p:nvPr/>
        </p:nvSpPr>
        <p:spPr>
          <a:xfrm>
            <a:off x="594360" y="1691640"/>
            <a:ext cx="3108960" cy="384048"/>
          </a:xfrm>
          <a:prstGeom prst="rect">
            <a:avLst/>
          </a:prstGeom>
          <a:noFill/>
          <a:ln/>
        </p:spPr>
        <p:txBody>
          <a:bodyPr wrap="square" rtlCol="0" anchor="ctr"/>
          <a:lstStyle/>
          <a:p>
            <a:pPr indent="0" marL="0">
              <a:buNone/>
            </a:pPr>
            <a:r>
              <a:rPr lang="en-US" sz="1400" b="1" dirty="0">
                <a:solidFill>
                  <a:srgbClr val="4DD9AC"/>
                </a:solidFill>
              </a:rPr>
              <a:t>Patterns over time</a:t>
            </a:r>
            <a:endParaRPr lang="en-US" sz="1400" dirty="0"/>
          </a:p>
        </p:txBody>
      </p:sp>
      <p:sp>
        <p:nvSpPr>
          <p:cNvPr id="13" name="Text 10"/>
          <p:cNvSpPr/>
          <p:nvPr/>
        </p:nvSpPr>
        <p:spPr>
          <a:xfrm>
            <a:off x="594360" y="2176272"/>
            <a:ext cx="320040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EEF6FA"/>
                </a:solidFill>
              </a:rPr>
              <a:t>Globally-normalised → colours comparable across years</a:t>
            </a:r>
            <a:endParaRPr lang="en-US" sz="1300" dirty="0"/>
          </a:p>
          <a:p>
            <a:pPr marL="342900" indent="-342900">
              <a:lnSpc>
                <a:spcPct val="120000"/>
              </a:lnSpc>
              <a:spcAft>
                <a:spcPts val="1200"/>
              </a:spcAft>
              <a:buSzPct val="100000"/>
              <a:buChar char="►"/>
            </a:pPr>
            <a:r>
              <a:rPr lang="en-US" sz="1300" dirty="0">
                <a:solidFill>
                  <a:srgbClr val="EEF6FA"/>
                </a:solidFill>
              </a:rPr>
              <a:t>West-coast corridor persists every year</a:t>
            </a:r>
            <a:endParaRPr lang="en-US" sz="1300" dirty="0"/>
          </a:p>
          <a:p>
            <a:pPr marL="342900" indent="-342900">
              <a:lnSpc>
                <a:spcPct val="120000"/>
              </a:lnSpc>
              <a:spcAft>
                <a:spcPts val="1200"/>
              </a:spcAft>
              <a:buSzPct val="100000"/>
              <a:buChar char="►"/>
            </a:pPr>
            <a:r>
              <a:rPr lang="en-US" sz="1300" dirty="0">
                <a:solidFill>
                  <a:srgbClr val="EEF6FA"/>
                </a:solidFill>
              </a:rPr>
              <a:t>Bio compartment lifts 2021–2022 hazard</a:t>
            </a:r>
            <a:endParaRPr lang="en-US" sz="1300" dirty="0"/>
          </a:p>
          <a:p>
            <a:pPr marL="342900" indent="-342900">
              <a:lnSpc>
                <a:spcPct val="120000"/>
              </a:lnSpc>
              <a:spcAft>
                <a:spcPts val="1200"/>
              </a:spcAft>
              <a:buSzPct val="100000"/>
              <a:buChar char="►"/>
            </a:pPr>
            <a:r>
              <a:rPr lang="en-US" sz="1300" dirty="0">
                <a:solidFill>
                  <a:srgbClr val="EEF6FA"/>
                </a:solidFill>
              </a:rPr>
              <a:t>No clear monotonic trend — inter-annual variability dominates</a:t>
            </a:r>
            <a:endParaRPr lang="en-US" sz="1300" dirty="0"/>
          </a:p>
        </p:txBody>
      </p:sp>
      <p:sp>
        <p:nvSpPr>
          <p:cNvPr id="14" name="Text 11"/>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5" name="Text 12"/>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126 COASTAL COMUNI</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Coastal Segment Refinement</a:t>
            </a:r>
            <a:endParaRPr lang="en-US" sz="3000" dirty="0"/>
          </a:p>
        </p:txBody>
      </p:sp>
      <p:sp>
        <p:nvSpPr>
          <p:cNvPr id="11" name="Shape 9"/>
          <p:cNvSpPr/>
          <p:nvPr/>
        </p:nvSpPr>
        <p:spPr>
          <a:xfrm>
            <a:off x="512064" y="1353312"/>
            <a:ext cx="1280160" cy="50292"/>
          </a:xfrm>
          <a:prstGeom prst="rect">
            <a:avLst/>
          </a:prstGeom>
          <a:solidFill>
            <a:srgbClr val="4DD9AC"/>
          </a:solidFill>
          <a:ln/>
        </p:spPr>
      </p:sp>
      <p:pic>
        <p:nvPicPr>
          <p:cNvPr id="12" name="Image 0" descr="/Users/danieleuras/Documents/GitHub/hhe-labsardinia/data/figures/comuni_hazard_map.png">    </p:cNvPr>
          <p:cNvPicPr>
            <a:picLocks noChangeAspect="1"/>
          </p:cNvPicPr>
          <p:nvPr/>
        </p:nvPicPr>
        <p:blipFill>
          <a:blip r:embed="rId1"/>
          <a:stretch>
            <a:fillRect/>
          </a:stretch>
        </p:blipFill>
        <p:spPr>
          <a:xfrm>
            <a:off x="724205" y="1417320"/>
            <a:ext cx="6323990" cy="4754880"/>
          </a:xfrm>
          <a:prstGeom prst="rect">
            <a:avLst/>
          </a:prstGeom>
        </p:spPr>
      </p:pic>
      <p:sp>
        <p:nvSpPr>
          <p:cNvPr id="13" name="Text 10"/>
          <p:cNvSpPr/>
          <p:nvPr/>
        </p:nvSpPr>
        <p:spPr>
          <a:xfrm>
            <a:off x="7662672" y="1691640"/>
            <a:ext cx="4114800" cy="384048"/>
          </a:xfrm>
          <a:prstGeom prst="rect">
            <a:avLst/>
          </a:prstGeom>
          <a:noFill/>
          <a:ln/>
        </p:spPr>
        <p:txBody>
          <a:bodyPr wrap="square" rtlCol="0" anchor="ctr"/>
          <a:lstStyle/>
          <a:p>
            <a:pPr indent="0" marL="0">
              <a:buNone/>
            </a:pPr>
            <a:r>
              <a:rPr lang="en-US" sz="1400" b="1" dirty="0">
                <a:solidFill>
                  <a:srgbClr val="4DD9AC"/>
                </a:solidFill>
              </a:rPr>
              <a:t>From grid to admin units</a:t>
            </a:r>
            <a:endParaRPr lang="en-US" sz="1400" dirty="0"/>
          </a:p>
        </p:txBody>
      </p:sp>
      <p:sp>
        <p:nvSpPr>
          <p:cNvPr id="14" name="Text 11"/>
          <p:cNvSpPr/>
          <p:nvPr/>
        </p:nvSpPr>
        <p:spPr>
          <a:xfrm>
            <a:off x="7662672" y="2176272"/>
            <a:ext cx="411480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EEF6FA"/>
                </a:solidFill>
              </a:rPr>
              <a:t>Grid cells aggregated into 126 coastal municipalities</a:t>
            </a:r>
            <a:endParaRPr lang="en-US" sz="1300" dirty="0"/>
          </a:p>
          <a:p>
            <a:pPr marL="342900" indent="-342900">
              <a:lnSpc>
                <a:spcPct val="120000"/>
              </a:lnSpc>
              <a:spcAft>
                <a:spcPts val="1200"/>
              </a:spcAft>
              <a:buSzPct val="100000"/>
              <a:buChar char="►"/>
            </a:pPr>
            <a:r>
              <a:rPr lang="en-US" sz="1300" dirty="0">
                <a:solidFill>
                  <a:srgbClr val="EEF6FA"/>
                </a:solidFill>
              </a:rPr>
              <a:t>Shapely point-in-polygon + nearest-centroid fallback</a:t>
            </a:r>
            <a:endParaRPr lang="en-US" sz="1300" dirty="0"/>
          </a:p>
          <a:p>
            <a:pPr marL="342900" indent="-342900">
              <a:lnSpc>
                <a:spcPct val="120000"/>
              </a:lnSpc>
              <a:spcAft>
                <a:spcPts val="1200"/>
              </a:spcAft>
              <a:buSzPct val="100000"/>
              <a:buChar char="►"/>
            </a:pPr>
            <a:r>
              <a:rPr lang="en-US" sz="1300" dirty="0">
                <a:solidFill>
                  <a:srgbClr val="EEF6FA"/>
                </a:solidFill>
              </a:rPr>
              <a:t>Translates hazard into actionable management units</a:t>
            </a:r>
            <a:endParaRPr lang="en-US" sz="1300" dirty="0"/>
          </a:p>
          <a:p>
            <a:pPr marL="342900" indent="-342900">
              <a:lnSpc>
                <a:spcPct val="120000"/>
              </a:lnSpc>
              <a:spcAft>
                <a:spcPts val="1200"/>
              </a:spcAft>
              <a:buSzPct val="100000"/>
              <a:buChar char="►"/>
            </a:pPr>
            <a:r>
              <a:rPr lang="en-US" sz="1300" dirty="0">
                <a:solidFill>
                  <a:srgbClr val="EEF6FA"/>
                </a:solidFill>
              </a:rPr>
              <a:t>Supports local policy &amp; clean-up prioritisation</a:t>
            </a:r>
            <a:endParaRPr lang="en-US" sz="1300" dirty="0"/>
          </a:p>
        </p:txBody>
      </p:sp>
      <p:sp>
        <p:nvSpPr>
          <p:cNvPr id="15" name="Text 12"/>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6" name="Text 13"/>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1645920"/>
            <a:ext cx="12188952" cy="36576"/>
          </a:xfrm>
          <a:prstGeom prst="rect">
            <a:avLst/>
          </a:prstGeom>
          <a:solidFill>
            <a:srgbClr val="7ECEE3">
              <a:alpha val="30000"/>
            </a:srgbClr>
          </a:solidFill>
          <a:ln/>
        </p:spPr>
      </p:sp>
      <p:sp>
        <p:nvSpPr>
          <p:cNvPr id="8" name="Shape 6"/>
          <p:cNvSpPr/>
          <p:nvPr/>
        </p:nvSpPr>
        <p:spPr>
          <a:xfrm>
            <a:off x="0" y="2194560"/>
            <a:ext cx="12188952" cy="36576"/>
          </a:xfrm>
          <a:prstGeom prst="rect">
            <a:avLst/>
          </a:prstGeom>
          <a:solidFill>
            <a:srgbClr val="7ECEE3">
              <a:alpha val="24000"/>
            </a:srgbClr>
          </a:solidFill>
          <a:ln/>
        </p:spPr>
      </p:sp>
      <p:sp>
        <p:nvSpPr>
          <p:cNvPr id="9" name="Shape 7"/>
          <p:cNvSpPr/>
          <p:nvPr/>
        </p:nvSpPr>
        <p:spPr>
          <a:xfrm>
            <a:off x="0" y="2743200"/>
            <a:ext cx="12188952" cy="36576"/>
          </a:xfrm>
          <a:prstGeom prst="rect">
            <a:avLst/>
          </a:prstGeom>
          <a:solidFill>
            <a:srgbClr val="7ECEE3">
              <a:alpha val="18000"/>
            </a:srgbClr>
          </a:solidFill>
          <a:ln/>
        </p:spPr>
      </p:sp>
      <p:sp>
        <p:nvSpPr>
          <p:cNvPr id="10" name="Shape 8"/>
          <p:cNvSpPr/>
          <p:nvPr/>
        </p:nvSpPr>
        <p:spPr>
          <a:xfrm>
            <a:off x="0" y="3291840"/>
            <a:ext cx="12188952" cy="36576"/>
          </a:xfrm>
          <a:prstGeom prst="rect">
            <a:avLst/>
          </a:prstGeom>
          <a:solidFill>
            <a:srgbClr val="7ECEE3">
              <a:alpha val="12000"/>
            </a:srgbClr>
          </a:solidFill>
          <a:ln/>
        </p:spPr>
      </p:sp>
      <p:sp>
        <p:nvSpPr>
          <p:cNvPr id="11" name="Text 9"/>
          <p:cNvSpPr/>
          <p:nvPr/>
        </p:nvSpPr>
        <p:spPr>
          <a:xfrm>
            <a:off x="6858000" y="182880"/>
            <a:ext cx="5029200" cy="6217920"/>
          </a:xfrm>
          <a:prstGeom prst="rect">
            <a:avLst/>
          </a:prstGeom>
          <a:noFill/>
          <a:ln/>
        </p:spPr>
        <p:txBody>
          <a:bodyPr wrap="square" rtlCol="0" anchor="ctr"/>
          <a:lstStyle/>
          <a:p>
            <a:pPr algn="r" indent="0" marL="0">
              <a:buNone/>
            </a:pPr>
            <a:r>
              <a:rPr lang="en-US" sz="34000" b="1" dirty="0">
                <a:solidFill>
                  <a:srgbClr val="1A4F72">
                    <a:alpha val="22000"/>
                  </a:srgbClr>
                </a:solidFill>
              </a:rPr>
              <a:t>04</a:t>
            </a:r>
            <a:endParaRPr lang="en-US" sz="34000" dirty="0"/>
          </a:p>
        </p:txBody>
      </p:sp>
      <p:sp>
        <p:nvSpPr>
          <p:cNvPr id="12" name="Text 10"/>
          <p:cNvSpPr/>
          <p:nvPr/>
        </p:nvSpPr>
        <p:spPr>
          <a:xfrm>
            <a:off x="822960" y="2194560"/>
            <a:ext cx="7315200" cy="411480"/>
          </a:xfrm>
          <a:prstGeom prst="rect">
            <a:avLst/>
          </a:prstGeom>
          <a:noFill/>
          <a:ln/>
        </p:spPr>
        <p:txBody>
          <a:bodyPr wrap="square" rtlCol="0" anchor="ctr"/>
          <a:lstStyle/>
          <a:p>
            <a:pPr indent="0" marL="0">
              <a:buNone/>
            </a:pPr>
            <a:r>
              <a:rPr lang="en-US" sz="1300" b="1" spc="400" kern="0" dirty="0">
                <a:solidFill>
                  <a:srgbClr val="4DD9AC"/>
                </a:solidFill>
              </a:rPr>
              <a:t>SECTION 04</a:t>
            </a:r>
            <a:endParaRPr lang="en-US" sz="1300" dirty="0"/>
          </a:p>
        </p:txBody>
      </p:sp>
      <p:sp>
        <p:nvSpPr>
          <p:cNvPr id="13" name="Text 11"/>
          <p:cNvSpPr/>
          <p:nvPr/>
        </p:nvSpPr>
        <p:spPr>
          <a:xfrm>
            <a:off x="777240" y="2651760"/>
            <a:ext cx="9144000" cy="1005840"/>
          </a:xfrm>
          <a:prstGeom prst="rect">
            <a:avLst/>
          </a:prstGeom>
          <a:noFill/>
          <a:ln/>
        </p:spPr>
        <p:txBody>
          <a:bodyPr wrap="square" rtlCol="0" anchor="ctr"/>
          <a:lstStyle/>
          <a:p>
            <a:pPr indent="0" marL="0">
              <a:buNone/>
            </a:pPr>
            <a:r>
              <a:rPr lang="en-US" sz="4600" b="1" dirty="0">
                <a:solidFill>
                  <a:srgbClr val="EEF6FA"/>
                </a:solidFill>
              </a:rPr>
              <a:t>Spatial Autocorrelation</a:t>
            </a:r>
            <a:endParaRPr lang="en-US" sz="4600" dirty="0"/>
          </a:p>
        </p:txBody>
      </p:sp>
      <p:sp>
        <p:nvSpPr>
          <p:cNvPr id="14" name="Shape 12"/>
          <p:cNvSpPr/>
          <p:nvPr/>
        </p:nvSpPr>
        <p:spPr>
          <a:xfrm>
            <a:off x="841248" y="3749040"/>
            <a:ext cx="2743200" cy="64008"/>
          </a:xfrm>
          <a:prstGeom prst="rect">
            <a:avLst/>
          </a:prstGeom>
          <a:solidFill>
            <a:srgbClr val="4DD9AC"/>
          </a:solidFill>
          <a:ln/>
        </p:spPr>
      </p:sp>
      <p:sp>
        <p:nvSpPr>
          <p:cNvPr id="15" name="Shape 13"/>
          <p:cNvSpPr/>
          <p:nvPr/>
        </p:nvSpPr>
        <p:spPr>
          <a:xfrm>
            <a:off x="3584448" y="3749040"/>
            <a:ext cx="1371600" cy="64008"/>
          </a:xfrm>
          <a:prstGeom prst="rect">
            <a:avLst/>
          </a:prstGeom>
          <a:solidFill>
            <a:srgbClr val="7ECEE3">
              <a:alpha val="70000"/>
            </a:srgbClr>
          </a:solidFill>
          <a:ln/>
        </p:spPr>
      </p:sp>
      <p:sp>
        <p:nvSpPr>
          <p:cNvPr id="16" name="Text 14"/>
          <p:cNvSpPr/>
          <p:nvPr/>
        </p:nvSpPr>
        <p:spPr>
          <a:xfrm>
            <a:off x="804672" y="3931920"/>
            <a:ext cx="10058400" cy="548640"/>
          </a:xfrm>
          <a:prstGeom prst="rect">
            <a:avLst/>
          </a:prstGeom>
          <a:noFill/>
          <a:ln/>
        </p:spPr>
        <p:txBody>
          <a:bodyPr wrap="square" rtlCol="0" anchor="ctr"/>
          <a:lstStyle/>
          <a:p>
            <a:pPr indent="0" marL="0">
              <a:buNone/>
            </a:pPr>
            <a:r>
              <a:rPr lang="en-US" sz="1600" dirty="0">
                <a:solidFill>
                  <a:srgbClr val="8BAFC8"/>
                </a:solidFill>
              </a:rPr>
              <a:t>moran's I · LISA · getis-ord GI*</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502920" y="347472"/>
            <a:ext cx="10972800" cy="274320"/>
          </a:xfrm>
          <a:prstGeom prst="rect">
            <a:avLst/>
          </a:prstGeom>
          <a:noFill/>
          <a:ln/>
        </p:spPr>
        <p:txBody>
          <a:bodyPr wrap="square" rtlCol="0" anchor="ctr"/>
          <a:lstStyle/>
          <a:p>
            <a:pPr indent="0" marL="0">
              <a:buNone/>
            </a:pPr>
            <a:r>
              <a:rPr lang="en-US" sz="1000" b="1" spc="300" kern="0" dirty="0">
                <a:solidFill>
                  <a:srgbClr val="4DD9AC"/>
                </a:solidFill>
              </a:rPr>
              <a:t>LEC12 GEOSPATIAL MODELS</a:t>
            </a:r>
            <a:endParaRPr lang="en-US" sz="1000" dirty="0"/>
          </a:p>
        </p:txBody>
      </p:sp>
      <p:sp>
        <p:nvSpPr>
          <p:cNvPr id="10" name="Text 8"/>
          <p:cNvSpPr/>
          <p:nvPr/>
        </p:nvSpPr>
        <p:spPr>
          <a:xfrm>
            <a:off x="475488" y="621792"/>
            <a:ext cx="11155680" cy="731520"/>
          </a:xfrm>
          <a:prstGeom prst="rect">
            <a:avLst/>
          </a:prstGeom>
          <a:noFill/>
          <a:ln/>
        </p:spPr>
        <p:txBody>
          <a:bodyPr wrap="square" rtlCol="0" anchor="ctr"/>
          <a:lstStyle/>
          <a:p>
            <a:pPr indent="0" marL="0">
              <a:buNone/>
            </a:pPr>
            <a:r>
              <a:rPr lang="en-US" sz="3000" b="1" dirty="0">
                <a:solidFill>
                  <a:srgbClr val="EEF6FA"/>
                </a:solidFill>
              </a:rPr>
              <a:t>Spatial Statistics — Why &amp; How</a:t>
            </a:r>
            <a:endParaRPr lang="en-US" sz="3000" dirty="0"/>
          </a:p>
        </p:txBody>
      </p:sp>
      <p:sp>
        <p:nvSpPr>
          <p:cNvPr id="11" name="Shape 9"/>
          <p:cNvSpPr/>
          <p:nvPr/>
        </p:nvSpPr>
        <p:spPr>
          <a:xfrm>
            <a:off x="512064" y="1353312"/>
            <a:ext cx="1280160" cy="50292"/>
          </a:xfrm>
          <a:prstGeom prst="rect">
            <a:avLst/>
          </a:prstGeom>
          <a:solidFill>
            <a:srgbClr val="4DD9AC"/>
          </a:solidFill>
          <a:ln/>
        </p:spPr>
      </p:sp>
      <p:sp>
        <p:nvSpPr>
          <p:cNvPr id="12" name="Shape 10"/>
          <p:cNvSpPr/>
          <p:nvPr/>
        </p:nvSpPr>
        <p:spPr>
          <a:xfrm>
            <a:off x="640080" y="1645920"/>
            <a:ext cx="3584448" cy="3950208"/>
          </a:xfrm>
          <a:prstGeom prst="roundRect">
            <a:avLst>
              <a:gd name="adj" fmla="val 1786"/>
            </a:avLst>
          </a:prstGeom>
          <a:solidFill>
            <a:srgbClr val="0F2C47">
              <a:alpha val="85000"/>
            </a:srgbClr>
          </a:solidFill>
          <a:ln w="12700">
            <a:solidFill>
              <a:srgbClr val="1E4060"/>
            </a:solidFill>
            <a:prstDash val="solid"/>
          </a:ln>
        </p:spPr>
      </p:sp>
      <p:sp>
        <p:nvSpPr>
          <p:cNvPr id="13" name="Shape 11"/>
          <p:cNvSpPr/>
          <p:nvPr/>
        </p:nvSpPr>
        <p:spPr>
          <a:xfrm>
            <a:off x="640080" y="1645920"/>
            <a:ext cx="3584448" cy="640080"/>
          </a:xfrm>
          <a:prstGeom prst="rect">
            <a:avLst/>
          </a:prstGeom>
          <a:solidFill>
            <a:srgbClr val="1A4F72"/>
          </a:solidFill>
          <a:ln/>
        </p:spPr>
      </p:sp>
      <p:sp>
        <p:nvSpPr>
          <p:cNvPr id="14" name="Shape 12"/>
          <p:cNvSpPr/>
          <p:nvPr/>
        </p:nvSpPr>
        <p:spPr>
          <a:xfrm>
            <a:off x="640080" y="1645920"/>
            <a:ext cx="3584448" cy="64008"/>
          </a:xfrm>
          <a:prstGeom prst="rect">
            <a:avLst/>
          </a:prstGeom>
          <a:solidFill>
            <a:srgbClr val="4DD9AC"/>
          </a:solidFill>
          <a:ln/>
        </p:spPr>
      </p:sp>
      <p:sp>
        <p:nvSpPr>
          <p:cNvPr id="15" name="Text 13"/>
          <p:cNvSpPr/>
          <p:nvPr/>
        </p:nvSpPr>
        <p:spPr>
          <a:xfrm>
            <a:off x="804672" y="1664208"/>
            <a:ext cx="3310128" cy="640080"/>
          </a:xfrm>
          <a:prstGeom prst="rect">
            <a:avLst/>
          </a:prstGeom>
          <a:noFill/>
          <a:ln/>
        </p:spPr>
        <p:txBody>
          <a:bodyPr wrap="square" rtlCol="0" anchor="ctr"/>
          <a:lstStyle/>
          <a:p>
            <a:pPr indent="0" marL="0">
              <a:buNone/>
            </a:pPr>
            <a:r>
              <a:rPr lang="en-US" sz="1600" b="1" dirty="0">
                <a:solidFill>
                  <a:srgbClr val="4DD9AC"/>
                </a:solidFill>
              </a:rPr>
              <a:t>Global Moran's I</a:t>
            </a:r>
            <a:endParaRPr lang="en-US" sz="1600" dirty="0"/>
          </a:p>
        </p:txBody>
      </p:sp>
      <p:sp>
        <p:nvSpPr>
          <p:cNvPr id="16" name="Text 14"/>
          <p:cNvSpPr/>
          <p:nvPr/>
        </p:nvSpPr>
        <p:spPr>
          <a:xfrm>
            <a:off x="896112" y="2450592"/>
            <a:ext cx="3127248" cy="2971800"/>
          </a:xfrm>
          <a:prstGeom prst="rect">
            <a:avLst/>
          </a:prstGeom>
          <a:noFill/>
          <a:ln/>
        </p:spPr>
        <p:txBody>
          <a:bodyPr wrap="square" rtlCol="0" anchor="t"/>
          <a:lstStyle/>
          <a:p>
            <a:pPr indent="0" marL="0">
              <a:lnSpc>
                <a:spcPct val="120000"/>
              </a:lnSpc>
              <a:buNone/>
            </a:pPr>
            <a:r>
              <a:rPr lang="en-US" sz="1350" dirty="0">
                <a:solidFill>
                  <a:srgbClr val="EEF6FA"/>
                </a:solidFill>
              </a:rPr>
              <a:t>One scalar per year. Tests whether high-hazard cells cluster in space vs. random. Queen contiguity, row-standardised W, 999-permutation p-value.</a:t>
            </a:r>
            <a:endParaRPr lang="en-US" sz="1350" dirty="0"/>
          </a:p>
        </p:txBody>
      </p:sp>
      <p:sp>
        <p:nvSpPr>
          <p:cNvPr id="17" name="Shape 15"/>
          <p:cNvSpPr/>
          <p:nvPr/>
        </p:nvSpPr>
        <p:spPr>
          <a:xfrm>
            <a:off x="4462272" y="1645920"/>
            <a:ext cx="3584448" cy="3950208"/>
          </a:xfrm>
          <a:prstGeom prst="roundRect">
            <a:avLst>
              <a:gd name="adj" fmla="val 1786"/>
            </a:avLst>
          </a:prstGeom>
          <a:solidFill>
            <a:srgbClr val="0F2C47">
              <a:alpha val="85000"/>
            </a:srgbClr>
          </a:solidFill>
          <a:ln w="12700">
            <a:solidFill>
              <a:srgbClr val="1E4060"/>
            </a:solidFill>
            <a:prstDash val="solid"/>
          </a:ln>
        </p:spPr>
      </p:sp>
      <p:sp>
        <p:nvSpPr>
          <p:cNvPr id="18" name="Shape 16"/>
          <p:cNvSpPr/>
          <p:nvPr/>
        </p:nvSpPr>
        <p:spPr>
          <a:xfrm>
            <a:off x="4462272" y="1645920"/>
            <a:ext cx="3584448" cy="640080"/>
          </a:xfrm>
          <a:prstGeom prst="rect">
            <a:avLst/>
          </a:prstGeom>
          <a:solidFill>
            <a:srgbClr val="1A4F72"/>
          </a:solidFill>
          <a:ln/>
        </p:spPr>
      </p:sp>
      <p:sp>
        <p:nvSpPr>
          <p:cNvPr id="19" name="Shape 17"/>
          <p:cNvSpPr/>
          <p:nvPr/>
        </p:nvSpPr>
        <p:spPr>
          <a:xfrm>
            <a:off x="4462272" y="1645920"/>
            <a:ext cx="3584448" cy="64008"/>
          </a:xfrm>
          <a:prstGeom prst="rect">
            <a:avLst/>
          </a:prstGeom>
          <a:solidFill>
            <a:srgbClr val="7ECEE3"/>
          </a:solidFill>
          <a:ln/>
        </p:spPr>
      </p:sp>
      <p:sp>
        <p:nvSpPr>
          <p:cNvPr id="20" name="Text 18"/>
          <p:cNvSpPr/>
          <p:nvPr/>
        </p:nvSpPr>
        <p:spPr>
          <a:xfrm>
            <a:off x="4626864" y="1664208"/>
            <a:ext cx="3310128" cy="640080"/>
          </a:xfrm>
          <a:prstGeom prst="rect">
            <a:avLst/>
          </a:prstGeom>
          <a:noFill/>
          <a:ln/>
        </p:spPr>
        <p:txBody>
          <a:bodyPr wrap="square" rtlCol="0" anchor="ctr"/>
          <a:lstStyle/>
          <a:p>
            <a:pPr indent="0" marL="0">
              <a:buNone/>
            </a:pPr>
            <a:r>
              <a:rPr lang="en-US" sz="1600" b="1" dirty="0">
                <a:solidFill>
                  <a:srgbClr val="7ECEE3"/>
                </a:solidFill>
              </a:rPr>
              <a:t>Local Moran's I (LISA)</a:t>
            </a:r>
            <a:endParaRPr lang="en-US" sz="1600" dirty="0"/>
          </a:p>
        </p:txBody>
      </p:sp>
      <p:sp>
        <p:nvSpPr>
          <p:cNvPr id="21" name="Text 19"/>
          <p:cNvSpPr/>
          <p:nvPr/>
        </p:nvSpPr>
        <p:spPr>
          <a:xfrm>
            <a:off x="4718304" y="2450592"/>
            <a:ext cx="3127248" cy="2971800"/>
          </a:xfrm>
          <a:prstGeom prst="rect">
            <a:avLst/>
          </a:prstGeom>
          <a:noFill/>
          <a:ln/>
        </p:spPr>
        <p:txBody>
          <a:bodyPr wrap="square" rtlCol="0" anchor="t"/>
          <a:lstStyle/>
          <a:p>
            <a:pPr indent="0" marL="0">
              <a:lnSpc>
                <a:spcPct val="120000"/>
              </a:lnSpc>
              <a:buNone/>
            </a:pPr>
            <a:r>
              <a:rPr lang="en-US" sz="1350" dirty="0">
                <a:solidFill>
                  <a:srgbClr val="EEF6FA"/>
                </a:solidFill>
              </a:rPr>
              <a:t>Per-cell statistic → HH / LL / HL / LH. Locates exactly where clustering occurs and flags spatial outliers.</a:t>
            </a:r>
            <a:endParaRPr lang="en-US" sz="1350" dirty="0"/>
          </a:p>
        </p:txBody>
      </p:sp>
      <p:sp>
        <p:nvSpPr>
          <p:cNvPr id="22" name="Shape 20"/>
          <p:cNvSpPr/>
          <p:nvPr/>
        </p:nvSpPr>
        <p:spPr>
          <a:xfrm>
            <a:off x="8284464" y="1645920"/>
            <a:ext cx="3584448" cy="3950208"/>
          </a:xfrm>
          <a:prstGeom prst="roundRect">
            <a:avLst>
              <a:gd name="adj" fmla="val 1786"/>
            </a:avLst>
          </a:prstGeom>
          <a:solidFill>
            <a:srgbClr val="0F2C47">
              <a:alpha val="85000"/>
            </a:srgbClr>
          </a:solidFill>
          <a:ln w="12700">
            <a:solidFill>
              <a:srgbClr val="1E4060"/>
            </a:solidFill>
            <a:prstDash val="solid"/>
          </a:ln>
        </p:spPr>
      </p:sp>
      <p:sp>
        <p:nvSpPr>
          <p:cNvPr id="23" name="Shape 21"/>
          <p:cNvSpPr/>
          <p:nvPr/>
        </p:nvSpPr>
        <p:spPr>
          <a:xfrm>
            <a:off x="8284464" y="1645920"/>
            <a:ext cx="3584448" cy="640080"/>
          </a:xfrm>
          <a:prstGeom prst="rect">
            <a:avLst/>
          </a:prstGeom>
          <a:solidFill>
            <a:srgbClr val="1A4F72"/>
          </a:solidFill>
          <a:ln/>
        </p:spPr>
      </p:sp>
      <p:sp>
        <p:nvSpPr>
          <p:cNvPr id="24" name="Shape 22"/>
          <p:cNvSpPr/>
          <p:nvPr/>
        </p:nvSpPr>
        <p:spPr>
          <a:xfrm>
            <a:off x="8284464" y="1645920"/>
            <a:ext cx="3584448" cy="64008"/>
          </a:xfrm>
          <a:prstGeom prst="rect">
            <a:avLst/>
          </a:prstGeom>
          <a:solidFill>
            <a:srgbClr val="E8654A"/>
          </a:solidFill>
          <a:ln/>
        </p:spPr>
      </p:sp>
      <p:sp>
        <p:nvSpPr>
          <p:cNvPr id="25" name="Text 23"/>
          <p:cNvSpPr/>
          <p:nvPr/>
        </p:nvSpPr>
        <p:spPr>
          <a:xfrm>
            <a:off x="8449056" y="1664208"/>
            <a:ext cx="3310128" cy="640080"/>
          </a:xfrm>
          <a:prstGeom prst="rect">
            <a:avLst/>
          </a:prstGeom>
          <a:noFill/>
          <a:ln/>
        </p:spPr>
        <p:txBody>
          <a:bodyPr wrap="square" rtlCol="0" anchor="ctr"/>
          <a:lstStyle/>
          <a:p>
            <a:pPr indent="0" marL="0">
              <a:buNone/>
            </a:pPr>
            <a:r>
              <a:rPr lang="en-US" sz="1600" b="1" dirty="0">
                <a:solidFill>
                  <a:srgbClr val="E8654A"/>
                </a:solidFill>
              </a:rPr>
              <a:t>Getis-Ord GI*</a:t>
            </a:r>
            <a:endParaRPr lang="en-US" sz="1600" dirty="0"/>
          </a:p>
        </p:txBody>
      </p:sp>
      <p:sp>
        <p:nvSpPr>
          <p:cNvPr id="26" name="Text 24"/>
          <p:cNvSpPr/>
          <p:nvPr/>
        </p:nvSpPr>
        <p:spPr>
          <a:xfrm>
            <a:off x="8540496" y="2450592"/>
            <a:ext cx="3127248" cy="2971800"/>
          </a:xfrm>
          <a:prstGeom prst="rect">
            <a:avLst/>
          </a:prstGeom>
          <a:noFill/>
          <a:ln/>
        </p:spPr>
        <p:txBody>
          <a:bodyPr wrap="square" rtlCol="0" anchor="t"/>
          <a:lstStyle/>
          <a:p>
            <a:pPr indent="0" marL="0">
              <a:lnSpc>
                <a:spcPct val="120000"/>
              </a:lnSpc>
              <a:buNone/>
            </a:pPr>
            <a:r>
              <a:rPr lang="en-US" sz="1350" dirty="0">
                <a:solidFill>
                  <a:srgbClr val="EEF6FA"/>
                </a:solidFill>
              </a:rPr>
              <a:t>Per-cell z-score of local concentration. Grades hotspot / coldspot intensity in standard-deviation units.</a:t>
            </a:r>
            <a:endParaRPr lang="en-US" sz="1350" dirty="0"/>
          </a:p>
        </p:txBody>
      </p:sp>
      <p:sp>
        <p:nvSpPr>
          <p:cNvPr id="27" name="Text 25"/>
          <p:cNvSpPr/>
          <p:nvPr/>
        </p:nvSpPr>
        <p:spPr>
          <a:xfrm>
            <a:off x="640080" y="5806440"/>
            <a:ext cx="10972800" cy="384048"/>
          </a:xfrm>
          <a:prstGeom prst="rect">
            <a:avLst/>
          </a:prstGeom>
          <a:noFill/>
          <a:ln/>
        </p:spPr>
        <p:txBody>
          <a:bodyPr wrap="square" rtlCol="0" anchor="ctr"/>
          <a:lstStyle/>
          <a:p>
            <a:pPr indent="0" marL="0">
              <a:buNone/>
            </a:pPr>
            <a:r>
              <a:rPr lang="en-US" sz="1100" i="1" dirty="0">
                <a:solidFill>
                  <a:srgbClr val="8BAFC8"/>
                </a:solidFill>
              </a:rPr>
              <a:t>Built from scratch in NumPy (no PySAL dependency) — scripts/analysis_10_spatial_models.py</a:t>
            </a:r>
            <a:endParaRPr lang="en-US" sz="1100" dirty="0"/>
          </a:p>
        </p:txBody>
      </p:sp>
      <p:sp>
        <p:nvSpPr>
          <p:cNvPr id="28" name="Text 26"/>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29" name="Text 27"/>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Global Moran's I — Significant Clustering</a:t>
            </a:r>
            <a:endParaRPr lang="en-US" sz="3000" dirty="0"/>
          </a:p>
        </p:txBody>
      </p:sp>
      <p:sp>
        <p:nvSpPr>
          <p:cNvPr id="10" name="Shape 8"/>
          <p:cNvSpPr/>
          <p:nvPr/>
        </p:nvSpPr>
        <p:spPr>
          <a:xfrm>
            <a:off x="512064" y="1143000"/>
            <a:ext cx="1280160" cy="50292"/>
          </a:xfrm>
          <a:prstGeom prst="rect">
            <a:avLst/>
          </a:prstGeom>
          <a:solidFill>
            <a:srgbClr val="4DD9AC"/>
          </a:solidFill>
          <a:ln/>
        </p:spPr>
      </p:sp>
      <p:pic>
        <p:nvPicPr>
          <p:cNvPr id="11" name="Image 0" descr="/Users/danieleuras/Documents/GitHub/hhe-labsardinia/data/figures/moran_scatter.png">    </p:cNvPr>
          <p:cNvPicPr>
            <a:picLocks noChangeAspect="1"/>
          </p:cNvPicPr>
          <p:nvPr/>
        </p:nvPicPr>
        <p:blipFill>
          <a:blip r:embed="rId1"/>
          <a:stretch>
            <a:fillRect/>
          </a:stretch>
        </p:blipFill>
        <p:spPr>
          <a:xfrm>
            <a:off x="502920" y="2092863"/>
            <a:ext cx="6675120" cy="353181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06640" y="1664208"/>
          <a:ext cx="4315968" cy="914400"/>
        </p:xfrm>
        <a:graphic>
          <a:graphicData uri="http://schemas.openxmlformats.org/drawingml/2006/table">
            <a:tbl>
              <a:tblPr/>
              <a:tblGrid>
                <a:gridCol w="1097280"/>
                <a:gridCol w="1572768"/>
                <a:gridCol w="822960"/>
                <a:gridCol w="822960"/>
              </a:tblGrid>
              <a:tr h="384048">
                <a:tc>
                  <a:txBody>
                    <a:bodyPr/>
                    <a:lstStyle/>
                    <a:p>
                      <a:pPr algn="ctr" indent="0" marL="0">
                        <a:buNone/>
                      </a:pPr>
                      <a:r>
                        <a:rPr lang="en-US" sz="1300" b="1" dirty="0">
                          <a:solidFill>
                            <a:srgbClr val="4DD9AC"/>
                          </a:solidFill>
                        </a:rPr>
                        <a:t>Year</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ctr" indent="0" marL="0">
                        <a:buNone/>
                      </a:pPr>
                      <a:r>
                        <a:rPr lang="en-US" sz="1300" b="1" dirty="0">
                          <a:solidFill>
                            <a:srgbClr val="4DD9AC"/>
                          </a:solidFill>
                        </a:rPr>
                        <a:t>Moran's I</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ctr" indent="0" marL="0">
                        <a:buNone/>
                      </a:pPr>
                      <a:r>
                        <a:rPr lang="en-US" sz="1300" b="1" dirty="0">
                          <a:solidFill>
                            <a:srgbClr val="4DD9AC"/>
                          </a:solidFill>
                        </a:rPr>
                        <a:t>z</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c>
                  <a:txBody>
                    <a:bodyPr/>
                    <a:lstStyle/>
                    <a:p>
                      <a:pPr algn="ctr" indent="0" marL="0">
                        <a:buNone/>
                      </a:pPr>
                      <a:r>
                        <a:rPr lang="en-US" sz="1300" b="1" dirty="0">
                          <a:solidFill>
                            <a:srgbClr val="4DD9AC"/>
                          </a:solidFill>
                        </a:rPr>
                        <a:t>p</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123456"/>
                    </a:solidFill>
                  </a:tcPr>
                </a:tc>
              </a:tr>
              <a:tr h="384048">
                <a:tc>
                  <a:txBody>
                    <a:bodyPr/>
                    <a:lstStyle/>
                    <a:p>
                      <a:pPr algn="ctr" indent="0" marL="0">
                        <a:buNone/>
                      </a:pPr>
                      <a:r>
                        <a:rPr lang="en-US" sz="1300" dirty="0">
                          <a:solidFill>
                            <a:srgbClr val="EEF6FA"/>
                          </a:solidFill>
                        </a:rPr>
                        <a:t>2018</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0.965</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31.4</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0.000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384048">
                <a:tc>
                  <a:txBody>
                    <a:bodyPr/>
                    <a:lstStyle/>
                    <a:p>
                      <a:pPr algn="ctr" indent="0" marL="0">
                        <a:buNone/>
                      </a:pPr>
                      <a:r>
                        <a:rPr lang="en-US" sz="1300" dirty="0">
                          <a:solidFill>
                            <a:srgbClr val="EEF6FA"/>
                          </a:solidFill>
                        </a:rPr>
                        <a:t>2019</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0.936</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31.1</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0.000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384048">
                <a:tc>
                  <a:txBody>
                    <a:bodyPr/>
                    <a:lstStyle/>
                    <a:p>
                      <a:pPr algn="ctr" indent="0" marL="0">
                        <a:buNone/>
                      </a:pPr>
                      <a:r>
                        <a:rPr lang="en-US" sz="1300" dirty="0">
                          <a:solidFill>
                            <a:srgbClr val="EEF6FA"/>
                          </a:solidFill>
                        </a:rPr>
                        <a:t>2020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0.948</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32.0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0.000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384048">
                <a:tc>
                  <a:txBody>
                    <a:bodyPr/>
                    <a:lstStyle/>
                    <a:p>
                      <a:pPr algn="ctr" indent="0" marL="0">
                        <a:buNone/>
                      </a:pPr>
                      <a:r>
                        <a:rPr lang="en-US" sz="1300" dirty="0">
                          <a:solidFill>
                            <a:srgbClr val="EEF6FA"/>
                          </a:solidFill>
                        </a:rPr>
                        <a:t>2021</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0.943</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30.0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0.000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384048">
                <a:tc>
                  <a:txBody>
                    <a:bodyPr/>
                    <a:lstStyle/>
                    <a:p>
                      <a:pPr algn="ctr" indent="0" marL="0">
                        <a:buNone/>
                      </a:pPr>
                      <a:r>
                        <a:rPr lang="en-US" sz="1300" dirty="0">
                          <a:solidFill>
                            <a:srgbClr val="EEF6FA"/>
                          </a:solidFill>
                        </a:rPr>
                        <a:t>2022</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0.951</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30.4</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0.000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r h="384048">
                <a:tc>
                  <a:txBody>
                    <a:bodyPr/>
                    <a:lstStyle/>
                    <a:p>
                      <a:pPr algn="ctr" indent="0" marL="0">
                        <a:buNone/>
                      </a:pPr>
                      <a:r>
                        <a:rPr lang="en-US" sz="1300" dirty="0">
                          <a:solidFill>
                            <a:srgbClr val="EEF6FA"/>
                          </a:solidFill>
                        </a:rPr>
                        <a:t>2023</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0.948</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30.4</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c>
                  <a:txBody>
                    <a:bodyPr/>
                    <a:lstStyle/>
                    <a:p>
                      <a:pPr algn="ctr" indent="0" marL="0">
                        <a:buNone/>
                      </a:pPr>
                      <a:r>
                        <a:rPr lang="en-US" sz="1300" dirty="0">
                          <a:solidFill>
                            <a:srgbClr val="EEF6FA"/>
                          </a:solidFill>
                        </a:rPr>
                        <a:t>0.000</a:t>
                      </a:r>
                      <a:endParaRPr lang="en-US" sz="1300" dirty="0"/>
                    </a:p>
                  </a:txBody>
                  <a:tcPr marL="91440" marR="91440" marT="45720" marB="45720" anchor="ctr">
                    <a:lnL w="12700" cap="flat" cmpd="sng" algn="ctr">
                      <a:solidFill>
                        <a:srgbClr val="1E4060"/>
                      </a:solidFill>
                      <a:prstDash val="solid"/>
                      <a:round/>
                      <a:headEnd type="none" w="med" len="med"/>
                      <a:tailEnd type="none" w="med" len="med"/>
                    </a:lnL>
                    <a:lnR w="12700" cap="flat" cmpd="sng" algn="ctr">
                      <a:solidFill>
                        <a:srgbClr val="1E4060"/>
                      </a:solidFill>
                      <a:prstDash val="solid"/>
                      <a:round/>
                      <a:headEnd type="none" w="med" len="med"/>
                      <a:tailEnd type="none" w="med" len="med"/>
                    </a:lnR>
                    <a:lnT w="12700" cap="flat" cmpd="sng" algn="ctr">
                      <a:solidFill>
                        <a:srgbClr val="1E4060"/>
                      </a:solidFill>
                      <a:prstDash val="solid"/>
                      <a:round/>
                      <a:headEnd type="none" w="med" len="med"/>
                      <a:tailEnd type="none" w="med" len="med"/>
                    </a:lnT>
                    <a:lnB w="12700" cap="flat" cmpd="sng" algn="ctr">
                      <a:solidFill>
                        <a:srgbClr val="1E4060"/>
                      </a:solidFill>
                      <a:prstDash val="solid"/>
                      <a:round/>
                      <a:headEnd type="none" w="med" len="med"/>
                      <a:tailEnd type="none" w="med" len="med"/>
                    </a:lnB>
                    <a:solidFill>
                      <a:srgbClr val="0F2C47"/>
                    </a:solidFill>
                  </a:tcPr>
                </a:tc>
              </a:tr>
            </a:tbl>
          </a:graphicData>
        </a:graphic>
      </p:graphicFrame>
      <p:sp>
        <p:nvSpPr>
          <p:cNvPr id="13" name="Text 9"/>
          <p:cNvSpPr/>
          <p:nvPr/>
        </p:nvSpPr>
        <p:spPr>
          <a:xfrm>
            <a:off x="7406640" y="4645152"/>
            <a:ext cx="4315968" cy="1444752"/>
          </a:xfrm>
          <a:prstGeom prst="rect">
            <a:avLst/>
          </a:prstGeom>
          <a:noFill/>
          <a:ln/>
        </p:spPr>
        <p:txBody>
          <a:bodyPr wrap="square" rtlCol="0" anchor="t"/>
          <a:lstStyle/>
          <a:p>
            <a:pPr indent="0" marL="0">
              <a:lnSpc>
                <a:spcPct val="115000"/>
              </a:lnSpc>
              <a:buNone/>
            </a:pPr>
            <a:r>
              <a:rPr lang="en-US" sz="1350" b="1" dirty="0">
                <a:solidFill>
                  <a:srgbClr val="4DD9AC"/>
                </a:solidFill>
              </a:rPr>
              <a:t>I ≈ 0.95 every year, p = 0.000.
</a:t>
            </a:r>
            <a:pPr indent="0" marL="0">
              <a:lnSpc>
                <a:spcPct val="115000"/>
              </a:lnSpc>
              <a:buNone/>
            </a:pPr>
            <a:r>
              <a:rPr lang="en-US" sz="1350" dirty="0">
                <a:solidFill>
                  <a:srgbClr val="EEF6FA"/>
                </a:solidFill>
              </a:rPr>
              <a:t>Hazard is strongly and significantly clustered in space — not random noise. The pattern is stable across all six years.</a:t>
            </a:r>
            <a:endParaRPr lang="en-US" sz="1350" dirty="0"/>
          </a:p>
        </p:txBody>
      </p:sp>
      <p:sp>
        <p:nvSpPr>
          <p:cNvPr id="14" name="Text 10"/>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5" name="Text 11"/>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LISA Cluster Map — Local Moran's I</a:t>
            </a:r>
            <a:endParaRPr lang="en-US" sz="3000" dirty="0"/>
          </a:p>
        </p:txBody>
      </p:sp>
      <p:sp>
        <p:nvSpPr>
          <p:cNvPr id="10" name="Shape 8"/>
          <p:cNvSpPr/>
          <p:nvPr/>
        </p:nvSpPr>
        <p:spPr>
          <a:xfrm>
            <a:off x="512064" y="1143000"/>
            <a:ext cx="1280160" cy="50292"/>
          </a:xfrm>
          <a:prstGeom prst="rect">
            <a:avLst/>
          </a:prstGeom>
          <a:solidFill>
            <a:srgbClr val="4DD9AC"/>
          </a:solidFill>
          <a:ln/>
        </p:spPr>
      </p:sp>
      <p:pic>
        <p:nvPicPr>
          <p:cNvPr id="11" name="Image 0" descr="/Users/danieleuras/Documents/GitHub/hhe-labsardinia/data/figures/lisa_cluster_map.png">    </p:cNvPr>
          <p:cNvPicPr>
            <a:picLocks noChangeAspect="1"/>
          </p:cNvPicPr>
          <p:nvPr/>
        </p:nvPicPr>
        <p:blipFill>
          <a:blip r:embed="rId1"/>
          <a:stretch>
            <a:fillRect/>
          </a:stretch>
        </p:blipFill>
        <p:spPr>
          <a:xfrm>
            <a:off x="475488" y="1826768"/>
            <a:ext cx="7315200" cy="4064000"/>
          </a:xfrm>
          <a:prstGeom prst="rect">
            <a:avLst/>
          </a:prstGeom>
        </p:spPr>
      </p:pic>
      <p:sp>
        <p:nvSpPr>
          <p:cNvPr id="12" name="Shape 9"/>
          <p:cNvSpPr/>
          <p:nvPr/>
        </p:nvSpPr>
        <p:spPr>
          <a:xfrm>
            <a:off x="8119872" y="1600200"/>
            <a:ext cx="329184" cy="329184"/>
          </a:xfrm>
          <a:prstGeom prst="roundRect">
            <a:avLst>
              <a:gd name="adj" fmla="val 13889"/>
            </a:avLst>
          </a:prstGeom>
          <a:solidFill>
            <a:srgbClr val="EF4444"/>
          </a:solidFill>
          <a:ln/>
        </p:spPr>
      </p:sp>
      <p:sp>
        <p:nvSpPr>
          <p:cNvPr id="13" name="Text 10"/>
          <p:cNvSpPr/>
          <p:nvPr/>
        </p:nvSpPr>
        <p:spPr>
          <a:xfrm>
            <a:off x="8558784" y="1581912"/>
            <a:ext cx="3474720" cy="384048"/>
          </a:xfrm>
          <a:prstGeom prst="rect">
            <a:avLst/>
          </a:prstGeom>
          <a:noFill/>
          <a:ln/>
        </p:spPr>
        <p:txBody>
          <a:bodyPr wrap="square" rtlCol="0" anchor="ctr"/>
          <a:lstStyle/>
          <a:p>
            <a:pPr indent="0" marL="0">
              <a:buNone/>
            </a:pPr>
            <a:r>
              <a:rPr lang="en-US" sz="1300" b="1" dirty="0">
                <a:solidFill>
                  <a:srgbClr val="EEF6FA"/>
                </a:solidFill>
              </a:rPr>
              <a:t>HH  </a:t>
            </a:r>
            <a:pPr indent="0" marL="0">
              <a:buNone/>
            </a:pPr>
            <a:r>
              <a:rPr lang="en-US" sz="1300" dirty="0">
                <a:solidFill>
                  <a:srgbClr val="8BAFC8"/>
                </a:solidFill>
              </a:rPr>
              <a:t>Hotspot</a:t>
            </a:r>
            <a:endParaRPr lang="en-US" sz="1300" dirty="0"/>
          </a:p>
        </p:txBody>
      </p:sp>
      <p:sp>
        <p:nvSpPr>
          <p:cNvPr id="14" name="Shape 11"/>
          <p:cNvSpPr/>
          <p:nvPr/>
        </p:nvSpPr>
        <p:spPr>
          <a:xfrm>
            <a:off x="8119872" y="2075688"/>
            <a:ext cx="329184" cy="329184"/>
          </a:xfrm>
          <a:prstGeom prst="roundRect">
            <a:avLst>
              <a:gd name="adj" fmla="val 13889"/>
            </a:avLst>
          </a:prstGeom>
          <a:solidFill>
            <a:srgbClr val="60A5FA"/>
          </a:solidFill>
          <a:ln/>
        </p:spPr>
      </p:sp>
      <p:sp>
        <p:nvSpPr>
          <p:cNvPr id="15" name="Text 12"/>
          <p:cNvSpPr/>
          <p:nvPr/>
        </p:nvSpPr>
        <p:spPr>
          <a:xfrm>
            <a:off x="8558784" y="2057400"/>
            <a:ext cx="3474720" cy="384048"/>
          </a:xfrm>
          <a:prstGeom prst="rect">
            <a:avLst/>
          </a:prstGeom>
          <a:noFill/>
          <a:ln/>
        </p:spPr>
        <p:txBody>
          <a:bodyPr wrap="square" rtlCol="0" anchor="ctr"/>
          <a:lstStyle/>
          <a:p>
            <a:pPr indent="0" marL="0">
              <a:buNone/>
            </a:pPr>
            <a:r>
              <a:rPr lang="en-US" sz="1300" b="1" dirty="0">
                <a:solidFill>
                  <a:srgbClr val="EEF6FA"/>
                </a:solidFill>
              </a:rPr>
              <a:t>LL  </a:t>
            </a:r>
            <a:pPr indent="0" marL="0">
              <a:buNone/>
            </a:pPr>
            <a:r>
              <a:rPr lang="en-US" sz="1300" dirty="0">
                <a:solidFill>
                  <a:srgbClr val="8BAFC8"/>
                </a:solidFill>
              </a:rPr>
              <a:t>Coldspot</a:t>
            </a:r>
            <a:endParaRPr lang="en-US" sz="1300" dirty="0"/>
          </a:p>
        </p:txBody>
      </p:sp>
      <p:sp>
        <p:nvSpPr>
          <p:cNvPr id="16" name="Shape 13"/>
          <p:cNvSpPr/>
          <p:nvPr/>
        </p:nvSpPr>
        <p:spPr>
          <a:xfrm>
            <a:off x="8119872" y="2551176"/>
            <a:ext cx="329184" cy="329184"/>
          </a:xfrm>
          <a:prstGeom prst="roundRect">
            <a:avLst>
              <a:gd name="adj" fmla="val 13889"/>
            </a:avLst>
          </a:prstGeom>
          <a:solidFill>
            <a:srgbClr val="FB923C"/>
          </a:solidFill>
          <a:ln/>
        </p:spPr>
      </p:sp>
      <p:sp>
        <p:nvSpPr>
          <p:cNvPr id="17" name="Text 14"/>
          <p:cNvSpPr/>
          <p:nvPr/>
        </p:nvSpPr>
        <p:spPr>
          <a:xfrm>
            <a:off x="8558784" y="2532888"/>
            <a:ext cx="3474720" cy="384048"/>
          </a:xfrm>
          <a:prstGeom prst="rect">
            <a:avLst/>
          </a:prstGeom>
          <a:noFill/>
          <a:ln/>
        </p:spPr>
        <p:txBody>
          <a:bodyPr wrap="square" rtlCol="0" anchor="ctr"/>
          <a:lstStyle/>
          <a:p>
            <a:pPr indent="0" marL="0">
              <a:buNone/>
            </a:pPr>
            <a:r>
              <a:rPr lang="en-US" sz="1300" b="1" dirty="0">
                <a:solidFill>
                  <a:srgbClr val="EEF6FA"/>
                </a:solidFill>
              </a:rPr>
              <a:t>HL  </a:t>
            </a:r>
            <a:pPr indent="0" marL="0">
              <a:buNone/>
            </a:pPr>
            <a:r>
              <a:rPr lang="en-US" sz="1300" dirty="0">
                <a:solidFill>
                  <a:srgbClr val="8BAFC8"/>
                </a:solidFill>
              </a:rPr>
              <a:t>Outlier</a:t>
            </a:r>
            <a:endParaRPr lang="en-US" sz="1300" dirty="0"/>
          </a:p>
        </p:txBody>
      </p:sp>
      <p:sp>
        <p:nvSpPr>
          <p:cNvPr id="18" name="Shape 15"/>
          <p:cNvSpPr/>
          <p:nvPr/>
        </p:nvSpPr>
        <p:spPr>
          <a:xfrm>
            <a:off x="8119872" y="3026664"/>
            <a:ext cx="329184" cy="329184"/>
          </a:xfrm>
          <a:prstGeom prst="roundRect">
            <a:avLst>
              <a:gd name="adj" fmla="val 13889"/>
            </a:avLst>
          </a:prstGeom>
          <a:solidFill>
            <a:srgbClr val="93C5FD"/>
          </a:solidFill>
          <a:ln/>
        </p:spPr>
      </p:sp>
      <p:sp>
        <p:nvSpPr>
          <p:cNvPr id="19" name="Text 16"/>
          <p:cNvSpPr/>
          <p:nvPr/>
        </p:nvSpPr>
        <p:spPr>
          <a:xfrm>
            <a:off x="8558784" y="3008376"/>
            <a:ext cx="3474720" cy="384048"/>
          </a:xfrm>
          <a:prstGeom prst="rect">
            <a:avLst/>
          </a:prstGeom>
          <a:noFill/>
          <a:ln/>
        </p:spPr>
        <p:txBody>
          <a:bodyPr wrap="square" rtlCol="0" anchor="ctr"/>
          <a:lstStyle/>
          <a:p>
            <a:pPr indent="0" marL="0">
              <a:buNone/>
            </a:pPr>
            <a:r>
              <a:rPr lang="en-US" sz="1300" b="1" dirty="0">
                <a:solidFill>
                  <a:srgbClr val="EEF6FA"/>
                </a:solidFill>
              </a:rPr>
              <a:t>LH  </a:t>
            </a:r>
            <a:pPr indent="0" marL="0">
              <a:buNone/>
            </a:pPr>
            <a:r>
              <a:rPr lang="en-US" sz="1300" dirty="0">
                <a:solidFill>
                  <a:srgbClr val="8BAFC8"/>
                </a:solidFill>
              </a:rPr>
              <a:t>Outlier</a:t>
            </a:r>
            <a:endParaRPr lang="en-US" sz="1300" dirty="0"/>
          </a:p>
        </p:txBody>
      </p:sp>
      <p:sp>
        <p:nvSpPr>
          <p:cNvPr id="20" name="Text 17"/>
          <p:cNvSpPr/>
          <p:nvPr/>
        </p:nvSpPr>
        <p:spPr>
          <a:xfrm>
            <a:off x="8119872" y="3675888"/>
            <a:ext cx="3675888" cy="2286000"/>
          </a:xfrm>
          <a:prstGeom prst="rect">
            <a:avLst/>
          </a:prstGeom>
          <a:noFill/>
          <a:ln/>
        </p:spPr>
        <p:txBody>
          <a:bodyPr wrap="square" rtlCol="0" anchor="ctr"/>
          <a:lstStyle/>
          <a:p>
            <a:pPr marL="342900" indent="-342900">
              <a:lnSpc>
                <a:spcPct val="120000"/>
              </a:lnSpc>
              <a:spcAft>
                <a:spcPts val="1000"/>
              </a:spcAft>
              <a:buSzPct val="100000"/>
              <a:buChar char="►"/>
            </a:pPr>
            <a:r>
              <a:rPr lang="en-US" sz="1300" dirty="0">
                <a:solidFill>
                  <a:srgbClr val="EEF6FA"/>
                </a:solidFill>
              </a:rPr>
              <a:t>West coast = HH hotspot (Alghero–Oristano corridor)</a:t>
            </a:r>
            <a:endParaRPr lang="en-US" sz="1300" dirty="0"/>
          </a:p>
          <a:p>
            <a:pPr marL="342900" indent="-342900">
              <a:lnSpc>
                <a:spcPct val="120000"/>
              </a:lnSpc>
              <a:spcAft>
                <a:spcPts val="1000"/>
              </a:spcAft>
              <a:buSzPct val="100000"/>
              <a:buChar char="►"/>
            </a:pPr>
            <a:r>
              <a:rPr lang="en-US" sz="1300" dirty="0">
                <a:solidFill>
                  <a:srgbClr val="EEF6FA"/>
                </a:solidFill>
              </a:rPr>
              <a:t>East coast = LL coldspot</a:t>
            </a:r>
            <a:endParaRPr lang="en-US" sz="1300" dirty="0"/>
          </a:p>
          <a:p>
            <a:pPr marL="342900" indent="-342900">
              <a:lnSpc>
                <a:spcPct val="120000"/>
              </a:lnSpc>
              <a:spcAft>
                <a:spcPts val="1000"/>
              </a:spcAft>
              <a:buSzPct val="100000"/>
              <a:buChar char="►"/>
            </a:pPr>
            <a:r>
              <a:rPr lang="en-US" sz="1300" dirty="0">
                <a:solidFill>
                  <a:srgbClr val="EEF6FA"/>
                </a:solidFill>
              </a:rPr>
              <a:t>Zero HL/LH outliers → coherent spatial pattern</a:t>
            </a:r>
            <a:endParaRPr lang="en-US" sz="1300" dirty="0"/>
          </a:p>
          <a:p>
            <a:pPr marL="342900" indent="-342900">
              <a:lnSpc>
                <a:spcPct val="120000"/>
              </a:lnSpc>
              <a:spcAft>
                <a:spcPts val="1000"/>
              </a:spcAft>
              <a:buSzPct val="100000"/>
              <a:buChar char="►"/>
            </a:pPr>
            <a:r>
              <a:rPr lang="en-US" sz="1300" dirty="0">
                <a:solidFill>
                  <a:srgbClr val="EEF6FA"/>
                </a:solidFill>
              </a:rPr>
              <a:t>~77 HH + ~63 LL significant cells (2023)</a:t>
            </a:r>
            <a:endParaRPr lang="en-US" sz="1300" dirty="0"/>
          </a:p>
        </p:txBody>
      </p:sp>
      <p:sp>
        <p:nvSpPr>
          <p:cNvPr id="21" name="Text 18"/>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22" name="Text 19"/>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Getis-Ord GI* — Hotspot Intensity</a:t>
            </a:r>
            <a:endParaRPr lang="en-US" sz="3000" dirty="0"/>
          </a:p>
        </p:txBody>
      </p:sp>
      <p:sp>
        <p:nvSpPr>
          <p:cNvPr id="10" name="Shape 8"/>
          <p:cNvSpPr/>
          <p:nvPr/>
        </p:nvSpPr>
        <p:spPr>
          <a:xfrm>
            <a:off x="512064" y="1143000"/>
            <a:ext cx="1280160" cy="50292"/>
          </a:xfrm>
          <a:prstGeom prst="rect">
            <a:avLst/>
          </a:prstGeom>
          <a:solidFill>
            <a:srgbClr val="4DD9AC"/>
          </a:solidFill>
          <a:ln/>
        </p:spPr>
      </p:sp>
      <p:pic>
        <p:nvPicPr>
          <p:cNvPr id="11" name="Image 0" descr="/Users/danieleuras/Documents/GitHub/hhe-labsardinia/data/figures/gi_star_map.png">    </p:cNvPr>
          <p:cNvPicPr>
            <a:picLocks noChangeAspect="1"/>
          </p:cNvPicPr>
          <p:nvPr/>
        </p:nvPicPr>
        <p:blipFill>
          <a:blip r:embed="rId1"/>
          <a:stretch>
            <a:fillRect/>
          </a:stretch>
        </p:blipFill>
        <p:spPr>
          <a:xfrm>
            <a:off x="502920" y="1704147"/>
            <a:ext cx="7498080" cy="4309241"/>
          </a:xfrm>
          <a:prstGeom prst="rect">
            <a:avLst/>
          </a:prstGeom>
        </p:spPr>
      </p:pic>
      <p:sp>
        <p:nvSpPr>
          <p:cNvPr id="12" name="Text 9"/>
          <p:cNvSpPr/>
          <p:nvPr/>
        </p:nvSpPr>
        <p:spPr>
          <a:xfrm>
            <a:off x="8302752" y="1737360"/>
            <a:ext cx="3493008" cy="393192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EEF6FA"/>
                </a:solidFill>
              </a:rPr>
              <a:t>Per-cell z-score of local concentration</a:t>
            </a:r>
            <a:endParaRPr lang="en-US" sz="1300" dirty="0"/>
          </a:p>
          <a:p>
            <a:pPr marL="342900" indent="-342900">
              <a:lnSpc>
                <a:spcPct val="120000"/>
              </a:lnSpc>
              <a:spcAft>
                <a:spcPts val="1200"/>
              </a:spcAft>
              <a:buSzPct val="100000"/>
              <a:buChar char="►"/>
            </a:pPr>
            <a:r>
              <a:rPr lang="en-US" sz="1300" dirty="0">
                <a:solidFill>
                  <a:srgbClr val="EEF6FA"/>
                </a:solidFill>
              </a:rPr>
              <a:t>z &gt; 1.96 → significant hotspot (red)</a:t>
            </a:r>
            <a:endParaRPr lang="en-US" sz="1300" dirty="0"/>
          </a:p>
          <a:p>
            <a:pPr marL="342900" indent="-342900">
              <a:lnSpc>
                <a:spcPct val="120000"/>
              </a:lnSpc>
              <a:spcAft>
                <a:spcPts val="1200"/>
              </a:spcAft>
              <a:buSzPct val="100000"/>
              <a:buChar char="►"/>
            </a:pPr>
            <a:r>
              <a:rPr lang="en-US" sz="1300" dirty="0">
                <a:solidFill>
                  <a:srgbClr val="EEF6FA"/>
                </a:solidFill>
              </a:rPr>
              <a:t>z &lt; −1.96 → significant coldspot (blue)</a:t>
            </a:r>
            <a:endParaRPr lang="en-US" sz="1300" dirty="0"/>
          </a:p>
          <a:p>
            <a:pPr marL="342900" indent="-342900">
              <a:lnSpc>
                <a:spcPct val="120000"/>
              </a:lnSpc>
              <a:spcAft>
                <a:spcPts val="1200"/>
              </a:spcAft>
              <a:buSzPct val="100000"/>
              <a:buChar char="►"/>
            </a:pPr>
            <a:r>
              <a:rPr lang="en-US" sz="1300" dirty="0">
                <a:solidFill>
                  <a:srgbClr val="EEF6FA"/>
                </a:solidFill>
              </a:rPr>
              <a:t>~80 hotspot / ~65 coldspot cells per year</a:t>
            </a:r>
            <a:endParaRPr lang="en-US" sz="1300" dirty="0"/>
          </a:p>
          <a:p>
            <a:pPr marL="342900" indent="-342900">
              <a:lnSpc>
                <a:spcPct val="120000"/>
              </a:lnSpc>
              <a:spcAft>
                <a:spcPts val="1200"/>
              </a:spcAft>
              <a:buSzPct val="100000"/>
              <a:buChar char="►"/>
            </a:pPr>
            <a:r>
              <a:rPr lang="en-US" sz="1300" dirty="0">
                <a:solidFill>
                  <a:srgbClr val="EEF6FA"/>
                </a:solidFill>
              </a:rPr>
              <a:t>Confirms &amp; grades the LISA HH corridor</a:t>
            </a:r>
            <a:endParaRPr lang="en-US" sz="1300" dirty="0"/>
          </a:p>
        </p:txBody>
      </p:sp>
      <p:sp>
        <p:nvSpPr>
          <p:cNvPr id="13" name="Text 10"/>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14" name="Text 11"/>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Key Findings</a:t>
            </a:r>
            <a:endParaRPr lang="en-US" sz="3000" dirty="0"/>
          </a:p>
        </p:txBody>
      </p:sp>
      <p:sp>
        <p:nvSpPr>
          <p:cNvPr id="10" name="Shape 8"/>
          <p:cNvSpPr/>
          <p:nvPr/>
        </p:nvSpPr>
        <p:spPr>
          <a:xfrm>
            <a:off x="512064" y="1143000"/>
            <a:ext cx="1280160" cy="50292"/>
          </a:xfrm>
          <a:prstGeom prst="rect">
            <a:avLst/>
          </a:prstGeom>
          <a:solidFill>
            <a:srgbClr val="4DD9AC"/>
          </a:solidFill>
          <a:ln/>
        </p:spPr>
      </p:sp>
      <p:sp>
        <p:nvSpPr>
          <p:cNvPr id="11" name="Shape 9"/>
          <p:cNvSpPr/>
          <p:nvPr/>
        </p:nvSpPr>
        <p:spPr>
          <a:xfrm>
            <a:off x="804672" y="1645920"/>
            <a:ext cx="5138928" cy="4041648"/>
          </a:xfrm>
          <a:prstGeom prst="roundRect">
            <a:avLst>
              <a:gd name="adj" fmla="val 1584"/>
            </a:avLst>
          </a:prstGeom>
          <a:solidFill>
            <a:srgbClr val="0F2C47">
              <a:alpha val="85000"/>
            </a:srgbClr>
          </a:solidFill>
          <a:ln w="12700">
            <a:solidFill>
              <a:srgbClr val="1E4060"/>
            </a:solidFill>
            <a:prstDash val="solid"/>
          </a:ln>
        </p:spPr>
      </p:sp>
      <p:sp>
        <p:nvSpPr>
          <p:cNvPr id="12" name="Shape 10"/>
          <p:cNvSpPr/>
          <p:nvPr/>
        </p:nvSpPr>
        <p:spPr>
          <a:xfrm>
            <a:off x="804672" y="1645920"/>
            <a:ext cx="5138928" cy="64008"/>
          </a:xfrm>
          <a:prstGeom prst="rect">
            <a:avLst/>
          </a:prstGeom>
          <a:solidFill>
            <a:srgbClr val="E8654A"/>
          </a:solidFill>
          <a:ln/>
        </p:spPr>
      </p:sp>
      <p:sp>
        <p:nvSpPr>
          <p:cNvPr id="13" name="Text 11"/>
          <p:cNvSpPr/>
          <p:nvPr/>
        </p:nvSpPr>
        <p:spPr>
          <a:xfrm>
            <a:off x="1033272" y="1828800"/>
            <a:ext cx="4773168" cy="475488"/>
          </a:xfrm>
          <a:prstGeom prst="rect">
            <a:avLst/>
          </a:prstGeom>
          <a:noFill/>
          <a:ln/>
        </p:spPr>
        <p:txBody>
          <a:bodyPr wrap="square" rtlCol="0" anchor="ctr"/>
          <a:lstStyle/>
          <a:p>
            <a:pPr indent="0" marL="0">
              <a:buNone/>
            </a:pPr>
            <a:r>
              <a:rPr lang="en-US" sz="1900" b="1" dirty="0">
                <a:solidFill>
                  <a:srgbClr val="E8654A"/>
                </a:solidFill>
              </a:rPr>
              <a:t>Hotspots</a:t>
            </a:r>
            <a:endParaRPr lang="en-US" sz="1900" dirty="0"/>
          </a:p>
        </p:txBody>
      </p:sp>
      <p:sp>
        <p:nvSpPr>
          <p:cNvPr id="14" name="Text 12"/>
          <p:cNvSpPr/>
          <p:nvPr/>
        </p:nvSpPr>
        <p:spPr>
          <a:xfrm>
            <a:off x="1033272" y="2395728"/>
            <a:ext cx="4773168" cy="3218688"/>
          </a:xfrm>
          <a:prstGeom prst="rect">
            <a:avLst/>
          </a:prstGeom>
          <a:noFill/>
          <a:ln/>
        </p:spPr>
        <p:txBody>
          <a:bodyPr wrap="square" rtlCol="0" anchor="ctr"/>
          <a:lstStyle/>
          <a:p>
            <a:pPr marL="342900" indent="-342900">
              <a:lnSpc>
                <a:spcPct val="125000"/>
              </a:lnSpc>
              <a:spcAft>
                <a:spcPts val="1400"/>
              </a:spcAft>
              <a:buSzPct val="100000"/>
              <a:buChar char="►"/>
            </a:pPr>
            <a:r>
              <a:rPr lang="en-US" sz="1500" dirty="0">
                <a:solidFill>
                  <a:srgbClr val="EEF6FA"/>
                </a:solidFill>
              </a:rPr>
              <a:t>West-coast corridor (Alghero–Oristano) = highest hazard</a:t>
            </a:r>
            <a:endParaRPr lang="en-US" sz="1500" dirty="0"/>
          </a:p>
          <a:p>
            <a:pPr marL="342900" indent="-342900">
              <a:lnSpc>
                <a:spcPct val="125000"/>
              </a:lnSpc>
              <a:spcAft>
                <a:spcPts val="1400"/>
              </a:spcAft>
              <a:buSzPct val="100000"/>
              <a:buChar char="►"/>
            </a:pPr>
            <a:r>
              <a:rPr lang="en-US" sz="1500" dirty="0">
                <a:solidFill>
                  <a:srgbClr val="EEF6FA"/>
                </a:solidFill>
              </a:rPr>
              <a:t>Oristano Is Arenas: max beach litter (1,255 items/100 m)</a:t>
            </a:r>
            <a:endParaRPr lang="en-US" sz="1500" dirty="0"/>
          </a:p>
          <a:p>
            <a:pPr marL="342900" indent="-342900">
              <a:lnSpc>
                <a:spcPct val="125000"/>
              </a:lnSpc>
              <a:spcAft>
                <a:spcPts val="1400"/>
              </a:spcAft>
              <a:buSzPct val="100000"/>
              <a:buChar char="►"/>
            </a:pPr>
            <a:r>
              <a:rPr lang="en-US" sz="1500" dirty="0">
                <a:solidFill>
                  <a:srgbClr val="EEF6FA"/>
                </a:solidFill>
              </a:rPr>
              <a:t>East coast (San Teodoro) = statistically-confirmed coldspot</a:t>
            </a:r>
            <a:endParaRPr lang="en-US" sz="1500" dirty="0"/>
          </a:p>
          <a:p>
            <a:pPr marL="342900" indent="-342900">
              <a:lnSpc>
                <a:spcPct val="125000"/>
              </a:lnSpc>
              <a:spcAft>
                <a:spcPts val="1400"/>
              </a:spcAft>
              <a:buSzPct val="100000"/>
              <a:buChar char="►"/>
            </a:pPr>
            <a:r>
              <a:rPr lang="en-US" sz="1500" dirty="0">
                <a:solidFill>
                  <a:srgbClr val="EEF6FA"/>
                </a:solidFill>
              </a:rPr>
              <a:t>Clustering significant every year (Moran I ≈ 0.95, p &lt; 0.001)</a:t>
            </a:r>
            <a:endParaRPr lang="en-US" sz="1500" dirty="0"/>
          </a:p>
        </p:txBody>
      </p:sp>
      <p:sp>
        <p:nvSpPr>
          <p:cNvPr id="15" name="Shape 13"/>
          <p:cNvSpPr/>
          <p:nvPr/>
        </p:nvSpPr>
        <p:spPr>
          <a:xfrm>
            <a:off x="6428232" y="1645920"/>
            <a:ext cx="5138928" cy="4041648"/>
          </a:xfrm>
          <a:prstGeom prst="roundRect">
            <a:avLst>
              <a:gd name="adj" fmla="val 1584"/>
            </a:avLst>
          </a:prstGeom>
          <a:solidFill>
            <a:srgbClr val="0F2C47">
              <a:alpha val="85000"/>
            </a:srgbClr>
          </a:solidFill>
          <a:ln w="12700">
            <a:solidFill>
              <a:srgbClr val="1E4060"/>
            </a:solidFill>
            <a:prstDash val="solid"/>
          </a:ln>
        </p:spPr>
      </p:sp>
      <p:sp>
        <p:nvSpPr>
          <p:cNvPr id="16" name="Shape 14"/>
          <p:cNvSpPr/>
          <p:nvPr/>
        </p:nvSpPr>
        <p:spPr>
          <a:xfrm>
            <a:off x="6428232" y="1645920"/>
            <a:ext cx="5138928" cy="64008"/>
          </a:xfrm>
          <a:prstGeom prst="rect">
            <a:avLst/>
          </a:prstGeom>
          <a:solidFill>
            <a:srgbClr val="4DD9AC"/>
          </a:solidFill>
          <a:ln/>
        </p:spPr>
      </p:sp>
      <p:sp>
        <p:nvSpPr>
          <p:cNvPr id="17" name="Text 15"/>
          <p:cNvSpPr/>
          <p:nvPr/>
        </p:nvSpPr>
        <p:spPr>
          <a:xfrm>
            <a:off x="6656832" y="1828800"/>
            <a:ext cx="4773168" cy="475488"/>
          </a:xfrm>
          <a:prstGeom prst="rect">
            <a:avLst/>
          </a:prstGeom>
          <a:noFill/>
          <a:ln/>
        </p:spPr>
        <p:txBody>
          <a:bodyPr wrap="square" rtlCol="0" anchor="ctr"/>
          <a:lstStyle/>
          <a:p>
            <a:pPr indent="0" marL="0">
              <a:buNone/>
            </a:pPr>
            <a:r>
              <a:rPr lang="en-US" sz="1900" b="1" dirty="0">
                <a:solidFill>
                  <a:srgbClr val="4DD9AC"/>
                </a:solidFill>
              </a:rPr>
              <a:t>Patterns</a:t>
            </a:r>
            <a:endParaRPr lang="en-US" sz="1900" dirty="0"/>
          </a:p>
        </p:txBody>
      </p:sp>
      <p:sp>
        <p:nvSpPr>
          <p:cNvPr id="18" name="Text 16"/>
          <p:cNvSpPr/>
          <p:nvPr/>
        </p:nvSpPr>
        <p:spPr>
          <a:xfrm>
            <a:off x="6656832" y="2395728"/>
            <a:ext cx="4773168" cy="3218688"/>
          </a:xfrm>
          <a:prstGeom prst="rect">
            <a:avLst/>
          </a:prstGeom>
          <a:noFill/>
          <a:ln/>
        </p:spPr>
        <p:txBody>
          <a:bodyPr wrap="square" rtlCol="0" anchor="ctr"/>
          <a:lstStyle/>
          <a:p>
            <a:pPr marL="342900" indent="-342900">
              <a:lnSpc>
                <a:spcPct val="125000"/>
              </a:lnSpc>
              <a:spcAft>
                <a:spcPts val="1400"/>
              </a:spcAft>
              <a:buSzPct val="100000"/>
              <a:buChar char="►"/>
            </a:pPr>
            <a:r>
              <a:rPr lang="en-US" sz="1500" dirty="0">
                <a:solidFill>
                  <a:srgbClr val="EEF6FA"/>
                </a:solidFill>
              </a:rPr>
              <a:t>84% of beach litter is artificial polymer</a:t>
            </a:r>
            <a:endParaRPr lang="en-US" sz="1500" dirty="0"/>
          </a:p>
          <a:p>
            <a:pPr marL="342900" indent="-342900">
              <a:lnSpc>
                <a:spcPct val="125000"/>
              </a:lnSpc>
              <a:spcAft>
                <a:spcPts val="1400"/>
              </a:spcAft>
              <a:buSzPct val="100000"/>
              <a:buChar char="►"/>
            </a:pPr>
            <a:r>
              <a:rPr lang="en-US" sz="1500" dirty="0">
                <a:solidFill>
                  <a:srgbClr val="EEF6FA"/>
                </a:solidFill>
              </a:rPr>
              <a:t>Floating litter elevated late spring–autumn — current-driven</a:t>
            </a:r>
            <a:endParaRPr lang="en-US" sz="1500" dirty="0"/>
          </a:p>
          <a:p>
            <a:pPr marL="342900" indent="-342900">
              <a:lnSpc>
                <a:spcPct val="125000"/>
              </a:lnSpc>
              <a:spcAft>
                <a:spcPts val="1400"/>
              </a:spcAft>
              <a:buSzPct val="100000"/>
              <a:buChar char="►"/>
            </a:pPr>
            <a:r>
              <a:rPr lang="en-US" sz="1500" dirty="0">
                <a:solidFill>
                  <a:srgbClr val="EEF6FA"/>
                </a:solidFill>
              </a:rPr>
              <a:t>Bio impact peaks 2021 (turtle strandings)</a:t>
            </a:r>
            <a:endParaRPr lang="en-US" sz="1500" dirty="0"/>
          </a:p>
          <a:p>
            <a:pPr marL="342900" indent="-342900">
              <a:lnSpc>
                <a:spcPct val="125000"/>
              </a:lnSpc>
              <a:spcAft>
                <a:spcPts val="1400"/>
              </a:spcAft>
              <a:buSzPct val="100000"/>
              <a:buChar char="►"/>
            </a:pPr>
            <a:r>
              <a:rPr lang="en-US" sz="1500" dirty="0">
                <a:solidFill>
                  <a:srgbClr val="EEF6FA"/>
                </a:solidFill>
              </a:rPr>
              <a:t>COVID: beach litter −68% with tourism → human + transport drivers</a:t>
            </a:r>
            <a:endParaRPr lang="en-US" sz="1500" dirty="0"/>
          </a:p>
        </p:txBody>
      </p:sp>
      <p:sp>
        <p:nvSpPr>
          <p:cNvPr id="19" name="Text 17"/>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20" name="Text 18"/>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59436"/>
            <a:ext cx="109728" cy="6798564"/>
          </a:xfrm>
          <a:prstGeom prst="rect">
            <a:avLst/>
          </a:prstGeom>
          <a:solidFill>
            <a:srgbClr val="4DD9AC"/>
          </a:solidFill>
          <a:ln/>
        </p:spPr>
      </p:sp>
      <p:sp>
        <p:nvSpPr>
          <p:cNvPr id="8" name="Shape 6"/>
          <p:cNvSpPr/>
          <p:nvPr/>
        </p:nvSpPr>
        <p:spPr>
          <a:xfrm>
            <a:off x="0" y="3429000"/>
            <a:ext cx="109728" cy="3429000"/>
          </a:xfrm>
          <a:prstGeom prst="rect">
            <a:avLst/>
          </a:prstGeom>
          <a:solidFill>
            <a:srgbClr val="7ECEE3">
              <a:alpha val="70000"/>
            </a:srgbClr>
          </a:solidFill>
          <a:ln/>
        </p:spPr>
      </p:sp>
      <p:sp>
        <p:nvSpPr>
          <p:cNvPr id="9" name="Text 7"/>
          <p:cNvSpPr/>
          <p:nvPr/>
        </p:nvSpPr>
        <p:spPr>
          <a:xfrm>
            <a:off x="475488" y="411480"/>
            <a:ext cx="11155680" cy="731520"/>
          </a:xfrm>
          <a:prstGeom prst="rect">
            <a:avLst/>
          </a:prstGeom>
          <a:noFill/>
          <a:ln/>
        </p:spPr>
        <p:txBody>
          <a:bodyPr wrap="square" rtlCol="0" anchor="ctr"/>
          <a:lstStyle/>
          <a:p>
            <a:pPr indent="0" marL="0">
              <a:buNone/>
            </a:pPr>
            <a:r>
              <a:rPr lang="en-US" sz="3000" b="1" dirty="0">
                <a:solidFill>
                  <a:srgbClr val="EEF6FA"/>
                </a:solidFill>
              </a:rPr>
              <a:t>Limitations &amp; Next Steps</a:t>
            </a:r>
            <a:endParaRPr lang="en-US" sz="3000" dirty="0"/>
          </a:p>
        </p:txBody>
      </p:sp>
      <p:sp>
        <p:nvSpPr>
          <p:cNvPr id="10" name="Shape 8"/>
          <p:cNvSpPr/>
          <p:nvPr/>
        </p:nvSpPr>
        <p:spPr>
          <a:xfrm>
            <a:off x="512064" y="1143000"/>
            <a:ext cx="1280160" cy="50292"/>
          </a:xfrm>
          <a:prstGeom prst="rect">
            <a:avLst/>
          </a:prstGeom>
          <a:solidFill>
            <a:srgbClr val="4DD9AC"/>
          </a:solidFill>
          <a:ln/>
        </p:spPr>
      </p:sp>
      <p:sp>
        <p:nvSpPr>
          <p:cNvPr id="11" name="Shape 9"/>
          <p:cNvSpPr/>
          <p:nvPr/>
        </p:nvSpPr>
        <p:spPr>
          <a:xfrm>
            <a:off x="804672" y="1645920"/>
            <a:ext cx="5138928" cy="4133088"/>
          </a:xfrm>
          <a:prstGeom prst="roundRect">
            <a:avLst>
              <a:gd name="adj" fmla="val 1549"/>
            </a:avLst>
          </a:prstGeom>
          <a:solidFill>
            <a:srgbClr val="0F2C47">
              <a:alpha val="85000"/>
            </a:srgbClr>
          </a:solidFill>
          <a:ln w="12700">
            <a:solidFill>
              <a:srgbClr val="1E4060"/>
            </a:solidFill>
            <a:prstDash val="solid"/>
          </a:ln>
        </p:spPr>
      </p:sp>
      <p:sp>
        <p:nvSpPr>
          <p:cNvPr id="12" name="Shape 10"/>
          <p:cNvSpPr/>
          <p:nvPr/>
        </p:nvSpPr>
        <p:spPr>
          <a:xfrm>
            <a:off x="804672" y="1645920"/>
            <a:ext cx="5138928" cy="64008"/>
          </a:xfrm>
          <a:prstGeom prst="rect">
            <a:avLst/>
          </a:prstGeom>
          <a:solidFill>
            <a:srgbClr val="F59E0B"/>
          </a:solidFill>
          <a:ln/>
        </p:spPr>
      </p:sp>
      <p:sp>
        <p:nvSpPr>
          <p:cNvPr id="13" name="Text 11"/>
          <p:cNvSpPr/>
          <p:nvPr/>
        </p:nvSpPr>
        <p:spPr>
          <a:xfrm>
            <a:off x="1033272" y="1828800"/>
            <a:ext cx="4773168" cy="475488"/>
          </a:xfrm>
          <a:prstGeom prst="rect">
            <a:avLst/>
          </a:prstGeom>
          <a:noFill/>
          <a:ln/>
        </p:spPr>
        <p:txBody>
          <a:bodyPr wrap="square" rtlCol="0" anchor="ctr"/>
          <a:lstStyle/>
          <a:p>
            <a:pPr indent="0" marL="0">
              <a:buNone/>
            </a:pPr>
            <a:r>
              <a:rPr lang="en-US" sz="1900" b="1" dirty="0">
                <a:solidFill>
                  <a:srgbClr val="F59E0B"/>
                </a:solidFill>
              </a:rPr>
              <a:t>Limitations</a:t>
            </a:r>
            <a:endParaRPr lang="en-US" sz="1900" dirty="0"/>
          </a:p>
        </p:txBody>
      </p:sp>
      <p:sp>
        <p:nvSpPr>
          <p:cNvPr id="14" name="Text 12"/>
          <p:cNvSpPr/>
          <p:nvPr/>
        </p:nvSpPr>
        <p:spPr>
          <a:xfrm>
            <a:off x="1033272" y="2395728"/>
            <a:ext cx="4773168" cy="3337560"/>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EEF6FA"/>
                </a:solidFill>
              </a:rPr>
              <a:t>6 beach stations → sparse coverage, IDW smooths heavily</a:t>
            </a:r>
            <a:endParaRPr lang="en-US" sz="1400" dirty="0"/>
          </a:p>
          <a:p>
            <a:pPr marL="342900" indent="-342900">
              <a:lnSpc>
                <a:spcPct val="120000"/>
              </a:lnSpc>
              <a:spcAft>
                <a:spcPts val="1200"/>
              </a:spcAft>
              <a:buSzPct val="100000"/>
              <a:buChar char="►"/>
            </a:pPr>
            <a:r>
              <a:rPr lang="en-US" sz="1400" dirty="0">
                <a:solidFill>
                  <a:srgbClr val="EEF6FA"/>
                </a:solidFill>
              </a:rPr>
              <a:t>Seafloor compartment synthetic (no ISPRA Sardinia module)</a:t>
            </a:r>
            <a:endParaRPr lang="en-US" sz="1400" dirty="0"/>
          </a:p>
          <a:p>
            <a:pPr marL="342900" indent="-342900">
              <a:lnSpc>
                <a:spcPct val="120000"/>
              </a:lnSpc>
              <a:spcAft>
                <a:spcPts val="1200"/>
              </a:spcAft>
              <a:buSzPct val="100000"/>
              <a:buChar char="►"/>
            </a:pPr>
            <a:r>
              <a:rPr lang="en-US" sz="1400" dirty="0">
                <a:solidFill>
                  <a:srgbClr val="EEF6FA"/>
                </a:solidFill>
              </a:rPr>
              <a:t>Scores relative (min–max), not absolute concentrations</a:t>
            </a:r>
            <a:endParaRPr lang="en-US" sz="1400" dirty="0"/>
          </a:p>
          <a:p>
            <a:pPr marL="342900" indent="-342900">
              <a:lnSpc>
                <a:spcPct val="120000"/>
              </a:lnSpc>
              <a:spcAft>
                <a:spcPts val="1200"/>
              </a:spcAft>
              <a:buSzPct val="100000"/>
              <a:buChar char="►"/>
            </a:pPr>
            <a:r>
              <a:rPr lang="en-US" sz="1400" dirty="0">
                <a:solidFill>
                  <a:srgbClr val="EEF6FA"/>
                </a:solidFill>
              </a:rPr>
              <a:t>Autocorrelation partly inherited from IDW smoothing</a:t>
            </a:r>
            <a:endParaRPr lang="en-US" sz="1400" dirty="0"/>
          </a:p>
          <a:p>
            <a:pPr marL="342900" indent="-342900">
              <a:lnSpc>
                <a:spcPct val="120000"/>
              </a:lnSpc>
              <a:spcAft>
                <a:spcPts val="1200"/>
              </a:spcAft>
              <a:buSzPct val="100000"/>
              <a:buChar char="►"/>
            </a:pPr>
            <a:r>
              <a:rPr lang="en-US" sz="1400" dirty="0">
                <a:solidFill>
                  <a:srgbClr val="EEF6FA"/>
                </a:solidFill>
              </a:rPr>
              <a:t>Expert-set weights, not learned from data</a:t>
            </a:r>
            <a:endParaRPr lang="en-US" sz="1400" dirty="0"/>
          </a:p>
        </p:txBody>
      </p:sp>
      <p:sp>
        <p:nvSpPr>
          <p:cNvPr id="15" name="Shape 13"/>
          <p:cNvSpPr/>
          <p:nvPr/>
        </p:nvSpPr>
        <p:spPr>
          <a:xfrm>
            <a:off x="6428232" y="1645920"/>
            <a:ext cx="5138928" cy="4133088"/>
          </a:xfrm>
          <a:prstGeom prst="roundRect">
            <a:avLst>
              <a:gd name="adj" fmla="val 1549"/>
            </a:avLst>
          </a:prstGeom>
          <a:solidFill>
            <a:srgbClr val="0F2C47">
              <a:alpha val="85000"/>
            </a:srgbClr>
          </a:solidFill>
          <a:ln w="12700">
            <a:solidFill>
              <a:srgbClr val="1E4060"/>
            </a:solidFill>
            <a:prstDash val="solid"/>
          </a:ln>
        </p:spPr>
      </p:sp>
      <p:sp>
        <p:nvSpPr>
          <p:cNvPr id="16" name="Shape 14"/>
          <p:cNvSpPr/>
          <p:nvPr/>
        </p:nvSpPr>
        <p:spPr>
          <a:xfrm>
            <a:off x="6428232" y="1645920"/>
            <a:ext cx="5138928" cy="64008"/>
          </a:xfrm>
          <a:prstGeom prst="rect">
            <a:avLst/>
          </a:prstGeom>
          <a:solidFill>
            <a:srgbClr val="4DD9AC"/>
          </a:solidFill>
          <a:ln/>
        </p:spPr>
      </p:sp>
      <p:sp>
        <p:nvSpPr>
          <p:cNvPr id="17" name="Text 15"/>
          <p:cNvSpPr/>
          <p:nvPr/>
        </p:nvSpPr>
        <p:spPr>
          <a:xfrm>
            <a:off x="6656832" y="1828800"/>
            <a:ext cx="4773168" cy="475488"/>
          </a:xfrm>
          <a:prstGeom prst="rect">
            <a:avLst/>
          </a:prstGeom>
          <a:noFill/>
          <a:ln/>
        </p:spPr>
        <p:txBody>
          <a:bodyPr wrap="square" rtlCol="0" anchor="ctr"/>
          <a:lstStyle/>
          <a:p>
            <a:pPr indent="0" marL="0">
              <a:buNone/>
            </a:pPr>
            <a:r>
              <a:rPr lang="en-US" sz="1900" b="1" dirty="0">
                <a:solidFill>
                  <a:srgbClr val="4DD9AC"/>
                </a:solidFill>
              </a:rPr>
              <a:t>Next Steps</a:t>
            </a:r>
            <a:endParaRPr lang="en-US" sz="1900" dirty="0"/>
          </a:p>
        </p:txBody>
      </p:sp>
      <p:sp>
        <p:nvSpPr>
          <p:cNvPr id="18" name="Text 16"/>
          <p:cNvSpPr/>
          <p:nvPr/>
        </p:nvSpPr>
        <p:spPr>
          <a:xfrm>
            <a:off x="6656832" y="2395728"/>
            <a:ext cx="4773168" cy="3337560"/>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EEF6FA"/>
                </a:solidFill>
              </a:rPr>
              <a:t>Promote microplastics into the index once 2023 released</a:t>
            </a:r>
            <a:endParaRPr lang="en-US" sz="1400" dirty="0"/>
          </a:p>
          <a:p>
            <a:pPr marL="342900" indent="-342900">
              <a:lnSpc>
                <a:spcPct val="120000"/>
              </a:lnSpc>
              <a:spcAft>
                <a:spcPts val="1200"/>
              </a:spcAft>
              <a:buSzPct val="100000"/>
              <a:buChar char="►"/>
            </a:pPr>
            <a:r>
              <a:rPr lang="en-US" sz="1400" dirty="0">
                <a:solidFill>
                  <a:srgbClr val="EEF6FA"/>
                </a:solidFill>
              </a:rPr>
              <a:t>Replace synthetic seafloor with real MEDITS trawl data</a:t>
            </a:r>
            <a:endParaRPr lang="en-US" sz="1400" dirty="0"/>
          </a:p>
          <a:p>
            <a:pPr marL="342900" indent="-342900">
              <a:lnSpc>
                <a:spcPct val="120000"/>
              </a:lnSpc>
              <a:spcAft>
                <a:spcPts val="1200"/>
              </a:spcAft>
              <a:buSzPct val="100000"/>
              <a:buChar char="►"/>
            </a:pPr>
            <a:r>
              <a:rPr lang="en-US" sz="1400" dirty="0">
                <a:solidFill>
                  <a:srgbClr val="EEF6FA"/>
                </a:solidFill>
              </a:rPr>
              <a:t>Bi-variate Moran (beach vs. floating) coupling</a:t>
            </a:r>
            <a:endParaRPr lang="en-US" sz="1400" dirty="0"/>
          </a:p>
          <a:p>
            <a:pPr marL="342900" indent="-342900">
              <a:lnSpc>
                <a:spcPct val="120000"/>
              </a:lnSpc>
              <a:spcAft>
                <a:spcPts val="1200"/>
              </a:spcAft>
              <a:buSzPct val="100000"/>
              <a:buChar char="►"/>
            </a:pPr>
            <a:r>
              <a:rPr lang="en-US" sz="1400" dirty="0">
                <a:solidFill>
                  <a:srgbClr val="EEF6FA"/>
                </a:solidFill>
              </a:rPr>
              <a:t>Spatial regression: SAR / SEM / GWR for drivers</a:t>
            </a:r>
            <a:endParaRPr lang="en-US" sz="1400" dirty="0"/>
          </a:p>
          <a:p>
            <a:pPr marL="342900" indent="-342900">
              <a:lnSpc>
                <a:spcPct val="120000"/>
              </a:lnSpc>
              <a:spcAft>
                <a:spcPts val="1200"/>
              </a:spcAft>
              <a:buSzPct val="100000"/>
              <a:buChar char="►"/>
            </a:pPr>
            <a:r>
              <a:rPr lang="en-US" sz="1400" dirty="0">
                <a:solidFill>
                  <a:srgbClr val="EEF6FA"/>
                </a:solidFill>
              </a:rPr>
              <a:t>Validate vs. citizen-science clean-ups · per-comune brief</a:t>
            </a:r>
            <a:endParaRPr lang="en-US" sz="1400" dirty="0"/>
          </a:p>
        </p:txBody>
      </p:sp>
      <p:sp>
        <p:nvSpPr>
          <p:cNvPr id="19" name="Text 17"/>
          <p:cNvSpPr/>
          <p:nvPr/>
        </p:nvSpPr>
        <p:spPr>
          <a:xfrm>
            <a:off x="548640" y="6455664"/>
            <a:ext cx="8229600" cy="274320"/>
          </a:xfrm>
          <a:prstGeom prst="rect">
            <a:avLst/>
          </a:prstGeom>
          <a:noFill/>
          <a:ln/>
        </p:spPr>
        <p:txBody>
          <a:bodyPr wrap="square" rtlCol="0" anchor="ctr"/>
          <a:lstStyle/>
          <a:p>
            <a:pPr indent="0" marL="0">
              <a:buNone/>
            </a:pPr>
            <a:r>
              <a:rPr lang="en-US" sz="800" dirty="0">
                <a:solidFill>
                  <a:srgbClr val="8BAFC8"/>
                </a:solidFill>
              </a:rPr>
              <a:t>Marine Litter Hazard Assessment · Sardinia · MSFD D10</a:t>
            </a:r>
            <a:endParaRPr lang="en-US" sz="800" dirty="0"/>
          </a:p>
        </p:txBody>
      </p:sp>
      <p:sp>
        <p:nvSpPr>
          <p:cNvPr id="20" name="Text 18"/>
          <p:cNvSpPr/>
          <p:nvPr/>
        </p:nvSpPr>
        <p:spPr>
          <a:xfrm>
            <a:off x="11183112" y="6455664"/>
            <a:ext cx="731520" cy="274320"/>
          </a:xfrm>
          <a:prstGeom prst="rect">
            <a:avLst/>
          </a:prstGeom>
          <a:noFill/>
          <a:ln/>
        </p:spPr>
        <p:txBody>
          <a:bodyPr wrap="square" rtlCol="0" anchor="ctr"/>
          <a:lstStyle/>
          <a:p>
            <a:pPr algn="r" indent="0" marL="0">
              <a:buNone/>
            </a:pPr>
            <a:r>
              <a:rPr lang="en-US" sz="900" b="1" dirty="0">
                <a:solidFill>
                  <a:srgbClr val="4DD9AC"/>
                </a:solidFill>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234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2340"/>
          </a:solidFill>
          <a:ln/>
        </p:spPr>
      </p:sp>
      <p:sp>
        <p:nvSpPr>
          <p:cNvPr id="3" name="Shape 1"/>
          <p:cNvSpPr/>
          <p:nvPr/>
        </p:nvSpPr>
        <p:spPr>
          <a:xfrm>
            <a:off x="0" y="4457700"/>
            <a:ext cx="12188952" cy="2400300"/>
          </a:xfrm>
          <a:prstGeom prst="rect">
            <a:avLst/>
          </a:prstGeom>
          <a:solidFill>
            <a:srgbClr val="0D2845">
              <a:alpha val="40000"/>
            </a:srgbClr>
          </a:solidFill>
          <a:ln/>
        </p:spPr>
      </p:sp>
      <p:sp>
        <p:nvSpPr>
          <p:cNvPr id="4" name="Shape 2"/>
          <p:cNvSpPr/>
          <p:nvPr/>
        </p:nvSpPr>
        <p:spPr>
          <a:xfrm>
            <a:off x="0" y="0"/>
            <a:ext cx="12188952" cy="59436"/>
          </a:xfrm>
          <a:prstGeom prst="rect">
            <a:avLst/>
          </a:prstGeom>
          <a:solidFill>
            <a:srgbClr val="4DD9AC"/>
          </a:solidFill>
          <a:ln/>
        </p:spPr>
      </p:sp>
      <p:sp>
        <p:nvSpPr>
          <p:cNvPr id="5" name="Shape 3"/>
          <p:cNvSpPr/>
          <p:nvPr/>
        </p:nvSpPr>
        <p:spPr>
          <a:xfrm>
            <a:off x="4875581" y="0"/>
            <a:ext cx="7313371" cy="59436"/>
          </a:xfrm>
          <a:prstGeom prst="rect">
            <a:avLst/>
          </a:prstGeom>
          <a:solidFill>
            <a:srgbClr val="7ECEE3"/>
          </a:solidFill>
          <a:ln/>
        </p:spPr>
      </p:sp>
      <p:sp>
        <p:nvSpPr>
          <p:cNvPr id="6" name="Shape 4"/>
          <p:cNvSpPr/>
          <p:nvPr/>
        </p:nvSpPr>
        <p:spPr>
          <a:xfrm>
            <a:off x="0" y="6382512"/>
            <a:ext cx="12188952" cy="914"/>
          </a:xfrm>
          <a:prstGeom prst="rect">
            <a:avLst/>
          </a:prstGeom>
          <a:solidFill>
            <a:srgbClr val="1E4060"/>
          </a:solidFill>
          <a:ln/>
        </p:spPr>
      </p:sp>
      <p:sp>
        <p:nvSpPr>
          <p:cNvPr id="7" name="Shape 5"/>
          <p:cNvSpPr/>
          <p:nvPr/>
        </p:nvSpPr>
        <p:spPr>
          <a:xfrm>
            <a:off x="0" y="1828800"/>
            <a:ext cx="12188952" cy="50292"/>
          </a:xfrm>
          <a:prstGeom prst="rect">
            <a:avLst/>
          </a:prstGeom>
          <a:solidFill>
            <a:srgbClr val="7ECEE3">
              <a:alpha val="28000"/>
            </a:srgbClr>
          </a:solidFill>
          <a:ln/>
        </p:spPr>
      </p:sp>
      <p:sp>
        <p:nvSpPr>
          <p:cNvPr id="8" name="Shape 6"/>
          <p:cNvSpPr/>
          <p:nvPr/>
        </p:nvSpPr>
        <p:spPr>
          <a:xfrm>
            <a:off x="0" y="2377440"/>
            <a:ext cx="12188952" cy="50292"/>
          </a:xfrm>
          <a:prstGeom prst="rect">
            <a:avLst/>
          </a:prstGeom>
          <a:solidFill>
            <a:srgbClr val="7ECEE3">
              <a:alpha val="23000"/>
            </a:srgbClr>
          </a:solidFill>
          <a:ln/>
        </p:spPr>
      </p:sp>
      <p:sp>
        <p:nvSpPr>
          <p:cNvPr id="9" name="Shape 7"/>
          <p:cNvSpPr/>
          <p:nvPr/>
        </p:nvSpPr>
        <p:spPr>
          <a:xfrm>
            <a:off x="0" y="2926080"/>
            <a:ext cx="12188952" cy="50292"/>
          </a:xfrm>
          <a:prstGeom prst="rect">
            <a:avLst/>
          </a:prstGeom>
          <a:solidFill>
            <a:srgbClr val="7ECEE3">
              <a:alpha val="18000"/>
            </a:srgbClr>
          </a:solidFill>
          <a:ln/>
        </p:spPr>
      </p:sp>
      <p:sp>
        <p:nvSpPr>
          <p:cNvPr id="10" name="Shape 8"/>
          <p:cNvSpPr/>
          <p:nvPr/>
        </p:nvSpPr>
        <p:spPr>
          <a:xfrm>
            <a:off x="0" y="3474720"/>
            <a:ext cx="12188952" cy="50292"/>
          </a:xfrm>
          <a:prstGeom prst="rect">
            <a:avLst/>
          </a:prstGeom>
          <a:solidFill>
            <a:srgbClr val="7ECEE3">
              <a:alpha val="13000"/>
            </a:srgbClr>
          </a:solidFill>
          <a:ln/>
        </p:spPr>
      </p:sp>
      <p:sp>
        <p:nvSpPr>
          <p:cNvPr id="11" name="Text 9"/>
          <p:cNvSpPr/>
          <p:nvPr/>
        </p:nvSpPr>
        <p:spPr>
          <a:xfrm>
            <a:off x="777240" y="1783080"/>
            <a:ext cx="10515600" cy="1005840"/>
          </a:xfrm>
          <a:prstGeom prst="rect">
            <a:avLst/>
          </a:prstGeom>
          <a:noFill/>
          <a:ln/>
        </p:spPr>
        <p:txBody>
          <a:bodyPr wrap="square" rtlCol="0" anchor="ctr"/>
          <a:lstStyle/>
          <a:p>
            <a:pPr indent="0" marL="0">
              <a:buNone/>
            </a:pPr>
            <a:r>
              <a:rPr lang="en-US" sz="5800" b="1" dirty="0">
                <a:solidFill>
                  <a:srgbClr val="EEF6FA"/>
                </a:solidFill>
              </a:rPr>
              <a:t>Thank You</a:t>
            </a:r>
            <a:endParaRPr lang="en-US" sz="5800" dirty="0"/>
          </a:p>
        </p:txBody>
      </p:sp>
      <p:sp>
        <p:nvSpPr>
          <p:cNvPr id="12" name="Shape 10"/>
          <p:cNvSpPr/>
          <p:nvPr/>
        </p:nvSpPr>
        <p:spPr>
          <a:xfrm>
            <a:off x="841248" y="2944368"/>
            <a:ext cx="2743200" cy="64008"/>
          </a:xfrm>
          <a:prstGeom prst="rect">
            <a:avLst/>
          </a:prstGeom>
          <a:solidFill>
            <a:srgbClr val="4DD9AC"/>
          </a:solidFill>
          <a:ln/>
        </p:spPr>
      </p:sp>
      <p:sp>
        <p:nvSpPr>
          <p:cNvPr id="13" name="Shape 11"/>
          <p:cNvSpPr/>
          <p:nvPr/>
        </p:nvSpPr>
        <p:spPr>
          <a:xfrm>
            <a:off x="3584448" y="2944368"/>
            <a:ext cx="1371600" cy="64008"/>
          </a:xfrm>
          <a:prstGeom prst="rect">
            <a:avLst/>
          </a:prstGeom>
          <a:solidFill>
            <a:srgbClr val="E8654A">
              <a:alpha val="80000"/>
            </a:srgbClr>
          </a:solidFill>
          <a:ln/>
        </p:spPr>
      </p:sp>
      <p:sp>
        <p:nvSpPr>
          <p:cNvPr id="14" name="Text 12"/>
          <p:cNvSpPr/>
          <p:nvPr/>
        </p:nvSpPr>
        <p:spPr>
          <a:xfrm>
            <a:off x="841248" y="3182112"/>
            <a:ext cx="1645920" cy="457200"/>
          </a:xfrm>
          <a:prstGeom prst="rect">
            <a:avLst/>
          </a:prstGeom>
          <a:noFill/>
          <a:ln/>
        </p:spPr>
        <p:txBody>
          <a:bodyPr wrap="square" rtlCol="0" anchor="ctr"/>
          <a:lstStyle/>
          <a:p>
            <a:pPr indent="0" marL="0">
              <a:buNone/>
            </a:pPr>
            <a:r>
              <a:rPr lang="en-US" sz="1400" b="1" dirty="0">
                <a:solidFill>
                  <a:srgbClr val="4DD9AC"/>
                </a:solidFill>
              </a:rPr>
              <a:t>GitHub</a:t>
            </a:r>
            <a:endParaRPr lang="en-US" sz="1400" dirty="0"/>
          </a:p>
        </p:txBody>
      </p:sp>
      <p:sp>
        <p:nvSpPr>
          <p:cNvPr id="15" name="Text 13"/>
          <p:cNvSpPr/>
          <p:nvPr/>
        </p:nvSpPr>
        <p:spPr>
          <a:xfrm>
            <a:off x="2514600" y="3182112"/>
            <a:ext cx="8869680" cy="457200"/>
          </a:xfrm>
          <a:prstGeom prst="rect">
            <a:avLst/>
          </a:prstGeom>
          <a:noFill/>
          <a:ln/>
        </p:spPr>
        <p:txBody>
          <a:bodyPr wrap="square" rtlCol="0" anchor="ctr"/>
          <a:lstStyle/>
          <a:p>
            <a:pPr indent="0" marL="0">
              <a:buNone/>
            </a:pPr>
            <a:r>
              <a:rPr lang="en-US" sz="1400" dirty="0">
                <a:solidFill>
                  <a:srgbClr val="EEF6FA"/>
                </a:solidFill>
              </a:rPr>
              <a:t>daniele22-u/hhe-labsardinia</a:t>
            </a:r>
            <a:endParaRPr lang="en-US" sz="1400" dirty="0"/>
          </a:p>
        </p:txBody>
      </p:sp>
      <p:sp>
        <p:nvSpPr>
          <p:cNvPr id="16" name="Text 14"/>
          <p:cNvSpPr/>
          <p:nvPr/>
        </p:nvSpPr>
        <p:spPr>
          <a:xfrm>
            <a:off x="841248" y="3685032"/>
            <a:ext cx="1645920" cy="457200"/>
          </a:xfrm>
          <a:prstGeom prst="rect">
            <a:avLst/>
          </a:prstGeom>
          <a:noFill/>
          <a:ln/>
        </p:spPr>
        <p:txBody>
          <a:bodyPr wrap="square" rtlCol="0" anchor="ctr"/>
          <a:lstStyle/>
          <a:p>
            <a:pPr indent="0" marL="0">
              <a:buNone/>
            </a:pPr>
            <a:r>
              <a:rPr lang="en-US" sz="1400" b="1" dirty="0">
                <a:solidFill>
                  <a:srgbClr val="4DD9AC"/>
                </a:solidFill>
              </a:rPr>
              <a:t>Data</a:t>
            </a:r>
            <a:endParaRPr lang="en-US" sz="1400" dirty="0"/>
          </a:p>
        </p:txBody>
      </p:sp>
      <p:sp>
        <p:nvSpPr>
          <p:cNvPr id="17" name="Text 15"/>
          <p:cNvSpPr/>
          <p:nvPr/>
        </p:nvSpPr>
        <p:spPr>
          <a:xfrm>
            <a:off x="2514600" y="3685032"/>
            <a:ext cx="8869680" cy="457200"/>
          </a:xfrm>
          <a:prstGeom prst="rect">
            <a:avLst/>
          </a:prstGeom>
          <a:noFill/>
          <a:ln/>
        </p:spPr>
        <p:txBody>
          <a:bodyPr wrap="square" rtlCol="0" anchor="ctr"/>
          <a:lstStyle/>
          <a:p>
            <a:pPr indent="0" marL="0">
              <a:buNone/>
            </a:pPr>
            <a:r>
              <a:rPr lang="en-US" sz="1400" dirty="0">
                <a:solidFill>
                  <a:srgbClr val="EEF6FA"/>
                </a:solidFill>
              </a:rPr>
              <a:t>ISPRA — Sistema Nazionale per la Protezione dell'Ambiente</a:t>
            </a:r>
            <a:endParaRPr lang="en-US" sz="1400" dirty="0"/>
          </a:p>
        </p:txBody>
      </p:sp>
      <p:sp>
        <p:nvSpPr>
          <p:cNvPr id="18" name="Text 16"/>
          <p:cNvSpPr/>
          <p:nvPr/>
        </p:nvSpPr>
        <p:spPr>
          <a:xfrm>
            <a:off x="841248" y="4187952"/>
            <a:ext cx="1645920" cy="457200"/>
          </a:xfrm>
          <a:prstGeom prst="rect">
            <a:avLst/>
          </a:prstGeom>
          <a:noFill/>
          <a:ln/>
        </p:spPr>
        <p:txBody>
          <a:bodyPr wrap="square" rtlCol="0" anchor="ctr"/>
          <a:lstStyle/>
          <a:p>
            <a:pPr indent="0" marL="0">
              <a:buNone/>
            </a:pPr>
            <a:r>
              <a:rPr lang="en-US" sz="1400" b="1" dirty="0">
                <a:solidFill>
                  <a:srgbClr val="4DD9AC"/>
                </a:solidFill>
              </a:rPr>
              <a:t>Framework</a:t>
            </a:r>
            <a:endParaRPr lang="en-US" sz="1400" dirty="0"/>
          </a:p>
        </p:txBody>
      </p:sp>
      <p:sp>
        <p:nvSpPr>
          <p:cNvPr id="19" name="Text 17"/>
          <p:cNvSpPr/>
          <p:nvPr/>
        </p:nvSpPr>
        <p:spPr>
          <a:xfrm>
            <a:off x="2514600" y="4187952"/>
            <a:ext cx="8869680" cy="457200"/>
          </a:xfrm>
          <a:prstGeom prst="rect">
            <a:avLst/>
          </a:prstGeom>
          <a:noFill/>
          <a:ln/>
        </p:spPr>
        <p:txBody>
          <a:bodyPr wrap="square" rtlCol="0" anchor="ctr"/>
          <a:lstStyle/>
          <a:p>
            <a:pPr indent="0" marL="0">
              <a:buNone/>
            </a:pPr>
            <a:r>
              <a:rPr lang="en-US" sz="1400" dirty="0">
                <a:solidFill>
                  <a:srgbClr val="EEF6FA"/>
                </a:solidFill>
              </a:rPr>
              <a:t>EU Marine Strategy Framework Directive · Descriptor 10</a:t>
            </a:r>
            <a:endParaRPr lang="en-US" sz="1400" dirty="0"/>
          </a:p>
        </p:txBody>
      </p:sp>
      <p:sp>
        <p:nvSpPr>
          <p:cNvPr id="20" name="Text 18"/>
          <p:cNvSpPr/>
          <p:nvPr/>
        </p:nvSpPr>
        <p:spPr>
          <a:xfrm>
            <a:off x="841248" y="4690872"/>
            <a:ext cx="1645920" cy="457200"/>
          </a:xfrm>
          <a:prstGeom prst="rect">
            <a:avLst/>
          </a:prstGeom>
          <a:noFill/>
          <a:ln/>
        </p:spPr>
        <p:txBody>
          <a:bodyPr wrap="square" rtlCol="0" anchor="ctr"/>
          <a:lstStyle/>
          <a:p>
            <a:pPr indent="0" marL="0">
              <a:buNone/>
            </a:pPr>
            <a:r>
              <a:rPr lang="en-US" sz="1400" b="1" dirty="0">
                <a:solidFill>
                  <a:srgbClr val="4DD9AC"/>
                </a:solidFill>
              </a:rPr>
              <a:t>Methods</a:t>
            </a:r>
            <a:endParaRPr lang="en-US" sz="1400" dirty="0"/>
          </a:p>
        </p:txBody>
      </p:sp>
      <p:sp>
        <p:nvSpPr>
          <p:cNvPr id="21" name="Text 19"/>
          <p:cNvSpPr/>
          <p:nvPr/>
        </p:nvSpPr>
        <p:spPr>
          <a:xfrm>
            <a:off x="2514600" y="4690872"/>
            <a:ext cx="8869680" cy="457200"/>
          </a:xfrm>
          <a:prstGeom prst="rect">
            <a:avLst/>
          </a:prstGeom>
          <a:noFill/>
          <a:ln/>
        </p:spPr>
        <p:txBody>
          <a:bodyPr wrap="square" rtlCol="0" anchor="ctr"/>
          <a:lstStyle/>
          <a:p>
            <a:pPr indent="0" marL="0">
              <a:buNone/>
            </a:pPr>
            <a:r>
              <a:rPr lang="en-US" sz="1400" dirty="0">
                <a:solidFill>
                  <a:srgbClr val="EEF6FA"/>
                </a:solidFill>
              </a:rPr>
              <a:t>IDW · Composite Index · Moran's I · LISA · Getis-Ord GI*</a:t>
            </a:r>
            <a:endParaRPr lang="en-US" sz="1400" dirty="0"/>
          </a:p>
        </p:txBody>
      </p:sp>
      <p:sp>
        <p:nvSpPr>
          <p:cNvPr id="22" name="Shape 20"/>
          <p:cNvSpPr/>
          <p:nvPr/>
        </p:nvSpPr>
        <p:spPr>
          <a:xfrm>
            <a:off x="0" y="6382512"/>
            <a:ext cx="12188952" cy="914"/>
          </a:xfrm>
          <a:prstGeom prst="rect">
            <a:avLst/>
          </a:prstGeom>
          <a:solidFill>
            <a:srgbClr val="1E4060"/>
          </a:solidFill>
          <a:ln/>
        </p:spPr>
      </p:sp>
      <p:sp>
        <p:nvSpPr>
          <p:cNvPr id="23" name="Text 21"/>
          <p:cNvSpPr/>
          <p:nvPr/>
        </p:nvSpPr>
        <p:spPr>
          <a:xfrm>
            <a:off x="822960" y="6144768"/>
            <a:ext cx="10515600" cy="384048"/>
          </a:xfrm>
          <a:prstGeom prst="rect">
            <a:avLst/>
          </a:prstGeom>
          <a:noFill/>
          <a:ln/>
        </p:spPr>
        <p:txBody>
          <a:bodyPr wrap="square" rtlCol="0" anchor="ctr"/>
          <a:lstStyle/>
          <a:p>
            <a:pPr indent="0" marL="0">
              <a:buNone/>
            </a:pPr>
            <a:r>
              <a:rPr lang="en-US" sz="1100" dirty="0">
                <a:solidFill>
                  <a:srgbClr val="8BAFC8"/>
                </a:solidFill>
              </a:rPr>
              <a:t>HHE Data Science Laboratory · Politecnico di Milano ·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2026-06-04T09:35:55Z</dcterms:created>
  <dcterms:modified xsi:type="dcterms:W3CDTF">2026-06-04T09:35:55Z</dcterms:modified>
</cp:coreProperties>
</file>