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63877"/>
  </p:normalViewPr>
  <p:slideViewPr>
    <p:cSldViewPr snapToGrid="0" snapToObjects="1">
      <p:cViewPr varScale="1">
        <p:scale>
          <a:sx n="75" d="100"/>
          <a:sy n="75" d="100"/>
        </p:scale>
        <p:origin x="21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43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Litter Hazard Assessment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Sardinian Sea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HHE Data Science Laboratory · Politecnico di Milano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MSFD Descriptor 10  ·  ISPRA Data 2020–2023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05356" y="53949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705356" y="5394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BEACHES</a:t>
            </a:r>
            <a:endParaRPr lang="en-US" sz="2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surveys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22876" y="53949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22876" y="5394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STATIONS</a:t>
            </a:r>
            <a:endParaRPr lang="en-US" sz="2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710 observations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40396" y="53949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740396" y="5394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</a:t>
            </a:r>
            <a:endParaRPr lang="en-US" sz="2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2020–2023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solidFill>
            <a:srgbClr val="F0F6FA"/>
          </a:solidFill>
          <a:ln w="12700">
            <a:solidFill>
              <a:srgbClr val="F0F6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marine litter hazard spatially distributed along the Sardinian coast,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temporal patterns emerge from ISPRA monitoring data (2020–2023)?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566160" cy="3474720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5661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724912"/>
            <a:ext cx="3346704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Mediterranean: 7% of global marine plastic, &lt;1% of ocean surface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Sardinia: 1,849km coastline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 tourists/year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marine ecosystems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(Posidonia, coralligenous)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2286000"/>
            <a:ext cx="3566160" cy="3474720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251960" y="2286000"/>
            <a:ext cx="35661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2519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61688" y="2724912"/>
            <a:ext cx="3346704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spatial hazard map for Sardinian coast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ISPRA data collected since 2015 but never spatially analyzed at sub-regional scale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66160" cy="3474720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8046720" y="2286000"/>
            <a:ext cx="356616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6448" y="2724912"/>
            <a:ext cx="3346704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hazard framework at sub-regional scale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IDW interpolation on 10km grid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compartments: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+ floating litter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1920240"/>
            <a:ext cx="13716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DATA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· Structure · Cleaning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ISPRA MSFD Monitoring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94960" cy="2732690"/>
          </a:xfrm>
          <a:prstGeom prst="rect">
            <a:avLst/>
          </a:prstGeom>
          <a:solidFill>
            <a:srgbClr val="F0F6FA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949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4  ·  Beach Litter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79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1798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55520" y="1508760"/>
            <a:ext cx="179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55520" y="1947672"/>
            <a:ext cx="1798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53840" y="1508760"/>
            <a:ext cx="179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2020–2023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53840" y="1947672"/>
            <a:ext cx="1798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331720"/>
            <a:ext cx="5120640" cy="18288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5074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surveys/year (spring + autumn)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items / 100m transect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JointListCategory standard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sites along Sardinian coast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5394960" cy="2732690"/>
          </a:xfrm>
          <a:prstGeom prst="rect">
            <a:avLst/>
          </a:prstGeom>
          <a:solidFill>
            <a:srgbClr val="F0F6FA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53949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035040" y="914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2BIS  ·  Floating Litter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1508760"/>
            <a:ext cx="179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1947672"/>
            <a:ext cx="1798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33360" y="1508760"/>
            <a:ext cx="179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833360" y="1947672"/>
            <a:ext cx="1798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31680" y="1508760"/>
            <a:ext cx="179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2021–2023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631680" y="1947672"/>
            <a:ext cx="1798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331720"/>
            <a:ext cx="5120640" cy="18288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217920" y="2423160"/>
            <a:ext cx="5074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Bimonthly surveys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observations per station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Ship-based visual transect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monitoring network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Harmonization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differences between 2020 and 2023 file formats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3774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CodiceCampionamento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survey_id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NumeroOggetti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n_items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Transect 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Lunghezza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LunghezzaTransetto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transect_m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names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 (Polimeri artificiali)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(Artificial polymer)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normalized 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94360" y="4023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files: transect_m = 100m (fixed MSFD protocol)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Missing lat/lon: filled from known station coordinates per beach_id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253996" y="5166360"/>
            <a:ext cx="219456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2253996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XLS files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94276" y="5399532"/>
            <a:ext cx="4572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768596" y="52806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97196" y="5166360"/>
            <a:ext cx="219456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4997196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normalize()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37476" y="5399532"/>
            <a:ext cx="4572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7511796" y="52806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40396" y="5166360"/>
            <a:ext cx="219456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7740396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CSV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1554480"/>
            <a:ext cx="13716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74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EXPLORATORY ANALYSIS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litter · Floating litter · Patterns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Litter Trend per Stazione (2020–2023)</a:t>
            </a:r>
            <a:endParaRPr lang="en-US" sz="2600" dirty="0"/>
          </a:p>
        </p:txBody>
      </p:sp>
      <p:pic>
        <p:nvPicPr>
          <p:cNvPr id="4" name="Image 0" descr="/Users/danieleuras/Documents/GitHub/hhe-labsardinia/data/figures/beach_trend_per_s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713232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777240"/>
            <a:ext cx="4114800" cy="5029200"/>
          </a:xfrm>
          <a:prstGeom prst="rect">
            <a:avLst/>
          </a:prstGeom>
          <a:solidFill>
            <a:srgbClr val="F0F6FA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7818120" y="8229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Oristano: 539 items/100m (highest)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17190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Alghero: 508 items/100m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220370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S.Teodoro: 58 items/100m (lowest)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6883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EU threshold: 150 items/100m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0" y="31729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4/6 beaches exceed threshold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0" y="36576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West coast &gt; East coast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18120" y="4480560"/>
            <a:ext cx="393192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7818120" y="4480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West coast significantly above EU threshold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&amp; Source Attribution</a:t>
            </a:r>
            <a:endParaRPr lang="en-US" sz="2800" dirty="0"/>
          </a:p>
        </p:txBody>
      </p:sp>
      <p:pic>
        <p:nvPicPr>
          <p:cNvPr id="4" name="Image 0" descr="/Users/danieleuras/Documents/GitHub/hhe-labsardinia/data/figures/beach_top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576072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14476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categories (JointListCategory)</a:t>
            </a:r>
            <a:endParaRPr lang="en-US" sz="1100" dirty="0"/>
          </a:p>
        </p:txBody>
      </p:sp>
      <p:pic>
        <p:nvPicPr>
          <p:cNvPr id="6" name="Image 1" descr="/Users/danieleuras/Documents/GitHub/hhe-labsardinia/data/figures/beach_source_at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777240"/>
            <a:ext cx="5486400" cy="5303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61447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 (land / sea / fishing)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Litter — Composition &amp; Seasonality</a:t>
            </a:r>
            <a:endParaRPr lang="en-US" sz="2600" dirty="0"/>
          </a:p>
        </p:txBody>
      </p:sp>
      <p:pic>
        <p:nvPicPr>
          <p:cNvPr id="4" name="Image 0" descr="/Users/danieleuras/Documents/GitHub/hhe-labsardinia/data/figures/floating_material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5486400" cy="4754880"/>
          </a:xfrm>
          <a:prstGeom prst="rect">
            <a:avLst/>
          </a:prstGeom>
        </p:spPr>
      </p:pic>
      <p:pic>
        <p:nvPicPr>
          <p:cNvPr id="5" name="Image 1" descr="/Users/danieleuras/Documents/GitHub/hhe-labsardinia/data/figures/floating_season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777240"/>
            <a:ext cx="5760720" cy="4754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solidFill>
            <a:srgbClr val="F0F6FA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of floating litter is artificial polymer (plastic).  Peak obs: autumn/winter — consistent with seasonal wind/current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1371600"/>
            <a:ext cx="13716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SPATIAL HAZARD INDEX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Results · Hotspots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Index —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485900" y="1188720"/>
            <a:ext cx="594360" cy="5943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48590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score 0–1 per station. Global normalization across all years.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320540" y="1188720"/>
            <a:ext cx="594360" cy="5943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32054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423160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IDW on 10km grid. Radius 1.0° beach, 1.2° floating. 289 grid cells.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7155180" y="1188720"/>
            <a:ext cx="594360" cy="5943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15518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= mean(beach, floating) per cell. Equal weights.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8961120" y="1005840"/>
            <a:ext cx="26517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9989820" y="1188720"/>
            <a:ext cx="594360" cy="5943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98982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05256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98280" y="2423160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 from Very Low to Very High.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120640"/>
            <a:ext cx="2249424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57200" y="512064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&lt;0.2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06624" y="5120640"/>
            <a:ext cx="2249424" cy="64008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2706624" y="512064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0.2–0.4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56048" y="5120640"/>
            <a:ext cx="2249424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956048" y="512064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0.4–0.6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05472" y="5120640"/>
            <a:ext cx="2249424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205472" y="512064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0.6–0.8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454896" y="5120640"/>
            <a:ext cx="224942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9454896" y="512064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V.High &gt;0.8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Hazard Index — Sardinia 2020–2023</a:t>
            </a:r>
            <a:endParaRPr lang="en-US" sz="2600" dirty="0"/>
          </a:p>
        </p:txBody>
      </p:sp>
      <p:pic>
        <p:nvPicPr>
          <p:cNvPr id="4" name="Image 0" descr="/Users/danieleuras/Documents/GitHub/hhe-labsardinia/data/figures/hazard_index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11612880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solidFill>
            <a:srgbClr val="F0F6FA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beach litter score  ·  Center: floating litter score  ·  Right: composite hazard index  |  ● beach stations  ·  ▲ floating stations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Evolution — Hazard Index 2020–2023</a:t>
            </a:r>
            <a:endParaRPr lang="en-US" sz="2600" dirty="0"/>
          </a:p>
        </p:txBody>
      </p:sp>
      <p:pic>
        <p:nvPicPr>
          <p:cNvPr id="4" name="Image 0" descr="/Users/danieleuras/Documents/GitHub/hhe-labsardinia/data/figures/hazard_temporal_2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580" y="640080"/>
            <a:ext cx="6998839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94960" cy="5303520"/>
          </a:xfrm>
          <a:prstGeom prst="rect">
            <a:avLst/>
          </a:prstGeom>
          <a:solidFill>
            <a:srgbClr val="F0F6FA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949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West coast (Alghero–Oristano): highest hazard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Oristano Is Arenas: beach score 1.00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Alghero Lido: beach score 0.94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San Teodoro La Cinta: score 0.00 (lowest)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3 grid cells: HIGH class (hazard &gt;0.6)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4846320" cy="1005840"/>
          </a:xfrm>
          <a:prstGeom prst="rect">
            <a:avLst/>
          </a:prstGeom>
          <a:solidFill>
            <a:srgbClr val="EEF5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539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items/100m  (Oristano peak)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5852160" cy="5303520"/>
          </a:xfrm>
          <a:prstGeom prst="rect">
            <a:avLst/>
          </a:prstGeom>
          <a:solidFill>
            <a:srgbClr val="F0F6FA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58521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035040" y="9144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417320"/>
            <a:ext cx="5532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floating litter = artificial polymer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874520"/>
            <a:ext cx="5532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litter peaks: west coast year-round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5532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peaks: autumn/winter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788920"/>
            <a:ext cx="5532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beaches exceed EU 150 items/100m threshold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5532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apparent reduction 2020→2021 partly methodological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114800"/>
            <a:ext cx="5303520" cy="1005840"/>
          </a:xfrm>
          <a:prstGeom prst="rect">
            <a:avLst/>
          </a:prstGeom>
          <a:solidFill>
            <a:srgbClr val="EEF5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309360" y="41148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6309360" y="4663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beaches above EU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94960" cy="1723697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9496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074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beach stations → sparse, IDW smooths aggressively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Seafloor compartment missing (no MSFD module locally)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relative, not absolute scale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beach-only ≠ 2021–23 composite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count ≠ standardized density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5852160" cy="1723697"/>
          </a:xfrm>
          <a:prstGeom prst="rect">
            <a:avLst/>
          </a:prstGeom>
          <a:solidFill>
            <a:srgbClr val="F0FFF4"/>
          </a:solidFill>
          <a:ln w="12700">
            <a:solidFill>
              <a:srgbClr val="B8E8C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585216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172200" y="10058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STEPS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5532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seafloor data (MEDITS) from ISPRA DB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3rd compartment → complete hazard index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grid with coastal administrative segments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vs citizen science beach cleanup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+ policy implications (Phase 4)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9445752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daniele22-u/hhe-labsardinia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ISPRA — Sistema Nazionale per la Protezione dell'Ambiente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EU Marine Strategy Framework Directive (MSFD) · Descriptor 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HHE Data Science Laboratory · Politecnico di Milano ·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793</Words>
  <Application>Microsoft Macintosh PowerPoint</Application>
  <PresentationFormat>Widescreen</PresentationFormat>
  <Paragraphs>173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Daniele Uras</cp:lastModifiedBy>
  <cp:revision>4</cp:revision>
  <dcterms:created xsi:type="dcterms:W3CDTF">2026-05-04T08:51:16Z</dcterms:created>
  <dcterms:modified xsi:type="dcterms:W3CDTF">2026-05-04T20:22:30Z</dcterms:modified>
</cp:coreProperties>
</file>